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73" r:id="rId4"/>
    <p:sldId id="293" r:id="rId5"/>
    <p:sldId id="279" r:id="rId6"/>
    <p:sldId id="300" r:id="rId7"/>
    <p:sldId id="283" r:id="rId8"/>
    <p:sldId id="308" r:id="rId9"/>
    <p:sldId id="305" r:id="rId10"/>
    <p:sldId id="304" r:id="rId11"/>
    <p:sldId id="284" r:id="rId12"/>
    <p:sldId id="309" r:id="rId13"/>
    <p:sldId id="307" r:id="rId14"/>
    <p:sldId id="310" r:id="rId15"/>
    <p:sldId id="313" r:id="rId16"/>
    <p:sldId id="298" r:id="rId17"/>
    <p:sldId id="289" r:id="rId18"/>
    <p:sldId id="287" r:id="rId19"/>
    <p:sldId id="288" r:id="rId20"/>
    <p:sldId id="295" r:id="rId21"/>
    <p:sldId id="294" r:id="rId22"/>
    <p:sldId id="299" r:id="rId23"/>
    <p:sldId id="286" r:id="rId24"/>
    <p:sldId id="268" r:id="rId25"/>
    <p:sldId id="259" r:id="rId26"/>
    <p:sldId id="316" r:id="rId27"/>
    <p:sldId id="314" r:id="rId28"/>
    <p:sldId id="317" r:id="rId29"/>
    <p:sldId id="291" r:id="rId3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A5A5A5"/>
    <a:srgbClr val="A40F16"/>
    <a:srgbClr val="717171"/>
    <a:srgbClr val="0D32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3" autoAdjust="0"/>
    <p:restoredTop sz="94660"/>
  </p:normalViewPr>
  <p:slideViewPr>
    <p:cSldViewPr snapToGrid="0" showGuides="1">
      <p:cViewPr varScale="1">
        <p:scale>
          <a:sx n="87" d="100"/>
          <a:sy n="87" d="100"/>
        </p:scale>
        <p:origin x="102"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진영 이" userId="a442fa31ad75e523" providerId="LiveId" clId="{4FE6D943-CC11-47B5-AA09-349BD772290C}"/>
    <pc:docChg chg="undo custSel modSld">
      <pc:chgData name="진영 이" userId="a442fa31ad75e523" providerId="LiveId" clId="{4FE6D943-CC11-47B5-AA09-349BD772290C}" dt="2025-03-26T13:58:32.601" v="1336" actId="20577"/>
      <pc:docMkLst>
        <pc:docMk/>
      </pc:docMkLst>
      <pc:sldChg chg="addSp delSp modSp mod">
        <pc:chgData name="진영 이" userId="a442fa31ad75e523" providerId="LiveId" clId="{4FE6D943-CC11-47B5-AA09-349BD772290C}" dt="2025-03-26T12:05:49.578" v="1177" actId="404"/>
        <pc:sldMkLst>
          <pc:docMk/>
          <pc:sldMk cId="743274413" sldId="259"/>
        </pc:sldMkLst>
        <pc:spChg chg="add del">
          <ac:chgData name="진영 이" userId="a442fa31ad75e523" providerId="LiveId" clId="{4FE6D943-CC11-47B5-AA09-349BD772290C}" dt="2025-03-26T12:04:19.517" v="1111"/>
          <ac:spMkLst>
            <pc:docMk/>
            <pc:sldMk cId="743274413" sldId="259"/>
            <ac:spMk id="2" creationId="{079F751A-0274-40A7-8ACF-97764498C983}"/>
          </ac:spMkLst>
        </pc:spChg>
        <pc:spChg chg="mod">
          <ac:chgData name="진영 이" userId="a442fa31ad75e523" providerId="LiveId" clId="{4FE6D943-CC11-47B5-AA09-349BD772290C}" dt="2025-03-26T12:05:49.578" v="1177" actId="404"/>
          <ac:spMkLst>
            <pc:docMk/>
            <pc:sldMk cId="743274413" sldId="259"/>
            <ac:spMk id="8" creationId="{2807C6C9-276A-494B-90EC-33221DF706D8}"/>
          </ac:spMkLst>
        </pc:spChg>
        <pc:picChg chg="mod">
          <ac:chgData name="진영 이" userId="a442fa31ad75e523" providerId="LiveId" clId="{4FE6D943-CC11-47B5-AA09-349BD772290C}" dt="2025-03-26T12:05:29.253" v="1166" actId="1076"/>
          <ac:picMkLst>
            <pc:docMk/>
            <pc:sldMk cId="743274413" sldId="259"/>
            <ac:picMk id="12" creationId="{821A85EC-B922-4431-8F2D-0EB75A80D09A}"/>
          </ac:picMkLst>
        </pc:picChg>
      </pc:sldChg>
      <pc:sldChg chg="modSp mod">
        <pc:chgData name="진영 이" userId="a442fa31ad75e523" providerId="LiveId" clId="{4FE6D943-CC11-47B5-AA09-349BD772290C}" dt="2025-03-26T12:03:05.276" v="1104" actId="20577"/>
        <pc:sldMkLst>
          <pc:docMk/>
          <pc:sldMk cId="3156000484" sldId="268"/>
        </pc:sldMkLst>
        <pc:spChg chg="mod">
          <ac:chgData name="진영 이" userId="a442fa31ad75e523" providerId="LiveId" clId="{4FE6D943-CC11-47B5-AA09-349BD772290C}" dt="2025-03-26T12:03:05.276" v="1104" actId="20577"/>
          <ac:spMkLst>
            <pc:docMk/>
            <pc:sldMk cId="3156000484" sldId="268"/>
            <ac:spMk id="8" creationId="{2807C6C9-276A-494B-90EC-33221DF706D8}"/>
          </ac:spMkLst>
        </pc:spChg>
      </pc:sldChg>
      <pc:sldChg chg="modSp mod">
        <pc:chgData name="진영 이" userId="a442fa31ad75e523" providerId="LiveId" clId="{4FE6D943-CC11-47B5-AA09-349BD772290C}" dt="2025-03-26T11:24:00.571" v="396" actId="20577"/>
        <pc:sldMkLst>
          <pc:docMk/>
          <pc:sldMk cId="1109288844" sldId="273"/>
        </pc:sldMkLst>
        <pc:spChg chg="mod">
          <ac:chgData name="진영 이" userId="a442fa31ad75e523" providerId="LiveId" clId="{4FE6D943-CC11-47B5-AA09-349BD772290C}" dt="2025-03-26T11:23:40.816" v="394" actId="20577"/>
          <ac:spMkLst>
            <pc:docMk/>
            <pc:sldMk cId="1109288844" sldId="273"/>
            <ac:spMk id="8" creationId="{2807C6C9-276A-494B-90EC-33221DF706D8}"/>
          </ac:spMkLst>
        </pc:spChg>
        <pc:spChg chg="mod">
          <ac:chgData name="진영 이" userId="a442fa31ad75e523" providerId="LiveId" clId="{4FE6D943-CC11-47B5-AA09-349BD772290C}" dt="2025-03-26T11:24:00.571" v="396" actId="20577"/>
          <ac:spMkLst>
            <pc:docMk/>
            <pc:sldMk cId="1109288844" sldId="273"/>
            <ac:spMk id="12" creationId="{1D45D238-D96D-4B26-A8AC-88CC24CAD838}"/>
          </ac:spMkLst>
        </pc:spChg>
      </pc:sldChg>
      <pc:sldChg chg="addSp modSp mod">
        <pc:chgData name="진영 이" userId="a442fa31ad75e523" providerId="LiveId" clId="{4FE6D943-CC11-47B5-AA09-349BD772290C}" dt="2025-03-26T12:16:56.381" v="1329" actId="14100"/>
        <pc:sldMkLst>
          <pc:docMk/>
          <pc:sldMk cId="3521870219" sldId="283"/>
        </pc:sldMkLst>
        <pc:spChg chg="add mod">
          <ac:chgData name="진영 이" userId="a442fa31ad75e523" providerId="LiveId" clId="{4FE6D943-CC11-47B5-AA09-349BD772290C}" dt="2025-03-26T12:16:56.381" v="1329" actId="14100"/>
          <ac:spMkLst>
            <pc:docMk/>
            <pc:sldMk cId="3521870219" sldId="283"/>
            <ac:spMk id="9" creationId="{1C7A6A86-7D38-407C-A43C-0CCE4F2536BE}"/>
          </ac:spMkLst>
        </pc:spChg>
        <pc:spChg chg="mod">
          <ac:chgData name="진영 이" userId="a442fa31ad75e523" providerId="LiveId" clId="{4FE6D943-CC11-47B5-AA09-349BD772290C}" dt="2025-03-26T11:16:40.512" v="311" actId="20577"/>
          <ac:spMkLst>
            <pc:docMk/>
            <pc:sldMk cId="3521870219" sldId="283"/>
            <ac:spMk id="13" creationId="{A1C58076-003E-4F23-9943-6A0F342C8267}"/>
          </ac:spMkLst>
        </pc:spChg>
        <pc:spChg chg="mod">
          <ac:chgData name="진영 이" userId="a442fa31ad75e523" providerId="LiveId" clId="{4FE6D943-CC11-47B5-AA09-349BD772290C}" dt="2025-03-26T11:19:41.934" v="337"/>
          <ac:spMkLst>
            <pc:docMk/>
            <pc:sldMk cId="3521870219" sldId="283"/>
            <ac:spMk id="19" creationId="{82D10CC4-16D3-41BD-AD04-D1B94E278023}"/>
          </ac:spMkLst>
        </pc:spChg>
        <pc:picChg chg="add mod">
          <ac:chgData name="진영 이" userId="a442fa31ad75e523" providerId="LiveId" clId="{4FE6D943-CC11-47B5-AA09-349BD772290C}" dt="2025-03-26T11:18:39.550" v="320" actId="14100"/>
          <ac:picMkLst>
            <pc:docMk/>
            <pc:sldMk cId="3521870219" sldId="283"/>
            <ac:picMk id="4" creationId="{9E7E96D0-F290-403C-86AF-06C361981545}"/>
          </ac:picMkLst>
        </pc:picChg>
        <pc:picChg chg="mod">
          <ac:chgData name="진영 이" userId="a442fa31ad75e523" providerId="LiveId" clId="{4FE6D943-CC11-47B5-AA09-349BD772290C}" dt="2025-03-26T11:18:43.062" v="323" actId="1076"/>
          <ac:picMkLst>
            <pc:docMk/>
            <pc:sldMk cId="3521870219" sldId="283"/>
            <ac:picMk id="5" creationId="{F97295DB-DC15-4084-9695-E133CC2A5037}"/>
          </ac:picMkLst>
        </pc:picChg>
      </pc:sldChg>
      <pc:sldChg chg="modSp mod">
        <pc:chgData name="진영 이" userId="a442fa31ad75e523" providerId="LiveId" clId="{4FE6D943-CC11-47B5-AA09-349BD772290C}" dt="2025-03-26T11:28:55.032" v="447" actId="20577"/>
        <pc:sldMkLst>
          <pc:docMk/>
          <pc:sldMk cId="177251599" sldId="284"/>
        </pc:sldMkLst>
        <pc:spChg chg="mod">
          <ac:chgData name="진영 이" userId="a442fa31ad75e523" providerId="LiveId" clId="{4FE6D943-CC11-47B5-AA09-349BD772290C}" dt="2025-03-26T11:28:55.032" v="447" actId="20577"/>
          <ac:spMkLst>
            <pc:docMk/>
            <pc:sldMk cId="177251599" sldId="284"/>
            <ac:spMk id="9" creationId="{AA1AC088-5992-4A82-86F7-23DBAF3F966D}"/>
          </ac:spMkLst>
        </pc:spChg>
      </pc:sldChg>
      <pc:sldChg chg="modSp mod">
        <pc:chgData name="진영 이" userId="a442fa31ad75e523" providerId="LiveId" clId="{4FE6D943-CC11-47B5-AA09-349BD772290C}" dt="2025-03-26T12:01:44.601" v="1091" actId="20577"/>
        <pc:sldMkLst>
          <pc:docMk/>
          <pc:sldMk cId="1168722250" sldId="286"/>
        </pc:sldMkLst>
        <pc:spChg chg="mod">
          <ac:chgData name="진영 이" userId="a442fa31ad75e523" providerId="LiveId" clId="{4FE6D943-CC11-47B5-AA09-349BD772290C}" dt="2025-03-26T12:01:44.601" v="1091" actId="20577"/>
          <ac:spMkLst>
            <pc:docMk/>
            <pc:sldMk cId="1168722250" sldId="286"/>
            <ac:spMk id="12" creationId="{46FDC34A-CACD-4C52-8E29-87EF32B22692}"/>
          </ac:spMkLst>
        </pc:spChg>
      </pc:sldChg>
      <pc:sldChg chg="modSp mod">
        <pc:chgData name="진영 이" userId="a442fa31ad75e523" providerId="LiveId" clId="{4FE6D943-CC11-47B5-AA09-349BD772290C}" dt="2025-03-26T11:48:31.187" v="689" actId="27636"/>
        <pc:sldMkLst>
          <pc:docMk/>
          <pc:sldMk cId="223059487" sldId="287"/>
        </pc:sldMkLst>
        <pc:spChg chg="mod">
          <ac:chgData name="진영 이" userId="a442fa31ad75e523" providerId="LiveId" clId="{4FE6D943-CC11-47B5-AA09-349BD772290C}" dt="2025-03-26T11:48:31.187" v="689" actId="27636"/>
          <ac:spMkLst>
            <pc:docMk/>
            <pc:sldMk cId="223059487" sldId="287"/>
            <ac:spMk id="9" creationId="{59D5B712-9FA7-4931-A5FB-7D2754DF370B}"/>
          </ac:spMkLst>
        </pc:spChg>
        <pc:spChg chg="mod">
          <ac:chgData name="진영 이" userId="a442fa31ad75e523" providerId="LiveId" clId="{4FE6D943-CC11-47B5-AA09-349BD772290C}" dt="2025-03-26T11:47:13.382" v="659" actId="14100"/>
          <ac:spMkLst>
            <pc:docMk/>
            <pc:sldMk cId="223059487" sldId="287"/>
            <ac:spMk id="12" creationId="{46FDC34A-CACD-4C52-8E29-87EF32B22692}"/>
          </ac:spMkLst>
        </pc:spChg>
      </pc:sldChg>
      <pc:sldChg chg="modSp mod">
        <pc:chgData name="진영 이" userId="a442fa31ad75e523" providerId="LiveId" clId="{4FE6D943-CC11-47B5-AA09-349BD772290C}" dt="2025-03-26T11:54:36.530" v="896" actId="20577"/>
        <pc:sldMkLst>
          <pc:docMk/>
          <pc:sldMk cId="690052824" sldId="288"/>
        </pc:sldMkLst>
        <pc:spChg chg="mod">
          <ac:chgData name="진영 이" userId="a442fa31ad75e523" providerId="LiveId" clId="{4FE6D943-CC11-47B5-AA09-349BD772290C}" dt="2025-03-26T11:54:36.530" v="896" actId="20577"/>
          <ac:spMkLst>
            <pc:docMk/>
            <pc:sldMk cId="690052824" sldId="288"/>
            <ac:spMk id="12" creationId="{46FDC34A-CACD-4C52-8E29-87EF32B22692}"/>
          </ac:spMkLst>
        </pc:spChg>
        <pc:picChg chg="mod">
          <ac:chgData name="진영 이" userId="a442fa31ad75e523" providerId="LiveId" clId="{4FE6D943-CC11-47B5-AA09-349BD772290C}" dt="2025-03-26T11:51:34.363" v="779" actId="1076"/>
          <ac:picMkLst>
            <pc:docMk/>
            <pc:sldMk cId="690052824" sldId="288"/>
            <ac:picMk id="2" creationId="{A4A882F3-595B-4E97-81DD-178FBF7CC96A}"/>
          </ac:picMkLst>
        </pc:picChg>
        <pc:picChg chg="mod">
          <ac:chgData name="진영 이" userId="a442fa31ad75e523" providerId="LiveId" clId="{4FE6D943-CC11-47B5-AA09-349BD772290C}" dt="2025-03-26T11:51:35.494" v="780" actId="1076"/>
          <ac:picMkLst>
            <pc:docMk/>
            <pc:sldMk cId="690052824" sldId="288"/>
            <ac:picMk id="5" creationId="{727A21F5-A243-4A47-9878-7EF73145E76F}"/>
          </ac:picMkLst>
        </pc:picChg>
      </pc:sldChg>
      <pc:sldChg chg="modSp mod">
        <pc:chgData name="진영 이" userId="a442fa31ad75e523" providerId="LiveId" clId="{4FE6D943-CC11-47B5-AA09-349BD772290C}" dt="2025-03-26T11:44:35.069" v="561" actId="404"/>
        <pc:sldMkLst>
          <pc:docMk/>
          <pc:sldMk cId="180735526" sldId="289"/>
        </pc:sldMkLst>
        <pc:spChg chg="mod">
          <ac:chgData name="진영 이" userId="a442fa31ad75e523" providerId="LiveId" clId="{4FE6D943-CC11-47B5-AA09-349BD772290C}" dt="2025-03-26T11:44:35.069" v="561" actId="404"/>
          <ac:spMkLst>
            <pc:docMk/>
            <pc:sldMk cId="180735526" sldId="289"/>
            <ac:spMk id="12" creationId="{46FDC34A-CACD-4C52-8E29-87EF32B22692}"/>
          </ac:spMkLst>
        </pc:spChg>
      </pc:sldChg>
      <pc:sldChg chg="modSp mod">
        <pc:chgData name="진영 이" userId="a442fa31ad75e523" providerId="LiveId" clId="{4FE6D943-CC11-47B5-AA09-349BD772290C}" dt="2025-03-26T11:58:42.812" v="1075" actId="20577"/>
        <pc:sldMkLst>
          <pc:docMk/>
          <pc:sldMk cId="1978732257" sldId="294"/>
        </pc:sldMkLst>
        <pc:spChg chg="mod">
          <ac:chgData name="진영 이" userId="a442fa31ad75e523" providerId="LiveId" clId="{4FE6D943-CC11-47B5-AA09-349BD772290C}" dt="2025-03-26T11:58:42.812" v="1075" actId="20577"/>
          <ac:spMkLst>
            <pc:docMk/>
            <pc:sldMk cId="1978732257" sldId="294"/>
            <ac:spMk id="12" creationId="{46FDC34A-CACD-4C52-8E29-87EF32B22692}"/>
          </ac:spMkLst>
        </pc:spChg>
        <pc:picChg chg="mod">
          <ac:chgData name="진영 이" userId="a442fa31ad75e523" providerId="LiveId" clId="{4FE6D943-CC11-47B5-AA09-349BD772290C}" dt="2025-03-26T11:55:11.517" v="932" actId="1076"/>
          <ac:picMkLst>
            <pc:docMk/>
            <pc:sldMk cId="1978732257" sldId="294"/>
            <ac:picMk id="5" creationId="{91A1ADFE-FBF6-4944-B072-025620152BDC}"/>
          </ac:picMkLst>
        </pc:picChg>
        <pc:picChg chg="mod">
          <ac:chgData name="진영 이" userId="a442fa31ad75e523" providerId="LiveId" clId="{4FE6D943-CC11-47B5-AA09-349BD772290C}" dt="2025-03-26T11:55:12.754" v="933" actId="1076"/>
          <ac:picMkLst>
            <pc:docMk/>
            <pc:sldMk cId="1978732257" sldId="294"/>
            <ac:picMk id="8" creationId="{91D77D8B-3070-46BF-8F32-2ACC5291BB1B}"/>
          </ac:picMkLst>
        </pc:picChg>
      </pc:sldChg>
      <pc:sldChg chg="addSp delSp modSp mod">
        <pc:chgData name="진영 이" userId="a442fa31ad75e523" providerId="LiveId" clId="{4FE6D943-CC11-47B5-AA09-349BD772290C}" dt="2025-03-26T11:54:42.118" v="902" actId="20577"/>
        <pc:sldMkLst>
          <pc:docMk/>
          <pc:sldMk cId="2288483473" sldId="295"/>
        </pc:sldMkLst>
        <pc:spChg chg="add del">
          <ac:chgData name="진영 이" userId="a442fa31ad75e523" providerId="LiveId" clId="{4FE6D943-CC11-47B5-AA09-349BD772290C}" dt="2025-03-26T11:53:27.117" v="805"/>
          <ac:spMkLst>
            <pc:docMk/>
            <pc:sldMk cId="2288483473" sldId="295"/>
            <ac:spMk id="2" creationId="{9D1BDBF6-74AD-48C7-8E7E-ECCCC26C72F9}"/>
          </ac:spMkLst>
        </pc:spChg>
        <pc:spChg chg="add del">
          <ac:chgData name="진영 이" userId="a442fa31ad75e523" providerId="LiveId" clId="{4FE6D943-CC11-47B5-AA09-349BD772290C}" dt="2025-03-26T11:53:29.615" v="807"/>
          <ac:spMkLst>
            <pc:docMk/>
            <pc:sldMk cId="2288483473" sldId="295"/>
            <ac:spMk id="6" creationId="{0CCFE05A-E69F-4E20-9CB7-506D9175F56A}"/>
          </ac:spMkLst>
        </pc:spChg>
        <pc:spChg chg="mod">
          <ac:chgData name="진영 이" userId="a442fa31ad75e523" providerId="LiveId" clId="{4FE6D943-CC11-47B5-AA09-349BD772290C}" dt="2025-03-26T11:54:42.118" v="902" actId="20577"/>
          <ac:spMkLst>
            <pc:docMk/>
            <pc:sldMk cId="2288483473" sldId="295"/>
            <ac:spMk id="12" creationId="{46FDC34A-CACD-4C52-8E29-87EF32B22692}"/>
          </ac:spMkLst>
        </pc:spChg>
        <pc:picChg chg="mod">
          <ac:chgData name="진영 이" userId="a442fa31ad75e523" providerId="LiveId" clId="{4FE6D943-CC11-47B5-AA09-349BD772290C}" dt="2025-03-26T11:51:41.263" v="782" actId="1076"/>
          <ac:picMkLst>
            <pc:docMk/>
            <pc:sldMk cId="2288483473" sldId="295"/>
            <ac:picMk id="3" creationId="{47427A82-8829-4EFD-9CC7-CBA6A427CC98}"/>
          </ac:picMkLst>
        </pc:picChg>
        <pc:picChg chg="mod">
          <ac:chgData name="진영 이" userId="a442fa31ad75e523" providerId="LiveId" clId="{4FE6D943-CC11-47B5-AA09-349BD772290C}" dt="2025-03-26T11:51:44.897" v="784" actId="14100"/>
          <ac:picMkLst>
            <pc:docMk/>
            <pc:sldMk cId="2288483473" sldId="295"/>
            <ac:picMk id="5" creationId="{9BDBA801-1ECD-4A15-AE01-7409CC5BE97A}"/>
          </ac:picMkLst>
        </pc:picChg>
      </pc:sldChg>
      <pc:sldChg chg="modSp mod">
        <pc:chgData name="진영 이" userId="a442fa31ad75e523" providerId="LiveId" clId="{4FE6D943-CC11-47B5-AA09-349BD772290C}" dt="2025-03-26T11:26:35.457" v="427" actId="20577"/>
        <pc:sldMkLst>
          <pc:docMk/>
          <pc:sldMk cId="2578067148" sldId="305"/>
        </pc:sldMkLst>
        <pc:spChg chg="mod">
          <ac:chgData name="진영 이" userId="a442fa31ad75e523" providerId="LiveId" clId="{4FE6D943-CC11-47B5-AA09-349BD772290C}" dt="2025-03-26T11:23:23.214" v="386" actId="20577"/>
          <ac:spMkLst>
            <pc:docMk/>
            <pc:sldMk cId="2578067148" sldId="305"/>
            <ac:spMk id="13" creationId="{A1C58076-003E-4F23-9943-6A0F342C8267}"/>
          </ac:spMkLst>
        </pc:spChg>
        <pc:spChg chg="mod">
          <ac:chgData name="진영 이" userId="a442fa31ad75e523" providerId="LiveId" clId="{4FE6D943-CC11-47B5-AA09-349BD772290C}" dt="2025-03-26T11:26:19.795" v="422" actId="20577"/>
          <ac:spMkLst>
            <pc:docMk/>
            <pc:sldMk cId="2578067148" sldId="305"/>
            <ac:spMk id="18" creationId="{34C585DE-D090-4FCD-8D04-9FB19BC388CE}"/>
          </ac:spMkLst>
        </pc:spChg>
        <pc:spChg chg="mod">
          <ac:chgData name="진영 이" userId="a442fa31ad75e523" providerId="LiveId" clId="{4FE6D943-CC11-47B5-AA09-349BD772290C}" dt="2025-03-26T11:26:17.358" v="420" actId="20577"/>
          <ac:spMkLst>
            <pc:docMk/>
            <pc:sldMk cId="2578067148" sldId="305"/>
            <ac:spMk id="19" creationId="{82D10CC4-16D3-41BD-AD04-D1B94E278023}"/>
          </ac:spMkLst>
        </pc:spChg>
        <pc:spChg chg="mod">
          <ac:chgData name="진영 이" userId="a442fa31ad75e523" providerId="LiveId" clId="{4FE6D943-CC11-47B5-AA09-349BD772290C}" dt="2025-03-26T11:26:35.457" v="427" actId="20577"/>
          <ac:spMkLst>
            <pc:docMk/>
            <pc:sldMk cId="2578067148" sldId="305"/>
            <ac:spMk id="20" creationId="{BB0D8383-7294-42E2-B759-1E809B4FB12E}"/>
          </ac:spMkLst>
        </pc:spChg>
        <pc:picChg chg="mod">
          <ac:chgData name="진영 이" userId="a442fa31ad75e523" providerId="LiveId" clId="{4FE6D943-CC11-47B5-AA09-349BD772290C}" dt="2025-03-26T11:25:29.163" v="405" actId="1076"/>
          <ac:picMkLst>
            <pc:docMk/>
            <pc:sldMk cId="2578067148" sldId="305"/>
            <ac:picMk id="2050" creationId="{F2223BD5-7E21-4EB3-B735-DA026AC58983}"/>
          </ac:picMkLst>
        </pc:picChg>
      </pc:sldChg>
      <pc:sldChg chg="modSp mod">
        <pc:chgData name="진영 이" userId="a442fa31ad75e523" providerId="LiveId" clId="{4FE6D943-CC11-47B5-AA09-349BD772290C}" dt="2025-03-26T11:34:48.514" v="499" actId="20577"/>
        <pc:sldMkLst>
          <pc:docMk/>
          <pc:sldMk cId="1362276888" sldId="307"/>
        </pc:sldMkLst>
        <pc:spChg chg="mod">
          <ac:chgData name="진영 이" userId="a442fa31ad75e523" providerId="LiveId" clId="{4FE6D943-CC11-47B5-AA09-349BD772290C}" dt="2025-03-26T11:34:48.514" v="499" actId="20577"/>
          <ac:spMkLst>
            <pc:docMk/>
            <pc:sldMk cId="1362276888" sldId="307"/>
            <ac:spMk id="9" creationId="{AA1AC088-5992-4A82-86F7-23DBAF3F966D}"/>
          </ac:spMkLst>
        </pc:spChg>
        <pc:picChg chg="mod">
          <ac:chgData name="진영 이" userId="a442fa31ad75e523" providerId="LiveId" clId="{4FE6D943-CC11-47B5-AA09-349BD772290C}" dt="2025-03-26T11:34:47.349" v="498" actId="1076"/>
          <ac:picMkLst>
            <pc:docMk/>
            <pc:sldMk cId="1362276888" sldId="307"/>
            <ac:picMk id="3" creationId="{A92187A7-A165-4B3B-81F9-9686D1351F47}"/>
          </ac:picMkLst>
        </pc:picChg>
        <pc:picChg chg="mod">
          <ac:chgData name="진영 이" userId="a442fa31ad75e523" providerId="LiveId" clId="{4FE6D943-CC11-47B5-AA09-349BD772290C}" dt="2025-03-26T11:34:46.319" v="497" actId="1076"/>
          <ac:picMkLst>
            <pc:docMk/>
            <pc:sldMk cId="1362276888" sldId="307"/>
            <ac:picMk id="6" creationId="{BBBEE598-8AE4-47B9-B636-BEB504423AFA}"/>
          </ac:picMkLst>
        </pc:picChg>
      </pc:sldChg>
      <pc:sldChg chg="addSp delSp modSp mod">
        <pc:chgData name="진영 이" userId="a442fa31ad75e523" providerId="LiveId" clId="{4FE6D943-CC11-47B5-AA09-349BD772290C}" dt="2025-03-26T13:01:49.962" v="1330" actId="20577"/>
        <pc:sldMkLst>
          <pc:docMk/>
          <pc:sldMk cId="2898472660" sldId="308"/>
        </pc:sldMkLst>
        <pc:spChg chg="add del">
          <ac:chgData name="진영 이" userId="a442fa31ad75e523" providerId="LiveId" clId="{4FE6D943-CC11-47B5-AA09-349BD772290C}" dt="2025-03-26T11:21:29.133" v="351"/>
          <ac:spMkLst>
            <pc:docMk/>
            <pc:sldMk cId="2898472660" sldId="308"/>
            <ac:spMk id="2" creationId="{D5A5783F-BB58-464A-B9A7-9B83A38CED2F}"/>
          </ac:spMkLst>
        </pc:spChg>
        <pc:spChg chg="add del">
          <ac:chgData name="진영 이" userId="a442fa31ad75e523" providerId="LiveId" clId="{4FE6D943-CC11-47B5-AA09-349BD772290C}" dt="2025-03-26T11:21:31.648" v="354"/>
          <ac:spMkLst>
            <pc:docMk/>
            <pc:sldMk cId="2898472660" sldId="308"/>
            <ac:spMk id="3" creationId="{FFE1FB06-5466-427D-9084-C27DA6FC0C52}"/>
          </ac:spMkLst>
        </pc:spChg>
        <pc:spChg chg="add del">
          <ac:chgData name="진영 이" userId="a442fa31ad75e523" providerId="LiveId" clId="{4FE6D943-CC11-47B5-AA09-349BD772290C}" dt="2025-03-26T11:21:33.394" v="357"/>
          <ac:spMkLst>
            <pc:docMk/>
            <pc:sldMk cId="2898472660" sldId="308"/>
            <ac:spMk id="5" creationId="{90ABF37C-2294-43B6-A719-E70623D3A6CF}"/>
          </ac:spMkLst>
        </pc:spChg>
        <pc:spChg chg="add del">
          <ac:chgData name="진영 이" userId="a442fa31ad75e523" providerId="LiveId" clId="{4FE6D943-CC11-47B5-AA09-349BD772290C}" dt="2025-03-26T11:21:40.994" v="359"/>
          <ac:spMkLst>
            <pc:docMk/>
            <pc:sldMk cId="2898472660" sldId="308"/>
            <ac:spMk id="6" creationId="{6BB533EB-30E7-49F3-BB9E-27D978A77085}"/>
          </ac:spMkLst>
        </pc:spChg>
        <pc:spChg chg="add del mod">
          <ac:chgData name="진영 이" userId="a442fa31ad75e523" providerId="LiveId" clId="{4FE6D943-CC11-47B5-AA09-349BD772290C}" dt="2025-03-26T11:21:56.280" v="366" actId="478"/>
          <ac:spMkLst>
            <pc:docMk/>
            <pc:sldMk cId="2898472660" sldId="308"/>
            <ac:spMk id="9" creationId="{771029D2-E491-4F7A-83C1-5AD0ED6F0538}"/>
          </ac:spMkLst>
        </pc:spChg>
        <pc:spChg chg="mod">
          <ac:chgData name="진영 이" userId="a442fa31ad75e523" providerId="LiveId" clId="{4FE6D943-CC11-47B5-AA09-349BD772290C}" dt="2025-03-26T13:01:49.962" v="1330" actId="20577"/>
          <ac:spMkLst>
            <pc:docMk/>
            <pc:sldMk cId="2898472660" sldId="308"/>
            <ac:spMk id="13" creationId="{A1C58076-003E-4F23-9943-6A0F342C8267}"/>
          </ac:spMkLst>
        </pc:spChg>
      </pc:sldChg>
      <pc:sldChg chg="modSp mod">
        <pc:chgData name="진영 이" userId="a442fa31ad75e523" providerId="LiveId" clId="{4FE6D943-CC11-47B5-AA09-349BD772290C}" dt="2025-03-26T11:32:49.630" v="469" actId="20577"/>
        <pc:sldMkLst>
          <pc:docMk/>
          <pc:sldMk cId="1558226707" sldId="309"/>
        </pc:sldMkLst>
        <pc:spChg chg="mod">
          <ac:chgData name="진영 이" userId="a442fa31ad75e523" providerId="LiveId" clId="{4FE6D943-CC11-47B5-AA09-349BD772290C}" dt="2025-03-26T11:32:49.630" v="469" actId="20577"/>
          <ac:spMkLst>
            <pc:docMk/>
            <pc:sldMk cId="1558226707" sldId="309"/>
            <ac:spMk id="14" creationId="{2164527A-ED91-4939-840D-684AFB8336AE}"/>
          </ac:spMkLst>
        </pc:spChg>
        <pc:picChg chg="mod">
          <ac:chgData name="진영 이" userId="a442fa31ad75e523" providerId="LiveId" clId="{4FE6D943-CC11-47B5-AA09-349BD772290C}" dt="2025-03-26T11:32:38.291" v="464" actId="14100"/>
          <ac:picMkLst>
            <pc:docMk/>
            <pc:sldMk cId="1558226707" sldId="309"/>
            <ac:picMk id="3" creationId="{853A1BDF-1D3A-4769-839B-383577FEE399}"/>
          </ac:picMkLst>
        </pc:picChg>
        <pc:picChg chg="mod">
          <ac:chgData name="진영 이" userId="a442fa31ad75e523" providerId="LiveId" clId="{4FE6D943-CC11-47B5-AA09-349BD772290C}" dt="2025-03-26T11:32:40.346" v="465" actId="14100"/>
          <ac:picMkLst>
            <pc:docMk/>
            <pc:sldMk cId="1558226707" sldId="309"/>
            <ac:picMk id="5" creationId="{8DAB560A-D21C-4CFA-BD4B-A276E1399C36}"/>
          </ac:picMkLst>
        </pc:picChg>
      </pc:sldChg>
      <pc:sldChg chg="modSp mod">
        <pc:chgData name="진영 이" userId="a442fa31ad75e523" providerId="LiveId" clId="{4FE6D943-CC11-47B5-AA09-349BD772290C}" dt="2025-03-26T11:38:11.160" v="528" actId="1076"/>
        <pc:sldMkLst>
          <pc:docMk/>
          <pc:sldMk cId="152312837" sldId="310"/>
        </pc:sldMkLst>
        <pc:spChg chg="mod">
          <ac:chgData name="진영 이" userId="a442fa31ad75e523" providerId="LiveId" clId="{4FE6D943-CC11-47B5-AA09-349BD772290C}" dt="2025-03-26T11:38:00.012" v="526" actId="20577"/>
          <ac:spMkLst>
            <pc:docMk/>
            <pc:sldMk cId="152312837" sldId="310"/>
            <ac:spMk id="14" creationId="{2164527A-ED91-4939-840D-684AFB8336AE}"/>
          </ac:spMkLst>
        </pc:spChg>
        <pc:picChg chg="mod">
          <ac:chgData name="진영 이" userId="a442fa31ad75e523" providerId="LiveId" clId="{4FE6D943-CC11-47B5-AA09-349BD772290C}" dt="2025-03-26T11:38:11.160" v="528" actId="1076"/>
          <ac:picMkLst>
            <pc:docMk/>
            <pc:sldMk cId="152312837" sldId="310"/>
            <ac:picMk id="3" creationId="{48031DE1-65CA-4BE2-A7F0-7009A694FAAF}"/>
          </ac:picMkLst>
        </pc:picChg>
      </pc:sldChg>
      <pc:sldChg chg="modSp mod">
        <pc:chgData name="진영 이" userId="a442fa31ad75e523" providerId="LiveId" clId="{4FE6D943-CC11-47B5-AA09-349BD772290C}" dt="2025-03-26T11:40:52.053" v="552" actId="6549"/>
        <pc:sldMkLst>
          <pc:docMk/>
          <pc:sldMk cId="1101008223" sldId="313"/>
        </pc:sldMkLst>
        <pc:spChg chg="mod">
          <ac:chgData name="진영 이" userId="a442fa31ad75e523" providerId="LiveId" clId="{4FE6D943-CC11-47B5-AA09-349BD772290C}" dt="2025-03-26T11:40:52.053" v="552" actId="6549"/>
          <ac:spMkLst>
            <pc:docMk/>
            <pc:sldMk cId="1101008223" sldId="313"/>
            <ac:spMk id="9" creationId="{7AA87760-60BE-4BB5-BECC-145D1C1EA8D5}"/>
          </ac:spMkLst>
        </pc:spChg>
      </pc:sldChg>
      <pc:sldChg chg="addSp delSp modSp mod">
        <pc:chgData name="진영 이" userId="a442fa31ad75e523" providerId="LiveId" clId="{4FE6D943-CC11-47B5-AA09-349BD772290C}" dt="2025-03-26T12:12:16.551" v="1294" actId="1076"/>
        <pc:sldMkLst>
          <pc:docMk/>
          <pc:sldMk cId="774974534" sldId="314"/>
        </pc:sldMkLst>
        <pc:spChg chg="add del">
          <ac:chgData name="진영 이" userId="a442fa31ad75e523" providerId="LiveId" clId="{4FE6D943-CC11-47B5-AA09-349BD772290C}" dt="2025-03-26T12:11:32.563" v="1259"/>
          <ac:spMkLst>
            <pc:docMk/>
            <pc:sldMk cId="774974534" sldId="314"/>
            <ac:spMk id="4" creationId="{6D154456-CD3F-4FF0-9186-F56C16801C89}"/>
          </ac:spMkLst>
        </pc:spChg>
        <pc:spChg chg="mod">
          <ac:chgData name="진영 이" userId="a442fa31ad75e523" providerId="LiveId" clId="{4FE6D943-CC11-47B5-AA09-349BD772290C}" dt="2025-03-26T12:12:04.292" v="1286" actId="20577"/>
          <ac:spMkLst>
            <pc:docMk/>
            <pc:sldMk cId="774974534" sldId="314"/>
            <ac:spMk id="8" creationId="{2807C6C9-276A-494B-90EC-33221DF706D8}"/>
          </ac:spMkLst>
        </pc:spChg>
        <pc:grpChg chg="mod">
          <ac:chgData name="진영 이" userId="a442fa31ad75e523" providerId="LiveId" clId="{4FE6D943-CC11-47B5-AA09-349BD772290C}" dt="2025-03-26T12:12:16.551" v="1294" actId="1076"/>
          <ac:grpSpMkLst>
            <pc:docMk/>
            <pc:sldMk cId="774974534" sldId="314"/>
            <ac:grpSpMk id="2" creationId="{ABB52505-89EB-48F5-A761-F4160B8BADEA}"/>
          </ac:grpSpMkLst>
        </pc:grpChg>
        <pc:picChg chg="mod">
          <ac:chgData name="진영 이" userId="a442fa31ad75e523" providerId="LiveId" clId="{4FE6D943-CC11-47B5-AA09-349BD772290C}" dt="2025-03-26T12:12:14.933" v="1293" actId="14100"/>
          <ac:picMkLst>
            <pc:docMk/>
            <pc:sldMk cId="774974534" sldId="314"/>
            <ac:picMk id="10" creationId="{A8D6C009-5C8A-4FFA-9C80-4A60F65CF23A}"/>
          </ac:picMkLst>
        </pc:picChg>
      </pc:sldChg>
      <pc:sldChg chg="addSp delSp modSp mod">
        <pc:chgData name="진영 이" userId="a442fa31ad75e523" providerId="LiveId" clId="{4FE6D943-CC11-47B5-AA09-349BD772290C}" dt="2025-03-26T12:07:26.680" v="1249" actId="20577"/>
        <pc:sldMkLst>
          <pc:docMk/>
          <pc:sldMk cId="2664268767" sldId="316"/>
        </pc:sldMkLst>
        <pc:spChg chg="add del">
          <ac:chgData name="진영 이" userId="a442fa31ad75e523" providerId="LiveId" clId="{4FE6D943-CC11-47B5-AA09-349BD772290C}" dt="2025-03-26T12:06:47.279" v="1207"/>
          <ac:spMkLst>
            <pc:docMk/>
            <pc:sldMk cId="2664268767" sldId="316"/>
            <ac:spMk id="2" creationId="{2B4CEB85-CD99-4D47-A4A2-6C41476C0BEB}"/>
          </ac:spMkLst>
        </pc:spChg>
        <pc:spChg chg="mod">
          <ac:chgData name="진영 이" userId="a442fa31ad75e523" providerId="LiveId" clId="{4FE6D943-CC11-47B5-AA09-349BD772290C}" dt="2025-03-26T12:07:26.680" v="1249" actId="20577"/>
          <ac:spMkLst>
            <pc:docMk/>
            <pc:sldMk cId="2664268767" sldId="316"/>
            <ac:spMk id="8" creationId="{2807C6C9-276A-494B-90EC-33221DF706D8}"/>
          </ac:spMkLst>
        </pc:spChg>
      </pc:sldChg>
      <pc:sldChg chg="addSp delSp modSp mod">
        <pc:chgData name="진영 이" userId="a442fa31ad75e523" providerId="LiveId" clId="{4FE6D943-CC11-47B5-AA09-349BD772290C}" dt="2025-03-26T13:58:32.601" v="1336" actId="20577"/>
        <pc:sldMkLst>
          <pc:docMk/>
          <pc:sldMk cId="1011195558" sldId="317"/>
        </pc:sldMkLst>
        <pc:spChg chg="add del">
          <ac:chgData name="진영 이" userId="a442fa31ad75e523" providerId="LiveId" clId="{4FE6D943-CC11-47B5-AA09-349BD772290C}" dt="2025-03-26T12:15:38.450" v="1304"/>
          <ac:spMkLst>
            <pc:docMk/>
            <pc:sldMk cId="1011195558" sldId="317"/>
            <ac:spMk id="2" creationId="{57F1B925-938A-4820-9FA1-D6AE6A1C4D76}"/>
          </ac:spMkLst>
        </pc:spChg>
        <pc:spChg chg="add del">
          <ac:chgData name="진영 이" userId="a442fa31ad75e523" providerId="LiveId" clId="{4FE6D943-CC11-47B5-AA09-349BD772290C}" dt="2025-03-26T13:58:30.086" v="1332"/>
          <ac:spMkLst>
            <pc:docMk/>
            <pc:sldMk cId="1011195558" sldId="317"/>
            <ac:spMk id="3" creationId="{265112BF-A12D-4D54-8A1A-AFA5790B1BE4}"/>
          </ac:spMkLst>
        </pc:spChg>
        <pc:spChg chg="mod">
          <ac:chgData name="진영 이" userId="a442fa31ad75e523" providerId="LiveId" clId="{4FE6D943-CC11-47B5-AA09-349BD772290C}" dt="2025-03-26T13:58:32.601" v="1336" actId="20577"/>
          <ac:spMkLst>
            <pc:docMk/>
            <pc:sldMk cId="1011195558" sldId="317"/>
            <ac:spMk id="8" creationId="{2807C6C9-276A-494B-90EC-33221DF706D8}"/>
          </ac:spMkLst>
        </pc:spChg>
        <pc:grpChg chg="mod">
          <ac:chgData name="진영 이" userId="a442fa31ad75e523" providerId="LiveId" clId="{4FE6D943-CC11-47B5-AA09-349BD772290C}" dt="2025-03-26T12:16:28.431" v="1326" actId="1076"/>
          <ac:grpSpMkLst>
            <pc:docMk/>
            <pc:sldMk cId="1011195558" sldId="317"/>
            <ac:grpSpMk id="20" creationId="{142C458D-45EA-48C3-ADB5-D31163448DF2}"/>
          </ac:grpSpMkLst>
        </pc:grpChg>
        <pc:picChg chg="mod">
          <ac:chgData name="진영 이" userId="a442fa31ad75e523" providerId="LiveId" clId="{4FE6D943-CC11-47B5-AA09-349BD772290C}" dt="2025-03-26T12:16:28.431" v="1326" actId="1076"/>
          <ac:picMkLst>
            <pc:docMk/>
            <pc:sldMk cId="1011195558" sldId="317"/>
            <ac:picMk id="24" creationId="{0CCA377D-F4F5-49C2-928F-0D195B0D1A9A}"/>
          </ac:picMkLst>
        </pc:picChg>
        <pc:picChg chg="mod">
          <ac:chgData name="진영 이" userId="a442fa31ad75e523" providerId="LiveId" clId="{4FE6D943-CC11-47B5-AA09-349BD772290C}" dt="2025-03-26T12:16:32.406" v="1327" actId="1076"/>
          <ac:picMkLst>
            <pc:docMk/>
            <pc:sldMk cId="1011195558" sldId="317"/>
            <ac:picMk id="28" creationId="{C87DE8E8-F32D-43E6-A6EC-F26727852EA5}"/>
          </ac:picMkLst>
        </pc:picChg>
        <pc:picChg chg="mod">
          <ac:chgData name="진영 이" userId="a442fa31ad75e523" providerId="LiveId" clId="{4FE6D943-CC11-47B5-AA09-349BD772290C}" dt="2025-03-26T12:16:32.406" v="1327" actId="1076"/>
          <ac:picMkLst>
            <pc:docMk/>
            <pc:sldMk cId="1011195558" sldId="317"/>
            <ac:picMk id="30" creationId="{9E33193F-E7DF-43C8-93FB-C66318CDE465}"/>
          </ac:picMkLst>
        </pc:picChg>
        <pc:picChg chg="mod">
          <ac:chgData name="진영 이" userId="a442fa31ad75e523" providerId="LiveId" clId="{4FE6D943-CC11-47B5-AA09-349BD772290C}" dt="2025-03-26T12:16:32.406" v="1327" actId="1076"/>
          <ac:picMkLst>
            <pc:docMk/>
            <pc:sldMk cId="1011195558" sldId="317"/>
            <ac:picMk id="32" creationId="{E4167AC6-68BA-4069-B829-7BA2FE17DE1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p:bg>
      <p:bgPr>
        <a:solidFill>
          <a:schemeClr val="bg1">
            <a:lumMod val="95000"/>
          </a:schemeClr>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F93F03-BDC9-48CB-95CA-CF5FF793BCE1}"/>
              </a:ext>
            </a:extLst>
          </p:cNvPr>
          <p:cNvSpPr>
            <a:spLocks noGrp="1"/>
          </p:cNvSpPr>
          <p:nvPr>
            <p:ph type="ctrTitle" hasCustomPrompt="1"/>
          </p:nvPr>
        </p:nvSpPr>
        <p:spPr>
          <a:xfrm>
            <a:off x="695325" y="1438153"/>
            <a:ext cx="7915275" cy="506797"/>
          </a:xfrm>
          <a:prstGeom prst="rect">
            <a:avLst/>
          </a:prstGeom>
        </p:spPr>
        <p:txBody>
          <a:bodyPr anchor="ctr" anchorCtr="0">
            <a:noAutofit/>
          </a:bodyPr>
          <a:lstStyle>
            <a:lvl1pPr algn="l">
              <a:defRPr sz="3200"/>
            </a:lvl1pPr>
          </a:lstStyle>
          <a:p>
            <a:r>
              <a:rPr lang="ko-KR" altLang="en-US" dirty="0"/>
              <a:t>주제</a:t>
            </a:r>
            <a:r>
              <a:rPr lang="en-US" altLang="ko-KR" dirty="0"/>
              <a:t>(</a:t>
            </a:r>
            <a:r>
              <a:rPr lang="ko-KR" altLang="en-US" dirty="0"/>
              <a:t>제목</a:t>
            </a:r>
            <a:r>
              <a:rPr lang="en-US" altLang="ko-KR" dirty="0"/>
              <a:t>)</a:t>
            </a:r>
            <a:endParaRPr lang="ko-KR" altLang="en-US" dirty="0"/>
          </a:p>
        </p:txBody>
      </p:sp>
      <p:sp>
        <p:nvSpPr>
          <p:cNvPr id="3" name="부제목 2">
            <a:extLst>
              <a:ext uri="{FF2B5EF4-FFF2-40B4-BE49-F238E27FC236}">
                <a16:creationId xmlns:a16="http://schemas.microsoft.com/office/drawing/2014/main" id="{F40F1540-0307-465E-B27D-0A2FAC8FDDFD}"/>
              </a:ext>
            </a:extLst>
          </p:cNvPr>
          <p:cNvSpPr>
            <a:spLocks noGrp="1"/>
          </p:cNvSpPr>
          <p:nvPr>
            <p:ph type="subTitle" idx="1" hasCustomPrompt="1"/>
          </p:nvPr>
        </p:nvSpPr>
        <p:spPr>
          <a:xfrm>
            <a:off x="695324" y="4356728"/>
            <a:ext cx="3903373" cy="512135"/>
          </a:xfrm>
        </p:spPr>
        <p:txBody>
          <a:bodyPr>
            <a:noAutofit/>
          </a:bodyPr>
          <a:lstStyle>
            <a:lvl1pPr marL="0" indent="0" algn="l">
              <a:spcBef>
                <a:spcPts val="0"/>
              </a:spcBef>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err="1"/>
              <a:t>소속명</a:t>
            </a:r>
            <a:r>
              <a:rPr lang="en-US" altLang="ko-KR" dirty="0"/>
              <a:t>(</a:t>
            </a:r>
            <a:r>
              <a:rPr lang="ko-KR" altLang="en-US" dirty="0"/>
              <a:t>영어</a:t>
            </a:r>
            <a:r>
              <a:rPr lang="en-US" altLang="ko-KR" dirty="0"/>
              <a:t>)</a:t>
            </a:r>
          </a:p>
        </p:txBody>
      </p:sp>
      <p:pic>
        <p:nvPicPr>
          <p:cNvPr id="11" name="그림 10">
            <a:extLst>
              <a:ext uri="{FF2B5EF4-FFF2-40B4-BE49-F238E27FC236}">
                <a16:creationId xmlns:a16="http://schemas.microsoft.com/office/drawing/2014/main" id="{3E71ECD7-AD2E-494C-9287-D4281143001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3451" t="31962" r="30571" b="28526"/>
          <a:stretch/>
        </p:blipFill>
        <p:spPr>
          <a:xfrm>
            <a:off x="7462830" y="2452566"/>
            <a:ext cx="3112146" cy="2416297"/>
          </a:xfrm>
          <a:prstGeom prst="rect">
            <a:avLst/>
          </a:prstGeom>
        </p:spPr>
      </p:pic>
      <p:sp>
        <p:nvSpPr>
          <p:cNvPr id="13" name="직사각형 12">
            <a:extLst>
              <a:ext uri="{FF2B5EF4-FFF2-40B4-BE49-F238E27FC236}">
                <a16:creationId xmlns:a16="http://schemas.microsoft.com/office/drawing/2014/main" id="{530E27D9-DAA7-4F4C-8031-3B9BCFCDB092}"/>
              </a:ext>
            </a:extLst>
          </p:cNvPr>
          <p:cNvSpPr/>
          <p:nvPr userDrawn="1"/>
        </p:nvSpPr>
        <p:spPr>
          <a:xfrm>
            <a:off x="1" y="6308725"/>
            <a:ext cx="12192000" cy="549275"/>
          </a:xfrm>
          <a:prstGeom prst="rect">
            <a:avLst/>
          </a:prstGeom>
          <a:solidFill>
            <a:srgbClr val="A40F1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텍스트 개체 틀 15">
            <a:extLst>
              <a:ext uri="{FF2B5EF4-FFF2-40B4-BE49-F238E27FC236}">
                <a16:creationId xmlns:a16="http://schemas.microsoft.com/office/drawing/2014/main" id="{C4CC0AE3-B63E-4C90-A304-5AB3AE6E2CE0}"/>
              </a:ext>
            </a:extLst>
          </p:cNvPr>
          <p:cNvSpPr>
            <a:spLocks noGrp="1"/>
          </p:cNvSpPr>
          <p:nvPr>
            <p:ph type="body" sz="quarter" idx="10" hasCustomPrompt="1"/>
          </p:nvPr>
        </p:nvSpPr>
        <p:spPr>
          <a:xfrm>
            <a:off x="695324" y="1989844"/>
            <a:ext cx="5400675" cy="341313"/>
          </a:xfrm>
        </p:spPr>
        <p:txBody>
          <a:bodyPr>
            <a:noAutofit/>
          </a:bodyPr>
          <a:lstStyle>
            <a:lvl1pPr marL="0" indent="0">
              <a:buNone/>
              <a:defRPr sz="1800">
                <a:solidFill>
                  <a:srgbClr val="A5A5A5"/>
                </a:solidFill>
              </a:defRPr>
            </a:lvl1pPr>
            <a:lvl2pPr>
              <a:defRPr sz="1600"/>
            </a:lvl2pPr>
            <a:lvl3pPr>
              <a:defRPr sz="1600"/>
            </a:lvl3pPr>
            <a:lvl4pPr>
              <a:defRPr sz="1600"/>
            </a:lvl4pPr>
            <a:lvl5pPr>
              <a:defRPr sz="1600"/>
            </a:lvl5pPr>
          </a:lstStyle>
          <a:p>
            <a:pPr lvl="0"/>
            <a:r>
              <a:rPr lang="ko-KR" altLang="en-US" dirty="0" err="1"/>
              <a:t>부주제</a:t>
            </a:r>
            <a:endParaRPr lang="ko-KR" altLang="en-US" dirty="0"/>
          </a:p>
        </p:txBody>
      </p:sp>
      <p:sp>
        <p:nvSpPr>
          <p:cNvPr id="18" name="텍스트 개체 틀 17">
            <a:extLst>
              <a:ext uri="{FF2B5EF4-FFF2-40B4-BE49-F238E27FC236}">
                <a16:creationId xmlns:a16="http://schemas.microsoft.com/office/drawing/2014/main" id="{466124E3-E1CC-4335-8C53-87E7ED4BCD7F}"/>
              </a:ext>
            </a:extLst>
          </p:cNvPr>
          <p:cNvSpPr>
            <a:spLocks noGrp="1"/>
          </p:cNvSpPr>
          <p:nvPr>
            <p:ph type="body" sz="quarter" idx="11" hasCustomPrompt="1"/>
          </p:nvPr>
        </p:nvSpPr>
        <p:spPr>
          <a:xfrm>
            <a:off x="695325" y="4868863"/>
            <a:ext cx="3903663" cy="341313"/>
          </a:xfrm>
        </p:spPr>
        <p:txBody>
          <a:bodyPr>
            <a:noAutofit/>
          </a:bodyPr>
          <a:lstStyle>
            <a:lvl1pPr marL="0" indent="0">
              <a:buNone/>
              <a:defRPr sz="1800">
                <a:solidFill>
                  <a:schemeClr val="tx1"/>
                </a:solidFill>
              </a:defRPr>
            </a:lvl1pPr>
          </a:lstStyle>
          <a:p>
            <a:pPr lvl="0"/>
            <a:r>
              <a:rPr lang="ko-KR" altLang="en-US" dirty="0"/>
              <a:t>발표자명</a:t>
            </a:r>
          </a:p>
        </p:txBody>
      </p:sp>
      <p:sp>
        <p:nvSpPr>
          <p:cNvPr id="22" name="텍스트 개체 틀 21">
            <a:extLst>
              <a:ext uri="{FF2B5EF4-FFF2-40B4-BE49-F238E27FC236}">
                <a16:creationId xmlns:a16="http://schemas.microsoft.com/office/drawing/2014/main" id="{18CFB005-1E87-4D16-A50C-30C9ACFAD88C}"/>
              </a:ext>
            </a:extLst>
          </p:cNvPr>
          <p:cNvSpPr>
            <a:spLocks noGrp="1"/>
          </p:cNvSpPr>
          <p:nvPr>
            <p:ph type="body" sz="quarter" idx="12" hasCustomPrompt="1"/>
          </p:nvPr>
        </p:nvSpPr>
        <p:spPr>
          <a:xfrm>
            <a:off x="695325" y="2348046"/>
            <a:ext cx="3294063" cy="341312"/>
          </a:xfrm>
        </p:spPr>
        <p:txBody>
          <a:bodyPr>
            <a:normAutofit/>
          </a:bodyPr>
          <a:lstStyle>
            <a:lvl1pPr marL="0" indent="0">
              <a:buNone/>
              <a:defRPr sz="1600">
                <a:solidFill>
                  <a:schemeClr val="tx1"/>
                </a:solidFill>
              </a:defRPr>
            </a:lvl1pPr>
          </a:lstStyle>
          <a:p>
            <a:pPr lvl="0"/>
            <a:r>
              <a:rPr lang="ko-KR" altLang="en-US" dirty="0"/>
              <a:t>날짜</a:t>
            </a:r>
          </a:p>
        </p:txBody>
      </p:sp>
    </p:spTree>
    <p:extLst>
      <p:ext uri="{BB962C8B-B14F-4D97-AF65-F5344CB8AC3E}">
        <p14:creationId xmlns:p14="http://schemas.microsoft.com/office/powerpoint/2010/main" val="7380135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346" userDrawn="1">
          <p15:clr>
            <a:srgbClr val="FBAE40"/>
          </p15:clr>
        </p15:guide>
        <p15:guide id="6" orient="horz" pos="397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D64983F2-9D41-4165-BDCE-12A5F5031973}"/>
              </a:ext>
            </a:extLst>
          </p:cNvPr>
          <p:cNvSpPr/>
          <p:nvPr userDrawn="1"/>
        </p:nvSpPr>
        <p:spPr>
          <a:xfrm>
            <a:off x="1" y="1"/>
            <a:ext cx="2137557" cy="6858000"/>
          </a:xfrm>
          <a:prstGeom prst="rect">
            <a:avLst/>
          </a:prstGeom>
          <a:solidFill>
            <a:srgbClr val="A40F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BCD991AD-BA07-43F2-9DA6-B1375B45B4E2}"/>
              </a:ext>
            </a:extLst>
          </p:cNvPr>
          <p:cNvSpPr>
            <a:spLocks noGrp="1"/>
          </p:cNvSpPr>
          <p:nvPr>
            <p:ph type="title" hasCustomPrompt="1"/>
          </p:nvPr>
        </p:nvSpPr>
        <p:spPr>
          <a:xfrm>
            <a:off x="695325" y="549275"/>
            <a:ext cx="1376919" cy="365125"/>
          </a:xfrm>
          <a:prstGeom prst="rect">
            <a:avLst/>
          </a:prstGeom>
          <a:ln>
            <a:solidFill>
              <a:schemeClr val="accent1">
                <a:shade val="50000"/>
                <a:alpha val="0"/>
              </a:schemeClr>
            </a:solidFill>
          </a:ln>
        </p:spPr>
        <p:txBody>
          <a:bodyPr>
            <a:normAutofit/>
          </a:bodyPr>
          <a:lstStyle>
            <a:lvl1pPr>
              <a:defRPr sz="2400">
                <a:ln w="12700">
                  <a:solidFill>
                    <a:schemeClr val="accent1">
                      <a:alpha val="0"/>
                    </a:schemeClr>
                  </a:solidFill>
                </a:ln>
                <a:solidFill>
                  <a:schemeClr val="bg1"/>
                </a:solidFill>
              </a:defRPr>
            </a:lvl1pPr>
          </a:lstStyle>
          <a:p>
            <a:r>
              <a:rPr lang="en-US" altLang="ko-KR" dirty="0"/>
              <a:t>Contents</a:t>
            </a:r>
            <a:endParaRPr lang="ko-KR" altLang="en-US" dirty="0"/>
          </a:p>
        </p:txBody>
      </p:sp>
      <p:sp>
        <p:nvSpPr>
          <p:cNvPr id="7" name="텍스트 개체 틀 2">
            <a:extLst>
              <a:ext uri="{FF2B5EF4-FFF2-40B4-BE49-F238E27FC236}">
                <a16:creationId xmlns:a16="http://schemas.microsoft.com/office/drawing/2014/main" id="{D3F56B2D-299F-417A-8FA0-54FE3010CB5A}"/>
              </a:ext>
            </a:extLst>
          </p:cNvPr>
          <p:cNvSpPr>
            <a:spLocks noGrp="1"/>
          </p:cNvSpPr>
          <p:nvPr>
            <p:ph idx="1" hasCustomPrompt="1"/>
          </p:nvPr>
        </p:nvSpPr>
        <p:spPr>
          <a:xfrm>
            <a:off x="3395663" y="1233591"/>
            <a:ext cx="1342592" cy="1511094"/>
          </a:xfrm>
          <a:prstGeom prst="rect">
            <a:avLst/>
          </a:prstGeom>
        </p:spPr>
        <p:txBody>
          <a:bodyPr vert="horz" lIns="91440" tIns="45720" rIns="91440" bIns="45720" rtlCol="0">
            <a:normAutofit/>
          </a:bodyPr>
          <a:lstStyle>
            <a:lvl1pPr marL="0" indent="0">
              <a:buNone/>
              <a:defRPr sz="2000"/>
            </a:lvl1pPr>
          </a:lstStyle>
          <a:p>
            <a:pPr lvl="0"/>
            <a:r>
              <a:rPr lang="en-US" altLang="ko-KR" dirty="0"/>
              <a:t>1.</a:t>
            </a:r>
            <a:r>
              <a:rPr lang="ko-KR" altLang="en-US" dirty="0"/>
              <a:t> </a:t>
            </a:r>
            <a:r>
              <a:rPr lang="en-US" altLang="ko-KR" dirty="0"/>
              <a:t>What</a:t>
            </a:r>
            <a:br>
              <a:rPr lang="en-US" altLang="ko-KR" dirty="0"/>
            </a:br>
            <a:r>
              <a:rPr lang="en-US" altLang="ko-KR" dirty="0"/>
              <a:t>-</a:t>
            </a:r>
            <a:br>
              <a:rPr lang="en-US" altLang="ko-KR" dirty="0"/>
            </a:br>
            <a:r>
              <a:rPr lang="en-US" altLang="ko-KR" dirty="0"/>
              <a:t>-</a:t>
            </a:r>
            <a:br>
              <a:rPr lang="en-US" altLang="ko-KR" dirty="0"/>
            </a:br>
            <a:r>
              <a:rPr lang="en-US" altLang="ko-KR" dirty="0"/>
              <a:t>-</a:t>
            </a:r>
            <a:endParaRPr lang="ko-KR" altLang="en-US" dirty="0"/>
          </a:p>
        </p:txBody>
      </p:sp>
      <p:pic>
        <p:nvPicPr>
          <p:cNvPr id="8" name="그림 7">
            <a:extLst>
              <a:ext uri="{FF2B5EF4-FFF2-40B4-BE49-F238E27FC236}">
                <a16:creationId xmlns:a16="http://schemas.microsoft.com/office/drawing/2014/main" id="{50ECD461-3789-4D3D-B486-10C167A0A02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1393" t="29194" r="28051" b="27410"/>
          <a:stretch/>
        </p:blipFill>
        <p:spPr>
          <a:xfrm>
            <a:off x="11496675" y="6332002"/>
            <a:ext cx="695324" cy="525997"/>
          </a:xfrm>
          <a:prstGeom prst="rect">
            <a:avLst/>
          </a:prstGeom>
        </p:spPr>
      </p:pic>
      <p:sp>
        <p:nvSpPr>
          <p:cNvPr id="9" name="텍스트 개체 틀 2">
            <a:extLst>
              <a:ext uri="{FF2B5EF4-FFF2-40B4-BE49-F238E27FC236}">
                <a16:creationId xmlns:a16="http://schemas.microsoft.com/office/drawing/2014/main" id="{649CAB2C-6B1F-43C7-8BB7-BB097D9106D9}"/>
              </a:ext>
            </a:extLst>
          </p:cNvPr>
          <p:cNvSpPr>
            <a:spLocks noGrp="1"/>
          </p:cNvSpPr>
          <p:nvPr>
            <p:ph idx="10" hasCustomPrompt="1"/>
          </p:nvPr>
        </p:nvSpPr>
        <p:spPr>
          <a:xfrm>
            <a:off x="4899190" y="4184547"/>
            <a:ext cx="1342592" cy="1511094"/>
          </a:xfrm>
          <a:prstGeom prst="rect">
            <a:avLst/>
          </a:prstGeom>
        </p:spPr>
        <p:txBody>
          <a:bodyPr vert="horz" lIns="91440" tIns="45720" rIns="91440" bIns="45720" rtlCol="0">
            <a:normAutofit/>
          </a:bodyPr>
          <a:lstStyle>
            <a:lvl1pPr marL="0" indent="0">
              <a:buNone/>
              <a:defRPr sz="2000"/>
            </a:lvl1pPr>
          </a:lstStyle>
          <a:p>
            <a:pPr lvl="0"/>
            <a:r>
              <a:rPr lang="en-US" altLang="ko-KR" dirty="0"/>
              <a:t>2.</a:t>
            </a:r>
            <a:r>
              <a:rPr lang="ko-KR" altLang="en-US" dirty="0"/>
              <a:t> </a:t>
            </a:r>
            <a:r>
              <a:rPr lang="en-US" altLang="ko-KR" dirty="0"/>
              <a:t>Why</a:t>
            </a:r>
            <a:br>
              <a:rPr lang="en-US" altLang="ko-KR" dirty="0"/>
            </a:br>
            <a:r>
              <a:rPr lang="en-US" altLang="ko-KR" dirty="0"/>
              <a:t>-</a:t>
            </a:r>
            <a:br>
              <a:rPr lang="en-US" altLang="ko-KR" dirty="0"/>
            </a:br>
            <a:r>
              <a:rPr lang="en-US" altLang="ko-KR" dirty="0"/>
              <a:t>-</a:t>
            </a:r>
            <a:br>
              <a:rPr lang="en-US" altLang="ko-KR" dirty="0"/>
            </a:br>
            <a:r>
              <a:rPr lang="en-US" altLang="ko-KR" dirty="0"/>
              <a:t>-</a:t>
            </a:r>
            <a:endParaRPr lang="ko-KR" altLang="en-US" dirty="0"/>
          </a:p>
        </p:txBody>
      </p:sp>
      <p:sp>
        <p:nvSpPr>
          <p:cNvPr id="10" name="텍스트 개체 틀 2">
            <a:extLst>
              <a:ext uri="{FF2B5EF4-FFF2-40B4-BE49-F238E27FC236}">
                <a16:creationId xmlns:a16="http://schemas.microsoft.com/office/drawing/2014/main" id="{4878818E-BA79-4C51-AE02-72D4CF35A049}"/>
              </a:ext>
            </a:extLst>
          </p:cNvPr>
          <p:cNvSpPr>
            <a:spLocks noGrp="1"/>
          </p:cNvSpPr>
          <p:nvPr>
            <p:ph idx="11" hasCustomPrompt="1"/>
          </p:nvPr>
        </p:nvSpPr>
        <p:spPr>
          <a:xfrm>
            <a:off x="6517574" y="1233591"/>
            <a:ext cx="1342592" cy="1511094"/>
          </a:xfrm>
          <a:prstGeom prst="rect">
            <a:avLst/>
          </a:prstGeom>
        </p:spPr>
        <p:txBody>
          <a:bodyPr vert="horz" lIns="91440" tIns="45720" rIns="91440" bIns="45720" rtlCol="0">
            <a:normAutofit/>
          </a:bodyPr>
          <a:lstStyle>
            <a:lvl1pPr marL="0" indent="0">
              <a:buNone/>
              <a:defRPr sz="2000"/>
            </a:lvl1pPr>
          </a:lstStyle>
          <a:p>
            <a:pPr lvl="0"/>
            <a:r>
              <a:rPr lang="en-US" altLang="ko-KR" dirty="0"/>
              <a:t>3.</a:t>
            </a:r>
            <a:r>
              <a:rPr lang="ko-KR" altLang="en-US" dirty="0"/>
              <a:t> </a:t>
            </a:r>
            <a:r>
              <a:rPr lang="en-US" altLang="ko-KR" dirty="0"/>
              <a:t>How</a:t>
            </a:r>
            <a:br>
              <a:rPr lang="en-US" altLang="ko-KR" dirty="0"/>
            </a:br>
            <a:r>
              <a:rPr lang="en-US" altLang="ko-KR" dirty="0"/>
              <a:t>-</a:t>
            </a:r>
            <a:br>
              <a:rPr lang="en-US" altLang="ko-KR" dirty="0"/>
            </a:br>
            <a:r>
              <a:rPr lang="en-US" altLang="ko-KR" dirty="0"/>
              <a:t>-</a:t>
            </a:r>
            <a:br>
              <a:rPr lang="en-US" altLang="ko-KR" dirty="0"/>
            </a:br>
            <a:r>
              <a:rPr lang="en-US" altLang="ko-KR" dirty="0"/>
              <a:t>-</a:t>
            </a:r>
            <a:endParaRPr lang="ko-KR" altLang="en-US" dirty="0"/>
          </a:p>
        </p:txBody>
      </p:sp>
      <p:sp>
        <p:nvSpPr>
          <p:cNvPr id="11" name="텍스트 개체 틀 2">
            <a:extLst>
              <a:ext uri="{FF2B5EF4-FFF2-40B4-BE49-F238E27FC236}">
                <a16:creationId xmlns:a16="http://schemas.microsoft.com/office/drawing/2014/main" id="{ACF80323-F0D3-44E2-B9AC-E373016DEABC}"/>
              </a:ext>
            </a:extLst>
          </p:cNvPr>
          <p:cNvSpPr>
            <a:spLocks noGrp="1"/>
          </p:cNvSpPr>
          <p:nvPr>
            <p:ph idx="12" hasCustomPrompt="1"/>
          </p:nvPr>
        </p:nvSpPr>
        <p:spPr>
          <a:xfrm>
            <a:off x="8125042" y="4184547"/>
            <a:ext cx="1342592" cy="1511094"/>
          </a:xfrm>
          <a:prstGeom prst="rect">
            <a:avLst/>
          </a:prstGeom>
        </p:spPr>
        <p:txBody>
          <a:bodyPr vert="horz" lIns="91440" tIns="45720" rIns="91440" bIns="45720" rtlCol="0">
            <a:normAutofit/>
          </a:bodyPr>
          <a:lstStyle>
            <a:lvl1pPr marL="0" indent="0">
              <a:buNone/>
              <a:defRPr sz="2000"/>
            </a:lvl1pPr>
          </a:lstStyle>
          <a:p>
            <a:pPr lvl="0"/>
            <a:r>
              <a:rPr lang="en-US" altLang="ko-KR" dirty="0"/>
              <a:t>4.</a:t>
            </a:r>
            <a:r>
              <a:rPr lang="ko-KR" altLang="en-US" dirty="0"/>
              <a:t> </a:t>
            </a:r>
            <a:r>
              <a:rPr lang="en-US" altLang="ko-KR" dirty="0"/>
              <a:t>Will</a:t>
            </a:r>
            <a:br>
              <a:rPr lang="en-US" altLang="ko-KR" dirty="0"/>
            </a:br>
            <a:r>
              <a:rPr lang="en-US" altLang="ko-KR" dirty="0"/>
              <a:t>-</a:t>
            </a:r>
            <a:br>
              <a:rPr lang="en-US" altLang="ko-KR" dirty="0"/>
            </a:br>
            <a:r>
              <a:rPr lang="en-US" altLang="ko-KR" dirty="0"/>
              <a:t>-</a:t>
            </a:r>
            <a:br>
              <a:rPr lang="en-US" altLang="ko-KR" dirty="0"/>
            </a:br>
            <a:r>
              <a:rPr lang="en-US" altLang="ko-KR" dirty="0"/>
              <a:t>-</a:t>
            </a:r>
            <a:endParaRPr lang="ko-KR" altLang="en-US" dirty="0"/>
          </a:p>
        </p:txBody>
      </p:sp>
    </p:spTree>
    <p:extLst>
      <p:ext uri="{BB962C8B-B14F-4D97-AF65-F5344CB8AC3E}">
        <p14:creationId xmlns:p14="http://schemas.microsoft.com/office/powerpoint/2010/main" val="1562474868"/>
      </p:ext>
    </p:extLst>
  </p:cSld>
  <p:clrMapOvr>
    <a:masterClrMapping/>
  </p:clrMapOvr>
  <p:extLst>
    <p:ext uri="{DCECCB84-F9BA-43D5-87BE-67443E8EF086}">
      <p15:sldGuideLst xmlns:p15="http://schemas.microsoft.com/office/powerpoint/2012/main">
        <p15:guide id="1" orient="horz" pos="1253" userDrawn="1">
          <p15:clr>
            <a:srgbClr val="FBAE40"/>
          </p15:clr>
        </p15:guide>
        <p15:guide id="2" pos="2139" userDrawn="1">
          <p15:clr>
            <a:srgbClr val="FBAE40"/>
          </p15:clr>
        </p15:guide>
        <p15:guide id="3" pos="5541" userDrawn="1">
          <p15:clr>
            <a:srgbClr val="FBAE40"/>
          </p15:clr>
        </p15:guide>
        <p15:guide id="4" orient="horz" pos="30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6" name="Google Shape;199;p8">
            <a:extLst>
              <a:ext uri="{FF2B5EF4-FFF2-40B4-BE49-F238E27FC236}">
                <a16:creationId xmlns:a16="http://schemas.microsoft.com/office/drawing/2014/main" id="{46FF2FF2-B799-4FA7-BE47-5E45057DB559}"/>
              </a:ext>
            </a:extLst>
          </p:cNvPr>
          <p:cNvSpPr/>
          <p:nvPr userDrawn="1"/>
        </p:nvSpPr>
        <p:spPr>
          <a:xfrm>
            <a:off x="-1" y="0"/>
            <a:ext cx="12192000" cy="6858000"/>
          </a:xfrm>
          <a:prstGeom prst="rect">
            <a:avLst/>
          </a:prstGeom>
          <a:solidFill>
            <a:schemeClr val="dk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3" name="육각형 2">
            <a:extLst>
              <a:ext uri="{FF2B5EF4-FFF2-40B4-BE49-F238E27FC236}">
                <a16:creationId xmlns:a16="http://schemas.microsoft.com/office/drawing/2014/main" id="{63B78F2E-A616-4A2F-B508-6E158B49FBAB}"/>
              </a:ext>
            </a:extLst>
          </p:cNvPr>
          <p:cNvSpPr/>
          <p:nvPr userDrawn="1"/>
        </p:nvSpPr>
        <p:spPr>
          <a:xfrm rot="5400000">
            <a:off x="3688366" y="1353454"/>
            <a:ext cx="4815266" cy="4151092"/>
          </a:xfrm>
          <a:prstGeom prst="hexagon">
            <a:avLst/>
          </a:prstGeom>
          <a:solidFill>
            <a:srgbClr val="A5884C"/>
          </a:solidFill>
          <a:ln>
            <a:solidFill>
              <a:srgbClr val="A588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육각형 3">
            <a:extLst>
              <a:ext uri="{FF2B5EF4-FFF2-40B4-BE49-F238E27FC236}">
                <a16:creationId xmlns:a16="http://schemas.microsoft.com/office/drawing/2014/main" id="{1E738EF5-B2CF-49FB-BFEB-9EF63C3D9592}"/>
              </a:ext>
            </a:extLst>
          </p:cNvPr>
          <p:cNvSpPr/>
          <p:nvPr userDrawn="1"/>
        </p:nvSpPr>
        <p:spPr>
          <a:xfrm rot="5400000">
            <a:off x="4041934" y="1658254"/>
            <a:ext cx="4108130" cy="3541492"/>
          </a:xfrm>
          <a:prstGeom prst="hexagon">
            <a:avLst/>
          </a:prstGeom>
          <a:solidFill>
            <a:schemeClr val="bg1"/>
          </a:solidFill>
          <a:ln>
            <a:solidFill>
              <a:srgbClr val="A588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텍스트 개체 틀 6">
            <a:extLst>
              <a:ext uri="{FF2B5EF4-FFF2-40B4-BE49-F238E27FC236}">
                <a16:creationId xmlns:a16="http://schemas.microsoft.com/office/drawing/2014/main" id="{09361BD3-3342-4811-A2AA-DADD892C488F}"/>
              </a:ext>
            </a:extLst>
          </p:cNvPr>
          <p:cNvSpPr>
            <a:spLocks noGrp="1"/>
          </p:cNvSpPr>
          <p:nvPr>
            <p:ph type="body" sz="quarter" idx="10" hasCustomPrompt="1"/>
          </p:nvPr>
        </p:nvSpPr>
        <p:spPr>
          <a:xfrm>
            <a:off x="4956330" y="2443358"/>
            <a:ext cx="2279340" cy="1971283"/>
          </a:xfrm>
        </p:spPr>
        <p:txBody>
          <a:bodyPr/>
          <a:lstStyle>
            <a:lvl1pPr marL="0" indent="0">
              <a:buNone/>
              <a:defRPr/>
            </a:lvl1pPr>
          </a:lstStyle>
          <a:p>
            <a:pPr algn="ctr"/>
            <a:r>
              <a:rPr lang="en-US" altLang="ko-KR" sz="9600" dirty="0">
                <a:solidFill>
                  <a:srgbClr val="A5884C"/>
                </a:solidFill>
              </a:rPr>
              <a:t>01</a:t>
            </a:r>
          </a:p>
          <a:p>
            <a:pPr algn="ctr"/>
            <a:r>
              <a:rPr lang="en-US" altLang="ko-KR" sz="2400" dirty="0">
                <a:solidFill>
                  <a:schemeClr val="tx1">
                    <a:lumMod val="75000"/>
                    <a:lumOff val="25000"/>
                  </a:schemeClr>
                </a:solidFill>
              </a:rPr>
              <a:t>Contents</a:t>
            </a:r>
            <a:endParaRPr lang="ko-KR" altLang="en-US" sz="2400" dirty="0">
              <a:solidFill>
                <a:schemeClr val="tx1">
                  <a:lumMod val="75000"/>
                  <a:lumOff val="25000"/>
                </a:schemeClr>
              </a:solidFill>
            </a:endParaRPr>
          </a:p>
          <a:p>
            <a:pPr lvl="0"/>
            <a:endParaRPr lang="ko-KR" altLang="en-US" dirty="0"/>
          </a:p>
        </p:txBody>
      </p:sp>
    </p:spTree>
    <p:extLst>
      <p:ext uri="{BB962C8B-B14F-4D97-AF65-F5344CB8AC3E}">
        <p14:creationId xmlns:p14="http://schemas.microsoft.com/office/powerpoint/2010/main" val="15074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9E11F0C2-A669-448A-943E-42B80D99643B}"/>
              </a:ext>
            </a:extLst>
          </p:cNvPr>
          <p:cNvSpPr/>
          <p:nvPr userDrawn="1"/>
        </p:nvSpPr>
        <p:spPr>
          <a:xfrm>
            <a:off x="1" y="6308725"/>
            <a:ext cx="12192000" cy="549275"/>
          </a:xfrm>
          <a:prstGeom prst="rect">
            <a:avLst/>
          </a:prstGeom>
          <a:solidFill>
            <a:srgbClr val="A40F1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44F871DA-3485-4671-B9CB-ED1DED4113A7}"/>
              </a:ext>
            </a:extLst>
          </p:cNvPr>
          <p:cNvSpPr>
            <a:spLocks noGrp="1"/>
          </p:cNvSpPr>
          <p:nvPr>
            <p:ph type="title" hasCustomPrompt="1"/>
          </p:nvPr>
        </p:nvSpPr>
        <p:spPr>
          <a:xfrm>
            <a:off x="695325" y="549275"/>
            <a:ext cx="5400675" cy="315912"/>
          </a:xfrm>
          <a:prstGeom prst="rect">
            <a:avLst/>
          </a:prstGeom>
        </p:spPr>
        <p:txBody>
          <a:bodyPr/>
          <a:lstStyle>
            <a:lvl1pPr>
              <a:defRPr sz="2000"/>
            </a:lvl1pPr>
          </a:lstStyle>
          <a:p>
            <a:r>
              <a:rPr lang="ko-KR" altLang="en-US" dirty="0"/>
              <a:t>소주제</a:t>
            </a:r>
          </a:p>
        </p:txBody>
      </p:sp>
      <p:sp>
        <p:nvSpPr>
          <p:cNvPr id="3" name="내용 개체 틀 2">
            <a:extLst>
              <a:ext uri="{FF2B5EF4-FFF2-40B4-BE49-F238E27FC236}">
                <a16:creationId xmlns:a16="http://schemas.microsoft.com/office/drawing/2014/main" id="{CC0CC716-29BE-454C-A79F-7162B0C84D25}"/>
              </a:ext>
            </a:extLst>
          </p:cNvPr>
          <p:cNvSpPr>
            <a:spLocks noGrp="1"/>
          </p:cNvSpPr>
          <p:nvPr>
            <p:ph idx="1"/>
          </p:nvPr>
        </p:nvSpPr>
        <p:spPr>
          <a:xfrm>
            <a:off x="695325" y="1201592"/>
            <a:ext cx="5400674" cy="4351338"/>
          </a:xfrm>
        </p:spPr>
        <p:txBody>
          <a:bodyPr/>
          <a:lstStyle>
            <a:lvl1pPr>
              <a:defRPr sz="2400"/>
            </a:lvl1pPr>
            <a:lvl2pPr>
              <a:defRPr sz="1800"/>
            </a:lvl2pPr>
            <a:lvl3pPr>
              <a:defRPr sz="1600"/>
            </a:lvl3pPr>
            <a:lvl4pPr>
              <a:defRPr sz="1600"/>
            </a:lvl4pPr>
            <a:lvl5pPr>
              <a:defRPr sz="16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032B33AB-9191-4B56-BBE8-0A4E711030F5}"/>
              </a:ext>
            </a:extLst>
          </p:cNvPr>
          <p:cNvSpPr>
            <a:spLocks noGrp="1"/>
          </p:cNvSpPr>
          <p:nvPr>
            <p:ph type="dt" sz="half" idx="10"/>
          </p:nvPr>
        </p:nvSpPr>
        <p:spPr>
          <a:xfrm>
            <a:off x="695325" y="6308725"/>
            <a:ext cx="2743200" cy="365125"/>
          </a:xfrm>
          <a:prstGeom prst="rect">
            <a:avLst/>
          </a:prstGeom>
        </p:spPr>
        <p:txBody>
          <a:bodyPr/>
          <a:lstStyle>
            <a:lvl1pPr>
              <a:defRPr sz="1200">
                <a:ln>
                  <a:solidFill>
                    <a:schemeClr val="bg1">
                      <a:lumMod val="85000"/>
                    </a:schemeClr>
                  </a:solidFill>
                </a:ln>
                <a:solidFill>
                  <a:schemeClr val="bg1">
                    <a:lumMod val="85000"/>
                  </a:schemeClr>
                </a:solidFill>
                <a:latin typeface="나눔고딕OTF" panose="020D0804000000000000" pitchFamily="34" charset="-127"/>
                <a:ea typeface="나눔고딕OTF" panose="020D0804000000000000" pitchFamily="34" charset="-127"/>
              </a:defRPr>
            </a:lvl1pPr>
          </a:lstStyle>
          <a:p>
            <a:r>
              <a:rPr lang="ko-KR" altLang="en-US"/>
              <a:t>출처</a:t>
            </a:r>
            <a:endParaRPr lang="ko-KR" altLang="en-US" dirty="0"/>
          </a:p>
        </p:txBody>
      </p:sp>
      <p:pic>
        <p:nvPicPr>
          <p:cNvPr id="9" name="그림 8">
            <a:extLst>
              <a:ext uri="{FF2B5EF4-FFF2-40B4-BE49-F238E27FC236}">
                <a16:creationId xmlns:a16="http://schemas.microsoft.com/office/drawing/2014/main" id="{47390076-EDC2-46B5-A4D1-01CBF40F2C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1393" t="29194" r="28051" b="27410"/>
          <a:stretch/>
        </p:blipFill>
        <p:spPr>
          <a:xfrm>
            <a:off x="11496675" y="6332002"/>
            <a:ext cx="695324" cy="525997"/>
          </a:xfrm>
          <a:prstGeom prst="rect">
            <a:avLst/>
          </a:prstGeom>
        </p:spPr>
      </p:pic>
      <p:sp>
        <p:nvSpPr>
          <p:cNvPr id="10" name="그림 개체 틀 2">
            <a:extLst>
              <a:ext uri="{FF2B5EF4-FFF2-40B4-BE49-F238E27FC236}">
                <a16:creationId xmlns:a16="http://schemas.microsoft.com/office/drawing/2014/main" id="{05C8E572-82E1-4A06-996C-B19FE5102E0D}"/>
              </a:ext>
            </a:extLst>
          </p:cNvPr>
          <p:cNvSpPr>
            <a:spLocks noGrp="1"/>
          </p:cNvSpPr>
          <p:nvPr>
            <p:ph type="pic" idx="11"/>
          </p:nvPr>
        </p:nvSpPr>
        <p:spPr>
          <a:xfrm>
            <a:off x="6355896" y="1201592"/>
            <a:ext cx="4881169"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4" name="텍스트 개체 틀 13">
            <a:extLst>
              <a:ext uri="{FF2B5EF4-FFF2-40B4-BE49-F238E27FC236}">
                <a16:creationId xmlns:a16="http://schemas.microsoft.com/office/drawing/2014/main" id="{82A7F5E6-A2DA-43B2-93BA-F23EE42F0919}"/>
              </a:ext>
            </a:extLst>
          </p:cNvPr>
          <p:cNvSpPr>
            <a:spLocks noGrp="1"/>
          </p:cNvSpPr>
          <p:nvPr>
            <p:ph type="body" sz="quarter" idx="12" hasCustomPrompt="1"/>
          </p:nvPr>
        </p:nvSpPr>
        <p:spPr>
          <a:xfrm>
            <a:off x="695325" y="255588"/>
            <a:ext cx="3074988" cy="293687"/>
          </a:xfrm>
        </p:spPr>
        <p:txBody>
          <a:bodyPr>
            <a:noAutofit/>
          </a:bodyPr>
          <a:lstStyle>
            <a:lvl1pPr marL="0" indent="0">
              <a:buNone/>
              <a:defRPr sz="1600"/>
            </a:lvl1pPr>
            <a:lvl2pPr>
              <a:defRPr sz="1600"/>
            </a:lvl2pPr>
            <a:lvl3pPr>
              <a:defRPr sz="1600"/>
            </a:lvl3pPr>
            <a:lvl4pPr>
              <a:defRPr sz="1600"/>
            </a:lvl4pPr>
            <a:lvl5pPr>
              <a:defRPr sz="1600"/>
            </a:lvl5pPr>
          </a:lstStyle>
          <a:p>
            <a:pPr lvl="0"/>
            <a:r>
              <a:rPr lang="ko-KR" altLang="en-US"/>
              <a:t>대주제</a:t>
            </a:r>
            <a:endParaRPr lang="ko-KR" altLang="en-US" dirty="0"/>
          </a:p>
        </p:txBody>
      </p:sp>
      <p:pic>
        <p:nvPicPr>
          <p:cNvPr id="12" name="그림 11">
            <a:extLst>
              <a:ext uri="{FF2B5EF4-FFF2-40B4-BE49-F238E27FC236}">
                <a16:creationId xmlns:a16="http://schemas.microsoft.com/office/drawing/2014/main" id="{406CFF72-6140-437E-BFD3-16D50F0F3CE8}"/>
              </a:ext>
            </a:extLst>
          </p:cNvPr>
          <p:cNvPicPr>
            <a:picLocks noChangeAspect="1"/>
          </p:cNvPicPr>
          <p:nvPr userDrawn="1"/>
        </p:nvPicPr>
        <p:blipFill>
          <a:blip r:embed="rId3"/>
          <a:stretch>
            <a:fillRect/>
          </a:stretch>
        </p:blipFill>
        <p:spPr>
          <a:xfrm>
            <a:off x="0" y="870114"/>
            <a:ext cx="12192000" cy="97536"/>
          </a:xfrm>
          <a:prstGeom prst="rect">
            <a:avLst/>
          </a:prstGeom>
        </p:spPr>
      </p:pic>
    </p:spTree>
    <p:extLst>
      <p:ext uri="{BB962C8B-B14F-4D97-AF65-F5344CB8AC3E}">
        <p14:creationId xmlns:p14="http://schemas.microsoft.com/office/powerpoint/2010/main" val="948690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578DF5-ED43-4CC3-98F9-AF83F5EF72F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ko-KR" altLang="en-US" dirty="0"/>
              <a:t>마스터 제목 스타일 편집</a:t>
            </a:r>
          </a:p>
        </p:txBody>
      </p:sp>
      <p:sp>
        <p:nvSpPr>
          <p:cNvPr id="3" name="텍스트 개체 틀 2">
            <a:extLst>
              <a:ext uri="{FF2B5EF4-FFF2-40B4-BE49-F238E27FC236}">
                <a16:creationId xmlns:a16="http://schemas.microsoft.com/office/drawing/2014/main" id="{77B562E1-0741-4D9D-A00F-B420CB5AB8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277F7174-0E83-45FA-BC54-F2521A4F8199}"/>
              </a:ext>
            </a:extLst>
          </p:cNvPr>
          <p:cNvSpPr>
            <a:spLocks noGrp="1"/>
          </p:cNvSpPr>
          <p:nvPr>
            <p:ph type="dt" sz="half" idx="10"/>
          </p:nvPr>
        </p:nvSpPr>
        <p:spPr>
          <a:xfrm>
            <a:off x="838200" y="6356350"/>
            <a:ext cx="2743200" cy="365125"/>
          </a:xfrm>
          <a:prstGeom prst="rect">
            <a:avLst/>
          </a:prstGeom>
        </p:spPr>
        <p:txBody>
          <a:bodyPr/>
          <a:lstStyle/>
          <a:p>
            <a:fld id="{14090EF4-88BA-4399-968F-8179B5A40A95}" type="datetimeFigureOut">
              <a:rPr lang="ko-KR" altLang="en-US" smtClean="0"/>
              <a:t>2025-03-26</a:t>
            </a:fld>
            <a:endParaRPr lang="ko-KR" altLang="en-US"/>
          </a:p>
        </p:txBody>
      </p:sp>
      <p:sp>
        <p:nvSpPr>
          <p:cNvPr id="5" name="바닥글 개체 틀 4">
            <a:extLst>
              <a:ext uri="{FF2B5EF4-FFF2-40B4-BE49-F238E27FC236}">
                <a16:creationId xmlns:a16="http://schemas.microsoft.com/office/drawing/2014/main" id="{0C402123-C1A6-4AFD-9352-55E3E02DCD81}"/>
              </a:ext>
            </a:extLst>
          </p:cNvPr>
          <p:cNvSpPr>
            <a:spLocks noGrp="1"/>
          </p:cNvSpPr>
          <p:nvPr>
            <p:ph type="ftr" sz="quarter" idx="11"/>
          </p:nvPr>
        </p:nvSpPr>
        <p:spPr>
          <a:xfrm>
            <a:off x="4038600" y="6356350"/>
            <a:ext cx="4114800" cy="365125"/>
          </a:xfrm>
          <a:prstGeom prst="rect">
            <a:avLst/>
          </a:prstGeom>
        </p:spPr>
        <p:txBody>
          <a:bodyPr/>
          <a:lstStyle/>
          <a:p>
            <a:endParaRPr lang="ko-KR" altLang="en-US"/>
          </a:p>
        </p:txBody>
      </p:sp>
      <p:sp>
        <p:nvSpPr>
          <p:cNvPr id="6" name="슬라이드 번호 개체 틀 5">
            <a:extLst>
              <a:ext uri="{FF2B5EF4-FFF2-40B4-BE49-F238E27FC236}">
                <a16:creationId xmlns:a16="http://schemas.microsoft.com/office/drawing/2014/main" id="{C48ACAFA-E6AB-4587-BA0A-D9BDD8816B47}"/>
              </a:ext>
            </a:extLst>
          </p:cNvPr>
          <p:cNvSpPr>
            <a:spLocks noGrp="1"/>
          </p:cNvSpPr>
          <p:nvPr>
            <p:ph type="sldNum" sz="quarter" idx="12"/>
          </p:nvPr>
        </p:nvSpPr>
        <p:spPr>
          <a:xfrm>
            <a:off x="8610600" y="6356350"/>
            <a:ext cx="2743200" cy="365125"/>
          </a:xfrm>
          <a:prstGeom prst="rect">
            <a:avLst/>
          </a:prstGeom>
        </p:spPr>
        <p:txBody>
          <a:bodyPr/>
          <a:lstStyle/>
          <a:p>
            <a:fld id="{A360E38F-9CC1-4096-AD6A-2518F9BBC6D9}" type="slidenum">
              <a:rPr lang="ko-KR" altLang="en-US" smtClean="0"/>
              <a:t>‹#›</a:t>
            </a:fld>
            <a:endParaRPr lang="ko-KR" altLang="en-US" dirty="0"/>
          </a:p>
        </p:txBody>
      </p:sp>
    </p:spTree>
    <p:extLst>
      <p:ext uri="{BB962C8B-B14F-4D97-AF65-F5344CB8AC3E}">
        <p14:creationId xmlns:p14="http://schemas.microsoft.com/office/powerpoint/2010/main" val="2045764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D4314C4C-F2DC-4BD3-9FDD-C484E9AF067B}"/>
              </a:ext>
            </a:extLst>
          </p:cNvPr>
          <p:cNvSpPr/>
          <p:nvPr userDrawn="1"/>
        </p:nvSpPr>
        <p:spPr>
          <a:xfrm>
            <a:off x="1" y="6308725"/>
            <a:ext cx="12192000" cy="549275"/>
          </a:xfrm>
          <a:prstGeom prst="rect">
            <a:avLst/>
          </a:prstGeom>
          <a:solidFill>
            <a:srgbClr val="A40F1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내용 개체 틀 2">
            <a:extLst>
              <a:ext uri="{FF2B5EF4-FFF2-40B4-BE49-F238E27FC236}">
                <a16:creationId xmlns:a16="http://schemas.microsoft.com/office/drawing/2014/main" id="{D88D71DA-5621-4AF7-88D7-8C07841DAC69}"/>
              </a:ext>
            </a:extLst>
          </p:cNvPr>
          <p:cNvSpPr>
            <a:spLocks noGrp="1"/>
          </p:cNvSpPr>
          <p:nvPr>
            <p:ph sz="half" idx="1"/>
          </p:nvPr>
        </p:nvSpPr>
        <p:spPr>
          <a:xfrm>
            <a:off x="695324" y="1168574"/>
            <a:ext cx="5400674" cy="2260426"/>
          </a:xfrm>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내용 개체 틀 3">
            <a:extLst>
              <a:ext uri="{FF2B5EF4-FFF2-40B4-BE49-F238E27FC236}">
                <a16:creationId xmlns:a16="http://schemas.microsoft.com/office/drawing/2014/main" id="{9CFA98CF-C674-4DA8-8F1B-5D9366920B0B}"/>
              </a:ext>
            </a:extLst>
          </p:cNvPr>
          <p:cNvSpPr>
            <a:spLocks noGrp="1"/>
          </p:cNvSpPr>
          <p:nvPr>
            <p:ph sz="half" idx="2"/>
          </p:nvPr>
        </p:nvSpPr>
        <p:spPr>
          <a:xfrm>
            <a:off x="6096000" y="1180204"/>
            <a:ext cx="5400674" cy="224879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8" name="날짜 개체 틀 3">
            <a:extLst>
              <a:ext uri="{FF2B5EF4-FFF2-40B4-BE49-F238E27FC236}">
                <a16:creationId xmlns:a16="http://schemas.microsoft.com/office/drawing/2014/main" id="{DC34D9F5-922C-4438-AB92-EF4A06F60C58}"/>
              </a:ext>
            </a:extLst>
          </p:cNvPr>
          <p:cNvSpPr>
            <a:spLocks noGrp="1"/>
          </p:cNvSpPr>
          <p:nvPr>
            <p:ph type="dt" sz="half" idx="10"/>
          </p:nvPr>
        </p:nvSpPr>
        <p:spPr>
          <a:xfrm>
            <a:off x="695325" y="6308725"/>
            <a:ext cx="2743200" cy="365125"/>
          </a:xfrm>
          <a:prstGeom prst="rect">
            <a:avLst/>
          </a:prstGeom>
        </p:spPr>
        <p:txBody>
          <a:bodyPr/>
          <a:lstStyle>
            <a:lvl1pPr>
              <a:defRPr sz="1200">
                <a:ln>
                  <a:solidFill>
                    <a:schemeClr val="bg1">
                      <a:lumMod val="85000"/>
                    </a:schemeClr>
                  </a:solidFill>
                </a:ln>
                <a:solidFill>
                  <a:schemeClr val="bg1">
                    <a:lumMod val="85000"/>
                  </a:schemeClr>
                </a:solidFill>
                <a:latin typeface="나눔고딕OTF" panose="020D0804000000000000" pitchFamily="34" charset="-127"/>
                <a:ea typeface="나눔고딕OTF" panose="020D0804000000000000" pitchFamily="34" charset="-127"/>
              </a:defRPr>
            </a:lvl1pPr>
          </a:lstStyle>
          <a:p>
            <a:r>
              <a:rPr lang="ko-KR" altLang="en-US"/>
              <a:t>출처</a:t>
            </a:r>
            <a:endParaRPr lang="ko-KR" altLang="en-US" dirty="0"/>
          </a:p>
        </p:txBody>
      </p:sp>
      <p:pic>
        <p:nvPicPr>
          <p:cNvPr id="9" name="그림 8">
            <a:extLst>
              <a:ext uri="{FF2B5EF4-FFF2-40B4-BE49-F238E27FC236}">
                <a16:creationId xmlns:a16="http://schemas.microsoft.com/office/drawing/2014/main" id="{2DB32DF8-CB4E-4CB0-8248-5968CE90AE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1393" t="29194" r="28051" b="27410"/>
          <a:stretch/>
        </p:blipFill>
        <p:spPr>
          <a:xfrm>
            <a:off x="11496675" y="6332002"/>
            <a:ext cx="695324" cy="525997"/>
          </a:xfrm>
          <a:prstGeom prst="rect">
            <a:avLst/>
          </a:prstGeom>
        </p:spPr>
      </p:pic>
      <p:sp>
        <p:nvSpPr>
          <p:cNvPr id="10" name="제목 1">
            <a:extLst>
              <a:ext uri="{FF2B5EF4-FFF2-40B4-BE49-F238E27FC236}">
                <a16:creationId xmlns:a16="http://schemas.microsoft.com/office/drawing/2014/main" id="{148EB227-3E61-4FCD-BB97-1E88E3E689DE}"/>
              </a:ext>
            </a:extLst>
          </p:cNvPr>
          <p:cNvSpPr>
            <a:spLocks noGrp="1"/>
          </p:cNvSpPr>
          <p:nvPr>
            <p:ph type="title" hasCustomPrompt="1"/>
          </p:nvPr>
        </p:nvSpPr>
        <p:spPr>
          <a:xfrm>
            <a:off x="695325" y="549275"/>
            <a:ext cx="5400675" cy="315912"/>
          </a:xfrm>
          <a:prstGeom prst="rect">
            <a:avLst/>
          </a:prstGeom>
        </p:spPr>
        <p:txBody>
          <a:bodyPr/>
          <a:lstStyle>
            <a:lvl1pPr>
              <a:defRPr sz="2000"/>
            </a:lvl1pPr>
          </a:lstStyle>
          <a:p>
            <a:r>
              <a:rPr lang="ko-KR" altLang="en-US" dirty="0"/>
              <a:t>소주제</a:t>
            </a:r>
          </a:p>
        </p:txBody>
      </p:sp>
      <p:sp>
        <p:nvSpPr>
          <p:cNvPr id="13" name="그림 개체 틀 2">
            <a:extLst>
              <a:ext uri="{FF2B5EF4-FFF2-40B4-BE49-F238E27FC236}">
                <a16:creationId xmlns:a16="http://schemas.microsoft.com/office/drawing/2014/main" id="{CEC67168-47EF-4D52-BA25-0F2AF1D0395B}"/>
              </a:ext>
            </a:extLst>
          </p:cNvPr>
          <p:cNvSpPr>
            <a:spLocks noGrp="1"/>
          </p:cNvSpPr>
          <p:nvPr>
            <p:ph type="pic" idx="11"/>
          </p:nvPr>
        </p:nvSpPr>
        <p:spPr>
          <a:xfrm>
            <a:off x="1225874" y="3732387"/>
            <a:ext cx="4271652" cy="226042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4" name="그림 개체 틀 2">
            <a:extLst>
              <a:ext uri="{FF2B5EF4-FFF2-40B4-BE49-F238E27FC236}">
                <a16:creationId xmlns:a16="http://schemas.microsoft.com/office/drawing/2014/main" id="{4FD42C4E-CFE4-4ABC-A2FB-BA035369E1F0}"/>
              </a:ext>
            </a:extLst>
          </p:cNvPr>
          <p:cNvSpPr>
            <a:spLocks noGrp="1"/>
          </p:cNvSpPr>
          <p:nvPr>
            <p:ph type="pic" idx="12"/>
          </p:nvPr>
        </p:nvSpPr>
        <p:spPr>
          <a:xfrm>
            <a:off x="6694475" y="3732387"/>
            <a:ext cx="4271651" cy="226042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cxnSp>
        <p:nvCxnSpPr>
          <p:cNvPr id="16" name="직선 연결선 15">
            <a:extLst>
              <a:ext uri="{FF2B5EF4-FFF2-40B4-BE49-F238E27FC236}">
                <a16:creationId xmlns:a16="http://schemas.microsoft.com/office/drawing/2014/main" id="{678398C6-9E71-4EFE-913B-DA193CBA5FCD}"/>
              </a:ext>
            </a:extLst>
          </p:cNvPr>
          <p:cNvCxnSpPr>
            <a:cxnSpLocks/>
          </p:cNvCxnSpPr>
          <p:nvPr userDrawn="1"/>
        </p:nvCxnSpPr>
        <p:spPr>
          <a:xfrm>
            <a:off x="407142" y="927749"/>
            <a:ext cx="11393290" cy="0"/>
          </a:xfrm>
          <a:prstGeom prst="line">
            <a:avLst/>
          </a:prstGeom>
          <a:ln w="19050">
            <a:gradFill flip="none" rotWithShape="1">
              <a:gsLst>
                <a:gs pos="0">
                  <a:schemeClr val="accent1">
                    <a:lumMod val="5000"/>
                    <a:lumOff val="95000"/>
                    <a:alpha val="0"/>
                  </a:schemeClr>
                </a:gs>
                <a:gs pos="70000">
                  <a:srgbClr val="A40F16">
                    <a:alpha val="80000"/>
                  </a:srgbClr>
                </a:gs>
                <a:gs pos="30000">
                  <a:srgbClr val="A40F16">
                    <a:alpha val="80000"/>
                  </a:srgbClr>
                </a:gs>
                <a:gs pos="15000">
                  <a:srgbClr val="A40F16">
                    <a:alpha val="50000"/>
                  </a:srgbClr>
                </a:gs>
                <a:gs pos="85000">
                  <a:srgbClr val="A40F16">
                    <a:alpha val="50000"/>
                  </a:srgbClr>
                </a:gs>
                <a:gs pos="100000">
                  <a:schemeClr val="bg1">
                    <a:alpha val="0"/>
                  </a:schemeClr>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52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274F32E0-47EA-4D4B-85EB-1921B52033FD}"/>
              </a:ext>
            </a:extLst>
          </p:cNvPr>
          <p:cNvSpPr/>
          <p:nvPr userDrawn="1"/>
        </p:nvSpPr>
        <p:spPr>
          <a:xfrm>
            <a:off x="1" y="6308725"/>
            <a:ext cx="12192000" cy="549275"/>
          </a:xfrm>
          <a:prstGeom prst="rect">
            <a:avLst/>
          </a:prstGeom>
          <a:solidFill>
            <a:srgbClr val="A40F1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텍스트 개체 틀 2">
            <a:extLst>
              <a:ext uri="{FF2B5EF4-FFF2-40B4-BE49-F238E27FC236}">
                <a16:creationId xmlns:a16="http://schemas.microsoft.com/office/drawing/2014/main" id="{E839FBC2-70A8-4DC9-8008-6F58185B4991}"/>
              </a:ext>
            </a:extLst>
          </p:cNvPr>
          <p:cNvSpPr>
            <a:spLocks noGrp="1"/>
          </p:cNvSpPr>
          <p:nvPr>
            <p:ph type="body" idx="1"/>
          </p:nvPr>
        </p:nvSpPr>
        <p:spPr>
          <a:xfrm>
            <a:off x="839788" y="116522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7BE18C63-7C46-4F8C-9CDE-BF9A7C402E5D}"/>
              </a:ext>
            </a:extLst>
          </p:cNvPr>
          <p:cNvSpPr>
            <a:spLocks noGrp="1"/>
          </p:cNvSpPr>
          <p:nvPr>
            <p:ph sz="half" idx="2"/>
          </p:nvPr>
        </p:nvSpPr>
        <p:spPr>
          <a:xfrm>
            <a:off x="839788" y="2166628"/>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67973017-5270-4640-8600-302E5A2A854B}"/>
              </a:ext>
            </a:extLst>
          </p:cNvPr>
          <p:cNvSpPr>
            <a:spLocks noGrp="1"/>
          </p:cNvSpPr>
          <p:nvPr>
            <p:ph type="body" sz="quarter" idx="3"/>
          </p:nvPr>
        </p:nvSpPr>
        <p:spPr>
          <a:xfrm>
            <a:off x="6194427" y="116522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A918966-7291-4A60-BE4A-5459EA6415A9}"/>
              </a:ext>
            </a:extLst>
          </p:cNvPr>
          <p:cNvSpPr>
            <a:spLocks noGrp="1"/>
          </p:cNvSpPr>
          <p:nvPr>
            <p:ph sz="quarter" idx="4"/>
          </p:nvPr>
        </p:nvSpPr>
        <p:spPr>
          <a:xfrm>
            <a:off x="6194427" y="2166628"/>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10" name="날짜 개체 틀 3">
            <a:extLst>
              <a:ext uri="{FF2B5EF4-FFF2-40B4-BE49-F238E27FC236}">
                <a16:creationId xmlns:a16="http://schemas.microsoft.com/office/drawing/2014/main" id="{E7A81D3A-B870-4AE9-8891-947B1322CF7F}"/>
              </a:ext>
            </a:extLst>
          </p:cNvPr>
          <p:cNvSpPr>
            <a:spLocks noGrp="1"/>
          </p:cNvSpPr>
          <p:nvPr>
            <p:ph type="dt" sz="half" idx="10"/>
          </p:nvPr>
        </p:nvSpPr>
        <p:spPr>
          <a:xfrm>
            <a:off x="695325" y="6308725"/>
            <a:ext cx="2743200" cy="365125"/>
          </a:xfrm>
          <a:prstGeom prst="rect">
            <a:avLst/>
          </a:prstGeom>
        </p:spPr>
        <p:txBody>
          <a:bodyPr/>
          <a:lstStyle>
            <a:lvl1pPr>
              <a:defRPr sz="1200">
                <a:ln>
                  <a:solidFill>
                    <a:schemeClr val="bg1">
                      <a:lumMod val="85000"/>
                    </a:schemeClr>
                  </a:solidFill>
                </a:ln>
                <a:solidFill>
                  <a:schemeClr val="bg1">
                    <a:lumMod val="85000"/>
                  </a:schemeClr>
                </a:solidFill>
                <a:latin typeface="나눔고딕OTF" panose="020D0804000000000000" pitchFamily="34" charset="-127"/>
                <a:ea typeface="나눔고딕OTF" panose="020D0804000000000000" pitchFamily="34" charset="-127"/>
              </a:defRPr>
            </a:lvl1pPr>
          </a:lstStyle>
          <a:p>
            <a:r>
              <a:rPr lang="ko-KR" altLang="en-US"/>
              <a:t>출처</a:t>
            </a:r>
            <a:endParaRPr lang="ko-KR" altLang="en-US" dirty="0"/>
          </a:p>
        </p:txBody>
      </p:sp>
      <p:pic>
        <p:nvPicPr>
          <p:cNvPr id="11" name="그림 10">
            <a:extLst>
              <a:ext uri="{FF2B5EF4-FFF2-40B4-BE49-F238E27FC236}">
                <a16:creationId xmlns:a16="http://schemas.microsoft.com/office/drawing/2014/main" id="{BE2E8261-B46F-4C99-AC5B-A5F82616F0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1393" t="29194" r="28051" b="27410"/>
          <a:stretch/>
        </p:blipFill>
        <p:spPr>
          <a:xfrm>
            <a:off x="11496675" y="6332002"/>
            <a:ext cx="695324" cy="525997"/>
          </a:xfrm>
          <a:prstGeom prst="rect">
            <a:avLst/>
          </a:prstGeom>
        </p:spPr>
      </p:pic>
      <p:sp>
        <p:nvSpPr>
          <p:cNvPr id="12" name="제목 1">
            <a:extLst>
              <a:ext uri="{FF2B5EF4-FFF2-40B4-BE49-F238E27FC236}">
                <a16:creationId xmlns:a16="http://schemas.microsoft.com/office/drawing/2014/main" id="{965290CB-777B-4CB6-83E0-35CA37F110B7}"/>
              </a:ext>
            </a:extLst>
          </p:cNvPr>
          <p:cNvSpPr>
            <a:spLocks noGrp="1"/>
          </p:cNvSpPr>
          <p:nvPr>
            <p:ph type="title" hasCustomPrompt="1"/>
          </p:nvPr>
        </p:nvSpPr>
        <p:spPr>
          <a:xfrm>
            <a:off x="695325" y="549275"/>
            <a:ext cx="5400675" cy="315912"/>
          </a:xfrm>
          <a:prstGeom prst="rect">
            <a:avLst/>
          </a:prstGeom>
        </p:spPr>
        <p:txBody>
          <a:bodyPr/>
          <a:lstStyle>
            <a:lvl1pPr>
              <a:defRPr sz="2000"/>
            </a:lvl1pPr>
          </a:lstStyle>
          <a:p>
            <a:r>
              <a:rPr lang="ko-KR" altLang="en-US" dirty="0"/>
              <a:t>소주제</a:t>
            </a:r>
          </a:p>
        </p:txBody>
      </p:sp>
      <p:cxnSp>
        <p:nvCxnSpPr>
          <p:cNvPr id="16" name="직선 연결선 15">
            <a:extLst>
              <a:ext uri="{FF2B5EF4-FFF2-40B4-BE49-F238E27FC236}">
                <a16:creationId xmlns:a16="http://schemas.microsoft.com/office/drawing/2014/main" id="{AB72EC05-350F-4DBD-A12F-A0A39C43843E}"/>
              </a:ext>
            </a:extLst>
          </p:cNvPr>
          <p:cNvCxnSpPr>
            <a:cxnSpLocks/>
          </p:cNvCxnSpPr>
          <p:nvPr userDrawn="1"/>
        </p:nvCxnSpPr>
        <p:spPr>
          <a:xfrm>
            <a:off x="407142" y="927749"/>
            <a:ext cx="11393290" cy="0"/>
          </a:xfrm>
          <a:prstGeom prst="line">
            <a:avLst/>
          </a:prstGeom>
          <a:ln w="19050">
            <a:gradFill flip="none" rotWithShape="1">
              <a:gsLst>
                <a:gs pos="0">
                  <a:schemeClr val="accent1">
                    <a:lumMod val="5000"/>
                    <a:lumOff val="95000"/>
                    <a:alpha val="0"/>
                  </a:schemeClr>
                </a:gs>
                <a:gs pos="70000">
                  <a:srgbClr val="A40F16">
                    <a:alpha val="80000"/>
                  </a:srgbClr>
                </a:gs>
                <a:gs pos="30000">
                  <a:srgbClr val="A40F16">
                    <a:alpha val="80000"/>
                  </a:srgbClr>
                </a:gs>
                <a:gs pos="15000">
                  <a:srgbClr val="A40F16">
                    <a:alpha val="50000"/>
                  </a:srgbClr>
                </a:gs>
                <a:gs pos="85000">
                  <a:srgbClr val="A40F16">
                    <a:alpha val="50000"/>
                  </a:srgbClr>
                </a:gs>
                <a:gs pos="100000">
                  <a:schemeClr val="bg1">
                    <a:alpha val="0"/>
                  </a:schemeClr>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64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B9D3429-D056-40BC-9A06-65BC66CEA7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A6130EA-E526-4051-ADD9-0E707020C1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Tree>
    <p:extLst>
      <p:ext uri="{BB962C8B-B14F-4D97-AF65-F5344CB8AC3E}">
        <p14:creationId xmlns:p14="http://schemas.microsoft.com/office/powerpoint/2010/main" val="1023436097"/>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8" r:id="rId3"/>
    <p:sldLayoutId id="2147483650" r:id="rId4"/>
    <p:sldLayoutId id="2147483651" r:id="rId5"/>
    <p:sldLayoutId id="2147483652" r:id="rId6"/>
    <p:sldLayoutId id="2147483653" r:id="rId7"/>
  </p:sldLayoutIdLst>
  <p:txStyles>
    <p:titleStyle>
      <a:lvl1pPr algn="l" defTabSz="914400" rtl="0" eaLnBrk="1" latinLnBrk="1" hangingPunct="1">
        <a:lnSpc>
          <a:spcPct val="90000"/>
        </a:lnSpc>
        <a:spcBef>
          <a:spcPct val="0"/>
        </a:spcBef>
        <a:spcAft>
          <a:spcPts val="500"/>
        </a:spcAft>
        <a:buNone/>
        <a:defRPr sz="1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j-cs"/>
        </a:defRPr>
      </a:lvl1pPr>
    </p:titleStyle>
    <p:body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20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8" userDrawn="1">
          <p15:clr>
            <a:srgbClr val="F26B43"/>
          </p15:clr>
        </p15:guide>
        <p15:guide id="4" pos="7242" userDrawn="1">
          <p15:clr>
            <a:srgbClr val="F26B43"/>
          </p15:clr>
        </p15:guide>
        <p15:guide id="7" orient="horz" pos="346" userDrawn="1">
          <p15:clr>
            <a:srgbClr val="F26B43"/>
          </p15:clr>
        </p15:guide>
        <p15:guide id="8" orient="horz" pos="3974" userDrawn="1">
          <p15:clr>
            <a:srgbClr val="F26B43"/>
          </p15:clr>
        </p15:guide>
        <p15:guide id="9" orient="horz" pos="1253" userDrawn="1">
          <p15:clr>
            <a:srgbClr val="F26B43"/>
          </p15:clr>
        </p15:guide>
        <p15:guide id="10" orient="horz" pos="30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https://www.youtube.com/embed/BSXOcCnFNvQ?feature=oembed" TargetMode="External"/><Relationship Id="rId1" Type="http://schemas.openxmlformats.org/officeDocument/2006/relationships/video" Target="https://www.youtube.com/embed/riPIvBNCiA4?feature=oembed" TargetMode="Externa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4.xml"/><Relationship Id="rId1" Type="http://schemas.openxmlformats.org/officeDocument/2006/relationships/video" Target="https://www.youtube.com/embed/A0lJUzcKDsY?start=1&amp;feature=oembed" TargetMode="Externa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4.xml"/><Relationship Id="rId1" Type="http://schemas.openxmlformats.org/officeDocument/2006/relationships/video" Target="https://www.youtube.com/embed/pem2U1bWCH8?start=33&amp;feature=oembed" TargetMode="Externa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4.xml"/><Relationship Id="rId1" Type="http://schemas.openxmlformats.org/officeDocument/2006/relationships/video" Target="https://www.youtube.com/embed/8H926LtVMWc?feature=oembed" TargetMode="Externa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4C461CBA-5F63-4D6A-814A-58EBEC68A7A7}"/>
              </a:ext>
            </a:extLst>
          </p:cNvPr>
          <p:cNvSpPr>
            <a:spLocks noGrp="1"/>
          </p:cNvSpPr>
          <p:nvPr>
            <p:ph type="ctrTitle"/>
          </p:nvPr>
        </p:nvSpPr>
        <p:spPr>
          <a:xfrm>
            <a:off x="695325" y="1484415"/>
            <a:ext cx="7915275" cy="460535"/>
          </a:xfrm>
        </p:spPr>
        <p:txBody>
          <a:bodyPr>
            <a:normAutofit fontScale="90000"/>
          </a:bodyPr>
          <a:lstStyle/>
          <a:p>
            <a:r>
              <a:rPr lang="en-US" altLang="ko-KR" sz="3600" dirty="0"/>
              <a:t>Overview</a:t>
            </a:r>
            <a:r>
              <a:rPr lang="ko-KR" altLang="en-US" sz="3600" dirty="0"/>
              <a:t> </a:t>
            </a:r>
            <a:r>
              <a:rPr lang="en-US" altLang="ko-KR" sz="3600" dirty="0"/>
              <a:t>of</a:t>
            </a:r>
            <a:r>
              <a:rPr lang="ko-KR" altLang="en-US" sz="3600" dirty="0"/>
              <a:t> </a:t>
            </a:r>
            <a:r>
              <a:rPr lang="en-US" altLang="ko-KR" sz="3600" dirty="0"/>
              <a:t>Metamaterials</a:t>
            </a:r>
            <a:endParaRPr lang="ko-KR" altLang="en-US" sz="3600" dirty="0"/>
          </a:p>
        </p:txBody>
      </p:sp>
      <p:sp>
        <p:nvSpPr>
          <p:cNvPr id="5" name="부제목 4">
            <a:extLst>
              <a:ext uri="{FF2B5EF4-FFF2-40B4-BE49-F238E27FC236}">
                <a16:creationId xmlns:a16="http://schemas.microsoft.com/office/drawing/2014/main" id="{1529A4B1-E71E-4360-A28A-8BF77CC61CC3}"/>
              </a:ext>
            </a:extLst>
          </p:cNvPr>
          <p:cNvSpPr>
            <a:spLocks noGrp="1"/>
          </p:cNvSpPr>
          <p:nvPr>
            <p:ph type="subTitle" idx="1"/>
          </p:nvPr>
        </p:nvSpPr>
        <p:spPr>
          <a:xfrm>
            <a:off x="695615" y="4527551"/>
            <a:ext cx="3903373" cy="341312"/>
          </a:xfrm>
        </p:spPr>
        <p:txBody>
          <a:bodyPr/>
          <a:lstStyle/>
          <a:p>
            <a:r>
              <a:rPr lang="en-US" altLang="ko-KR" sz="2400" dirty="0" err="1"/>
              <a:t>KyungHee</a:t>
            </a:r>
            <a:r>
              <a:rPr lang="ko-KR" altLang="en-US" sz="2400" dirty="0"/>
              <a:t> </a:t>
            </a:r>
            <a:r>
              <a:rPr lang="en-US" altLang="ko-KR" sz="2400" dirty="0"/>
              <a:t>University</a:t>
            </a:r>
            <a:endParaRPr lang="ko-KR" altLang="en-US" sz="2400" dirty="0"/>
          </a:p>
        </p:txBody>
      </p:sp>
      <p:sp>
        <p:nvSpPr>
          <p:cNvPr id="7" name="텍스트 개체 틀 6">
            <a:extLst>
              <a:ext uri="{FF2B5EF4-FFF2-40B4-BE49-F238E27FC236}">
                <a16:creationId xmlns:a16="http://schemas.microsoft.com/office/drawing/2014/main" id="{E0263D1C-A9A6-4517-B4B0-BCA126EFAB55}"/>
              </a:ext>
            </a:extLst>
          </p:cNvPr>
          <p:cNvSpPr>
            <a:spLocks noGrp="1"/>
          </p:cNvSpPr>
          <p:nvPr>
            <p:ph type="body" sz="quarter" idx="11"/>
          </p:nvPr>
        </p:nvSpPr>
        <p:spPr/>
        <p:txBody>
          <a:bodyPr/>
          <a:lstStyle/>
          <a:p>
            <a:r>
              <a:rPr lang="ko-KR" altLang="en-US" sz="2000" dirty="0"/>
              <a:t>이진영</a:t>
            </a:r>
          </a:p>
        </p:txBody>
      </p:sp>
    </p:spTree>
    <p:extLst>
      <p:ext uri="{BB962C8B-B14F-4D97-AF65-F5344CB8AC3E}">
        <p14:creationId xmlns:p14="http://schemas.microsoft.com/office/powerpoint/2010/main" val="38015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a:xfrm>
            <a:off x="4332802" y="2624549"/>
            <a:ext cx="3526395" cy="1608902"/>
          </a:xfrm>
        </p:spPr>
        <p:txBody>
          <a:bodyPr anchor="ctr">
            <a:normAutofit/>
          </a:bodyPr>
          <a:lstStyle/>
          <a:p>
            <a:pPr algn="ctr"/>
            <a:r>
              <a:rPr lang="en-US" altLang="ko-KR" sz="4400" dirty="0"/>
              <a:t>Introduction</a:t>
            </a:r>
            <a:endParaRPr lang="ko-KR" altLang="en-US" sz="4400" dirty="0"/>
          </a:p>
        </p:txBody>
      </p:sp>
    </p:spTree>
    <p:extLst>
      <p:ext uri="{BB962C8B-B14F-4D97-AF65-F5344CB8AC3E}">
        <p14:creationId xmlns:p14="http://schemas.microsoft.com/office/powerpoint/2010/main" val="401390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What are Metamaterials?</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5325" y="1158874"/>
            <a:ext cx="10801350" cy="2023713"/>
          </a:xfrm>
        </p:spPr>
        <p:txBody>
          <a:bodyPr>
            <a:normAutofit/>
          </a:body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Definition</a:t>
            </a:r>
            <a:r>
              <a:rPr lang="ko-KR" altLang="en-US" sz="1400" dirty="0">
                <a:solidFill>
                  <a:schemeClr val="tx1"/>
                </a:solidFill>
                <a:latin typeface="Noto Sans KR" panose="020B0200000000000000" pitchFamily="50" charset="-127"/>
                <a:ea typeface="Noto Sans KR" panose="020B0200000000000000" pitchFamily="50" charset="-127"/>
              </a:rPr>
              <a:t> </a:t>
            </a:r>
            <a:r>
              <a:rPr lang="en-US" altLang="ko-KR" sz="1400" dirty="0">
                <a:solidFill>
                  <a:schemeClr val="tx1"/>
                </a:solidFill>
                <a:latin typeface="Noto Sans KR" panose="020B0200000000000000" pitchFamily="50" charset="-127"/>
                <a:ea typeface="Noto Sans KR" panose="020B0200000000000000" pitchFamily="50" charset="-127"/>
              </a:rPr>
              <a:t>of Metamaterials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Metamaterials are artificially created materials that emerge from designing “meta-atoms”, artificial structures not directly observed in nature, to realize unprecedented physical properties.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Originating in electromagnetic fields such as optics, the term garnered significant attention through applications like negative refractive index and stealth technology.</a:t>
            </a:r>
          </a:p>
          <a:p>
            <a:pPr marL="457200" lvl="1" indent="0">
              <a:lnSpc>
                <a:spcPct val="120000"/>
              </a:lnSpc>
              <a:buNone/>
            </a:pPr>
            <a:br>
              <a:rPr lang="en-US" altLang="ko-KR" sz="800" dirty="0">
                <a:solidFill>
                  <a:schemeClr val="tx1"/>
                </a:solidFill>
                <a:latin typeface="Noto Sans KR" panose="020B0200000000000000" pitchFamily="50" charset="-127"/>
                <a:ea typeface="Noto Sans KR" panose="020B0200000000000000" pitchFamily="50" charset="-127"/>
              </a:rPr>
            </a:b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p:txBody>
          <a:bodyPr/>
          <a:lstStyle/>
          <a:p>
            <a:r>
              <a:rPr lang="en-US" altLang="ko-KR" sz="1400" dirty="0"/>
              <a:t>1. Introduction</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215444"/>
          </a:xfrm>
          <a:prstGeom prst="rect">
            <a:avLst/>
          </a:prstGeom>
          <a:noFill/>
        </p:spPr>
        <p:txBody>
          <a:bodyPr wrap="square" rtlCol="0">
            <a:spAutoFit/>
          </a:bodyPr>
          <a:lstStyle/>
          <a:p>
            <a:r>
              <a:rPr lang="en-US" altLang="ko-KR" sz="800" dirty="0"/>
              <a:t>1) </a:t>
            </a:r>
            <a:r>
              <a:rPr lang="en-US" altLang="ko-KR" sz="800" dirty="0" err="1"/>
              <a:t>murata</a:t>
            </a:r>
            <a:r>
              <a:rPr lang="en-US" altLang="ko-KR" sz="800" dirty="0"/>
              <a:t>. What Are Metamaterials That Expand Possibilities with Behavior Not Found in Substances in the Natural World?. articles. 2024,08,07. https://article.murata.com/en-global/article/what-is-a-metamaterial.</a:t>
            </a:r>
            <a:endParaRPr lang="ko-KR" altLang="en-US" sz="800" dirty="0"/>
          </a:p>
        </p:txBody>
      </p:sp>
      <p:sp>
        <p:nvSpPr>
          <p:cNvPr id="12" name="내용 개체 틀 7">
            <a:extLst>
              <a:ext uri="{FF2B5EF4-FFF2-40B4-BE49-F238E27FC236}">
                <a16:creationId xmlns:a16="http://schemas.microsoft.com/office/drawing/2014/main" id="{1D45D238-D96D-4B26-A8AC-88CC24CAD838}"/>
              </a:ext>
            </a:extLst>
          </p:cNvPr>
          <p:cNvSpPr txBox="1">
            <a:spLocks/>
          </p:cNvSpPr>
          <p:nvPr/>
        </p:nvSpPr>
        <p:spPr>
          <a:xfrm>
            <a:off x="695325" y="3429000"/>
            <a:ext cx="10562483" cy="2547906"/>
          </a:xfrm>
          <a:prstGeom prst="rect">
            <a:avLst/>
          </a:prstGeom>
        </p:spPr>
        <p:txBody>
          <a:bodyPr vert="horz" lIns="91440" tIns="45720" rIns="91440" bIns="45720" rtlCol="0">
            <a:normAutofit lnSpcReduction="10000"/>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Introduction of Mechanical Metamaterials: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concept of metamaterials has been extended into mechanical domains.</a:t>
            </a:r>
            <a:r>
              <a:rPr lang="ko-KR" altLang="en-US" sz="1100" dirty="0">
                <a:solidFill>
                  <a:schemeClr val="tx1"/>
                </a:solidFill>
                <a:latin typeface="Noto Sans KR" panose="020B0200000000000000" pitchFamily="50" charset="-127"/>
                <a:ea typeface="Noto Sans KR" panose="020B0200000000000000" pitchFamily="50" charset="-127"/>
              </a:rPr>
              <a:t> </a:t>
            </a:r>
            <a:endParaRPr lang="en-US" altLang="ko-KR" sz="11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In materials engineering and applied mechanics, there have long been efforts to design materials by combining different substances or using porous honeycomb and foam structures.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However, advancements in technology now make it possible to precisely fabricate three-dimensional structures on the micrometer scale, enabling the direct realization of structures with desired physical properties.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Mechanical metamaterials derive their properties from the geometric arrangement of unit cells, allowing for characteristics rarely seen in natural materials such as “lightweight yet rigid structures,” “increased volume upon compression,” and “selective attenuation or transmission of stress in specific directions or regions.”</a:t>
            </a:r>
            <a:br>
              <a:rPr lang="en-US" altLang="ko-KR" sz="1050" dirty="0">
                <a:solidFill>
                  <a:schemeClr val="tx1"/>
                </a:solidFill>
                <a:latin typeface="Noto Sans KR" panose="020B0200000000000000" pitchFamily="50" charset="-127"/>
                <a:ea typeface="Noto Sans KR" panose="020B0200000000000000" pitchFamily="50" charset="-127"/>
              </a:rPr>
            </a:br>
            <a:endParaRPr lang="en-US" altLang="ko-KR" sz="1050" dirty="0">
              <a:solidFill>
                <a:schemeClr val="tx1"/>
              </a:solidFill>
              <a:latin typeface="Noto Sans KR" panose="020B0200000000000000" pitchFamily="50" charset="-127"/>
              <a:ea typeface="Noto Sans KR" panose="020B0200000000000000" pitchFamily="50" charset="-127"/>
            </a:endParaRPr>
          </a:p>
        </p:txBody>
      </p:sp>
      <p:pic>
        <p:nvPicPr>
          <p:cNvPr id="13" name="Picture 2" descr="What Are Metamaterials That Expand Possibilities with Behavior Not Found in  Substances in the Natural World? | Murata Manufacturing Articles">
            <a:extLst>
              <a:ext uri="{FF2B5EF4-FFF2-40B4-BE49-F238E27FC236}">
                <a16:creationId xmlns:a16="http://schemas.microsoft.com/office/drawing/2014/main" id="{993FC2CD-6396-4D5B-8C23-EBF95BD77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3242" y="2460462"/>
            <a:ext cx="2166374" cy="1444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288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What are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p:txBody>
          <a:bodyPr/>
          <a:lstStyle/>
          <a:p>
            <a:r>
              <a:rPr lang="en-US" altLang="ko-KR" sz="1400" dirty="0"/>
              <a:t>1. Introduction</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338554"/>
          </a:xfrm>
          <a:prstGeom prst="rect">
            <a:avLst/>
          </a:prstGeom>
          <a:noFill/>
        </p:spPr>
        <p:txBody>
          <a:bodyPr wrap="square" rtlCol="0">
            <a:spAutoFit/>
          </a:bodyPr>
          <a:lstStyle/>
          <a:p>
            <a:pPr marL="228600" indent="-228600">
              <a:buAutoNum type="arabicParenR"/>
            </a:pPr>
            <a:r>
              <a:rPr lang="en-US" altLang="ko-KR" sz="800" dirty="0"/>
              <a:t>YTN. (2022,06,08). </a:t>
            </a:r>
            <a:r>
              <a:rPr lang="ko-KR" altLang="en-US" sz="800" dirty="0"/>
              <a:t>투명</a:t>
            </a:r>
            <a:r>
              <a:rPr lang="en-US" altLang="ko-KR" sz="800" dirty="0"/>
              <a:t> </a:t>
            </a:r>
            <a:r>
              <a:rPr lang="ko-KR" altLang="en-US" sz="800" dirty="0"/>
              <a:t>망토를 실현시킬 새로운 물질의 원리</a:t>
            </a:r>
            <a:r>
              <a:rPr lang="en-US" altLang="ko-KR" sz="800" dirty="0"/>
              <a:t>. YouTube. https://www.youtube.com/shorts/riPIvBNCiA4</a:t>
            </a:r>
          </a:p>
          <a:p>
            <a:pPr marL="228600" indent="-228600">
              <a:buAutoNum type="arabicParenR"/>
            </a:pPr>
            <a:r>
              <a:rPr lang="en-US" altLang="ko-KR" sz="800" dirty="0"/>
              <a:t>YTN. (2019,05,13). </a:t>
            </a:r>
            <a:r>
              <a:rPr lang="ko-KR" altLang="en-US" sz="800" dirty="0"/>
              <a:t>압력</a:t>
            </a:r>
            <a:r>
              <a:rPr lang="en-US" altLang="ko-KR" sz="800" dirty="0"/>
              <a:t> </a:t>
            </a:r>
            <a:r>
              <a:rPr lang="ko-KR" altLang="en-US" sz="800" dirty="0"/>
              <a:t>가하면 특이하게 수축하는 </a:t>
            </a:r>
            <a:r>
              <a:rPr lang="en-US" altLang="ko-KR" sz="800" dirty="0"/>
              <a:t>‘</a:t>
            </a:r>
            <a:r>
              <a:rPr lang="ko-KR" altLang="en-US" sz="800" dirty="0"/>
              <a:t>메타물질</a:t>
            </a:r>
            <a:r>
              <a:rPr lang="en-US" altLang="ko-KR" sz="800" dirty="0"/>
              <a:t>＇</a:t>
            </a:r>
            <a:r>
              <a:rPr lang="ko-KR" altLang="en-US" sz="800" dirty="0"/>
              <a:t>개발 </a:t>
            </a:r>
            <a:r>
              <a:rPr lang="en-US" altLang="ko-KR" sz="800" dirty="0"/>
              <a:t>/ YTN</a:t>
            </a:r>
            <a:r>
              <a:rPr lang="ko-KR" altLang="en-US" sz="800" dirty="0"/>
              <a:t> 사이언스</a:t>
            </a:r>
            <a:r>
              <a:rPr lang="en-US" altLang="ko-KR" sz="800" dirty="0"/>
              <a:t>. YouTube. https://www.youtube.com/watch?v=BSXOcCnFNvQ</a:t>
            </a:r>
            <a:endParaRPr lang="ko-KR" altLang="en-US" sz="800" dirty="0"/>
          </a:p>
        </p:txBody>
      </p:sp>
      <p:pic>
        <p:nvPicPr>
          <p:cNvPr id="9" name="온라인 미디어 8" title="투명 망토를 실현시킬 새로운 물질의 원리 #shorts">
            <a:hlinkClick r:id="" action="ppaction://media"/>
            <a:extLst>
              <a:ext uri="{FF2B5EF4-FFF2-40B4-BE49-F238E27FC236}">
                <a16:creationId xmlns:a16="http://schemas.microsoft.com/office/drawing/2014/main" id="{EB906138-742A-4B7B-8183-5489E03A7D44}"/>
              </a:ext>
            </a:extLst>
          </p:cNvPr>
          <p:cNvPicPr>
            <a:picLocks noRot="1" noChangeAspect="1"/>
          </p:cNvPicPr>
          <p:nvPr>
            <a:videoFile r:link="rId1"/>
          </p:nvPr>
        </p:nvPicPr>
        <p:blipFill>
          <a:blip r:embed="rId4"/>
          <a:stretch>
            <a:fillRect/>
          </a:stretch>
        </p:blipFill>
        <p:spPr>
          <a:xfrm>
            <a:off x="1715245" y="1115265"/>
            <a:ext cx="2755815" cy="4877548"/>
          </a:xfrm>
          <a:prstGeom prst="rect">
            <a:avLst/>
          </a:prstGeom>
        </p:spPr>
      </p:pic>
      <p:pic>
        <p:nvPicPr>
          <p:cNvPr id="11" name="온라인 미디어 2" title="압력 가하면 특이하게 수축하는 '메타물질' 개발 / YTN 사이언스">
            <a:hlinkClick r:id="" action="ppaction://media"/>
            <a:extLst>
              <a:ext uri="{FF2B5EF4-FFF2-40B4-BE49-F238E27FC236}">
                <a16:creationId xmlns:a16="http://schemas.microsoft.com/office/drawing/2014/main" id="{06604A05-5B95-46B9-A858-47DEF3D4F1BC}"/>
              </a:ext>
            </a:extLst>
          </p:cNvPr>
          <p:cNvPicPr>
            <a:picLocks noRot="1" noChangeAspect="1"/>
          </p:cNvPicPr>
          <p:nvPr>
            <a:videoFile r:link="rId2"/>
          </p:nvPr>
        </p:nvPicPr>
        <p:blipFill>
          <a:blip r:embed="rId5"/>
          <a:stretch>
            <a:fillRect/>
          </a:stretch>
        </p:blipFill>
        <p:spPr>
          <a:xfrm>
            <a:off x="6293955" y="1989138"/>
            <a:ext cx="5097200" cy="2879725"/>
          </a:xfrm>
          <a:prstGeom prst="rect">
            <a:avLst/>
          </a:prstGeom>
        </p:spPr>
      </p:pic>
    </p:spTree>
    <p:extLst>
      <p:ext uri="{BB962C8B-B14F-4D97-AF65-F5344CB8AC3E}">
        <p14:creationId xmlns:p14="http://schemas.microsoft.com/office/powerpoint/2010/main" val="141044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9"/>
                                        </p:tgtEl>
                                      </p:cBhvr>
                                    </p:cmd>
                                  </p:childTnLst>
                                </p:cTn>
                              </p:par>
                            </p:childTnLst>
                          </p:cTn>
                        </p:par>
                      </p:childTnLst>
                    </p:cTn>
                  </p:par>
                </p:childTnLst>
              </p:cTn>
              <p:nextCondLst>
                <p:cond evt="onClick" delay="0">
                  <p:tgtEl>
                    <p:spTgt spid="9"/>
                  </p:tgtEl>
                </p:cond>
              </p:nextCondLst>
            </p:seq>
            <p:video>
              <p:cMediaNode vol="80000">
                <p:cTn id="16" fill="hold" display="0">
                  <p:stCondLst>
                    <p:cond delay="indefinite"/>
                  </p:stCondLst>
                </p:cTn>
                <p:tgtEl>
                  <p:spTgt spid="9"/>
                </p:tgtEl>
              </p:cMediaNode>
            </p:video>
            <p:seq concurrent="1" nextAc="seek">
              <p:cTn id="17" restart="whenNotActive" fill="hold" evtFilter="cancelBubble" nodeType="interactiveSeq">
                <p:stCondLst>
                  <p:cond evt="onClick" delay="0">
                    <p:tgtEl>
                      <p:spTgt spid="11"/>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1"/>
                                        </p:tgtEl>
                                      </p:cBhvr>
                                    </p:cmd>
                                  </p:childTnLst>
                                </p:cTn>
                              </p:par>
                            </p:childTnLst>
                          </p:cTn>
                        </p:par>
                      </p:childTnLst>
                    </p:cTn>
                  </p:par>
                </p:childTnLst>
              </p:cTn>
              <p:nextCondLst>
                <p:cond evt="onClick" delay="0">
                  <p:tgtEl>
                    <p:spTgt spid="11"/>
                  </p:tgtEl>
                </p:cond>
              </p:nextCondLst>
            </p:seq>
            <p:video>
              <p:cMediaNode vol="80000">
                <p:cTn id="22" fill="hold" display="0">
                  <p:stCondLst>
                    <p:cond delay="indefinite"/>
                  </p:stCondLst>
                </p:cTn>
                <p:tgtEl>
                  <p:spTgt spid="11"/>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Research Keywords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p:txBody>
          <a:bodyPr/>
          <a:lstStyle/>
          <a:p>
            <a:r>
              <a:rPr lang="en-US" altLang="ko-KR" sz="1400" dirty="0"/>
              <a:t>1. Introduction</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215444"/>
          </a:xfrm>
          <a:prstGeom prst="rect">
            <a:avLst/>
          </a:prstGeom>
          <a:noFill/>
        </p:spPr>
        <p:txBody>
          <a:bodyPr wrap="square" rtlCol="0">
            <a:spAutoFit/>
          </a:bodyPr>
          <a:lstStyle/>
          <a:p>
            <a:r>
              <a:rPr lang="en-US" altLang="ko-KR" sz="800" dirty="0"/>
              <a:t>1) </a:t>
            </a:r>
            <a:r>
              <a:rPr lang="en-US" altLang="ko-KR" sz="800" b="0" i="0" dirty="0">
                <a:solidFill>
                  <a:srgbClr val="222222"/>
                </a:solidFill>
                <a:effectLst/>
                <a:latin typeface="-apple-system"/>
              </a:rPr>
              <a:t>Jiao, P., Mueller, J., Raney, J.R. </a:t>
            </a:r>
            <a:r>
              <a:rPr lang="en-US" altLang="ko-KR" sz="800" b="0" i="1" dirty="0">
                <a:solidFill>
                  <a:srgbClr val="222222"/>
                </a:solidFill>
                <a:effectLst/>
                <a:latin typeface="-apple-system"/>
              </a:rPr>
              <a:t>et al.</a:t>
            </a:r>
            <a:r>
              <a:rPr lang="en-US" altLang="ko-KR" sz="800" b="0" i="0" dirty="0">
                <a:solidFill>
                  <a:srgbClr val="222222"/>
                </a:solidFill>
                <a:effectLst/>
                <a:latin typeface="-apple-system"/>
              </a:rPr>
              <a:t> Mechanical metamaterials and </a:t>
            </a:r>
            <a:r>
              <a:rPr lang="en-US" altLang="ko-KR" sz="800" b="0" i="1" dirty="0">
                <a:solidFill>
                  <a:srgbClr val="222222"/>
                </a:solidFill>
                <a:effectLst/>
                <a:latin typeface="-apple-system"/>
              </a:rPr>
              <a:t>beyond</a:t>
            </a:r>
            <a:r>
              <a:rPr lang="en-US" altLang="ko-KR" sz="800" b="0" i="0" dirty="0">
                <a:solidFill>
                  <a:srgbClr val="222222"/>
                </a:solidFill>
                <a:effectLst/>
                <a:latin typeface="-apple-system"/>
              </a:rPr>
              <a:t>. </a:t>
            </a:r>
            <a:r>
              <a:rPr lang="en-US" altLang="ko-KR" sz="800" b="0" i="1" dirty="0">
                <a:solidFill>
                  <a:srgbClr val="222222"/>
                </a:solidFill>
                <a:effectLst/>
                <a:latin typeface="-apple-system"/>
              </a:rPr>
              <a:t>Nat </a:t>
            </a:r>
            <a:r>
              <a:rPr lang="en-US" altLang="ko-KR" sz="800" b="0" i="1" dirty="0" err="1">
                <a:solidFill>
                  <a:srgbClr val="222222"/>
                </a:solidFill>
                <a:effectLst/>
                <a:latin typeface="-apple-system"/>
              </a:rPr>
              <a:t>Commun</a:t>
            </a:r>
            <a:r>
              <a:rPr lang="en-US" altLang="ko-KR" sz="800" b="0" i="0" dirty="0">
                <a:solidFill>
                  <a:srgbClr val="222222"/>
                </a:solidFill>
                <a:effectLst/>
                <a:latin typeface="-apple-system"/>
              </a:rPr>
              <a:t> </a:t>
            </a:r>
            <a:r>
              <a:rPr lang="en-US" altLang="ko-KR" sz="800" b="1" i="0" dirty="0">
                <a:solidFill>
                  <a:srgbClr val="222222"/>
                </a:solidFill>
                <a:effectLst/>
                <a:latin typeface="-apple-system"/>
              </a:rPr>
              <a:t>14</a:t>
            </a:r>
            <a:r>
              <a:rPr lang="en-US" altLang="ko-KR" sz="800" b="0" i="0" dirty="0">
                <a:solidFill>
                  <a:srgbClr val="222222"/>
                </a:solidFill>
                <a:effectLst/>
                <a:latin typeface="-apple-system"/>
              </a:rPr>
              <a:t>, 6004 (2023). </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2081512"/>
            <a:ext cx="5400675" cy="2893545"/>
          </a:xfrm>
          <a:prstGeom prst="rect">
            <a:avLst/>
          </a:prstGeom>
        </p:spPr>
        <p:txBody>
          <a:bodyPr vert="horz" lIns="91440" tIns="45720" rIns="91440" bIns="45720" rtlCol="0">
            <a:normAutofit fontScale="62500" lnSpcReduction="20000"/>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3500" dirty="0">
                <a:solidFill>
                  <a:schemeClr val="tx1"/>
                </a:solidFill>
                <a:latin typeface="Noto Sans KR" panose="020B0200000000000000" pitchFamily="50" charset="-127"/>
                <a:ea typeface="Noto Sans KR" panose="020B0200000000000000" pitchFamily="50" charset="-127"/>
              </a:rPr>
              <a:t>Keywords :</a:t>
            </a:r>
            <a:endParaRPr lang="en-US" altLang="ko-KR" sz="28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2800" dirty="0">
                <a:solidFill>
                  <a:schemeClr val="tx1"/>
                </a:solidFill>
                <a:latin typeface="Noto Sans KR" panose="020B0200000000000000" pitchFamily="50" charset="-127"/>
                <a:ea typeface="Noto Sans KR" panose="020B0200000000000000" pitchFamily="50" charset="-127"/>
              </a:rPr>
              <a:t>Unit</a:t>
            </a:r>
            <a:r>
              <a:rPr lang="ko-KR" altLang="en-US" sz="2800" dirty="0">
                <a:solidFill>
                  <a:schemeClr val="tx1"/>
                </a:solidFill>
                <a:latin typeface="Noto Sans KR" panose="020B0200000000000000" pitchFamily="50" charset="-127"/>
                <a:ea typeface="Noto Sans KR" panose="020B0200000000000000" pitchFamily="50" charset="-127"/>
              </a:rPr>
              <a:t> </a:t>
            </a:r>
            <a:r>
              <a:rPr lang="en-US" altLang="ko-KR" sz="2800" dirty="0">
                <a:solidFill>
                  <a:schemeClr val="tx1"/>
                </a:solidFill>
                <a:latin typeface="Noto Sans KR" panose="020B0200000000000000" pitchFamily="50" charset="-127"/>
                <a:ea typeface="Noto Sans KR" panose="020B0200000000000000" pitchFamily="50" charset="-127"/>
              </a:rPr>
              <a:t>cells</a:t>
            </a:r>
          </a:p>
          <a:p>
            <a:pPr lvl="1">
              <a:lnSpc>
                <a:spcPct val="120000"/>
              </a:lnSpc>
            </a:pPr>
            <a:r>
              <a:rPr lang="en-US" altLang="ko-KR" sz="2800" dirty="0">
                <a:solidFill>
                  <a:schemeClr val="tx1"/>
                </a:solidFill>
                <a:latin typeface="Noto Sans KR" panose="020B0200000000000000" pitchFamily="50" charset="-127"/>
                <a:ea typeface="Noto Sans KR" panose="020B0200000000000000" pitchFamily="50" charset="-127"/>
              </a:rPr>
              <a:t>Stiffness</a:t>
            </a:r>
          </a:p>
          <a:p>
            <a:pPr lvl="1">
              <a:lnSpc>
                <a:spcPct val="120000"/>
              </a:lnSpc>
            </a:pPr>
            <a:r>
              <a:rPr lang="en-US" altLang="ko-KR" sz="2800" dirty="0">
                <a:solidFill>
                  <a:schemeClr val="tx1"/>
                </a:solidFill>
                <a:latin typeface="Noto Sans KR" panose="020B0200000000000000" pitchFamily="50" charset="-127"/>
                <a:ea typeface="Noto Sans KR" panose="020B0200000000000000" pitchFamily="50" charset="-127"/>
              </a:rPr>
              <a:t>Negative Poisson’s ratio</a:t>
            </a:r>
          </a:p>
          <a:p>
            <a:pPr lvl="1">
              <a:lnSpc>
                <a:spcPct val="120000"/>
              </a:lnSpc>
            </a:pPr>
            <a:r>
              <a:rPr lang="en-US" altLang="ko-KR" sz="2800" dirty="0">
                <a:solidFill>
                  <a:schemeClr val="tx1"/>
                </a:solidFill>
                <a:latin typeface="Noto Sans KR" panose="020B0200000000000000" pitchFamily="50" charset="-127"/>
                <a:ea typeface="Noto Sans KR" panose="020B0200000000000000" pitchFamily="50" charset="-127"/>
              </a:rPr>
              <a:t>Negative compressibility</a:t>
            </a:r>
          </a:p>
          <a:p>
            <a:pPr lvl="1">
              <a:lnSpc>
                <a:spcPct val="120000"/>
              </a:lnSpc>
            </a:pPr>
            <a:r>
              <a:rPr lang="en-US" altLang="ko-KR" sz="2800" dirty="0">
                <a:solidFill>
                  <a:schemeClr val="tx1"/>
                </a:solidFill>
                <a:latin typeface="Noto Sans KR" panose="020B0200000000000000" pitchFamily="50" charset="-127"/>
                <a:ea typeface="Noto Sans KR" panose="020B0200000000000000" pitchFamily="50" charset="-127"/>
              </a:rPr>
              <a:t>Programmable Response</a:t>
            </a:r>
            <a:br>
              <a:rPr lang="en-US" altLang="ko-KR" sz="2800" dirty="0">
                <a:solidFill>
                  <a:schemeClr val="tx1"/>
                </a:solidFill>
                <a:latin typeface="Noto Sans KR" panose="020B0200000000000000" pitchFamily="50" charset="-127"/>
                <a:ea typeface="Noto Sans KR" panose="020B0200000000000000" pitchFamily="50" charset="-127"/>
              </a:rPr>
            </a:br>
            <a:br>
              <a:rPr lang="en-US" altLang="ko-KR" sz="2000" dirty="0">
                <a:solidFill>
                  <a:schemeClr val="tx1"/>
                </a:solidFill>
                <a:latin typeface="Noto Sans KR" panose="020B0200000000000000" pitchFamily="50" charset="-127"/>
                <a:ea typeface="Noto Sans KR" panose="020B0200000000000000" pitchFamily="50" charset="-127"/>
              </a:rPr>
            </a:br>
            <a:endParaRPr lang="en-US" altLang="ko-KR" sz="2000" dirty="0">
              <a:solidFill>
                <a:schemeClr val="tx1"/>
              </a:solidFill>
              <a:latin typeface="Noto Sans KR" panose="020B0200000000000000" pitchFamily="50" charset="-127"/>
              <a:ea typeface="Noto Sans KR" panose="020B0200000000000000" pitchFamily="50" charset="-127"/>
            </a:endParaRPr>
          </a:p>
        </p:txBody>
      </p:sp>
      <p:pic>
        <p:nvPicPr>
          <p:cNvPr id="3" name="그림 2">
            <a:extLst>
              <a:ext uri="{FF2B5EF4-FFF2-40B4-BE49-F238E27FC236}">
                <a16:creationId xmlns:a16="http://schemas.microsoft.com/office/drawing/2014/main" id="{7CBA0B41-7B1E-4C2B-8B2F-51C2E422F651}"/>
              </a:ext>
            </a:extLst>
          </p:cNvPr>
          <p:cNvPicPr>
            <a:picLocks noChangeAspect="1"/>
          </p:cNvPicPr>
          <p:nvPr/>
        </p:nvPicPr>
        <p:blipFill>
          <a:blip r:embed="rId2"/>
          <a:stretch>
            <a:fillRect/>
          </a:stretch>
        </p:blipFill>
        <p:spPr>
          <a:xfrm>
            <a:off x="6494663" y="1196836"/>
            <a:ext cx="4505298" cy="4780240"/>
          </a:xfrm>
          <a:prstGeom prst="rect">
            <a:avLst/>
          </a:prstGeom>
        </p:spPr>
      </p:pic>
    </p:spTree>
    <p:extLst>
      <p:ext uri="{BB962C8B-B14F-4D97-AF65-F5344CB8AC3E}">
        <p14:creationId xmlns:p14="http://schemas.microsoft.com/office/powerpoint/2010/main" val="1370458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a:xfrm>
            <a:off x="4332802" y="1989138"/>
            <a:ext cx="3526395" cy="2879724"/>
          </a:xfrm>
        </p:spPr>
        <p:txBody>
          <a:bodyPr anchor="ctr">
            <a:noAutofit/>
          </a:bodyPr>
          <a:lstStyle/>
          <a:p>
            <a:pPr algn="ctr"/>
            <a:r>
              <a:rPr lang="en-US" altLang="ko-KR" sz="4000" dirty="0"/>
              <a:t>Basic</a:t>
            </a:r>
          </a:p>
          <a:p>
            <a:pPr algn="ctr"/>
            <a:r>
              <a:rPr lang="en-US" altLang="ko-KR" sz="4000" dirty="0"/>
              <a:t>Knowledge of </a:t>
            </a:r>
          </a:p>
          <a:p>
            <a:pPr algn="ctr"/>
            <a:r>
              <a:rPr lang="en-US" altLang="ko-KR" sz="4000" dirty="0"/>
              <a:t>Metamaterial</a:t>
            </a:r>
            <a:endParaRPr lang="ko-KR" altLang="en-US" sz="4000" dirty="0"/>
          </a:p>
        </p:txBody>
      </p:sp>
    </p:spTree>
    <p:extLst>
      <p:ext uri="{BB962C8B-B14F-4D97-AF65-F5344CB8AC3E}">
        <p14:creationId xmlns:p14="http://schemas.microsoft.com/office/powerpoint/2010/main" val="2442442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Stress &amp; Strain</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2. Basic Knowledge of Metamaterial</a:t>
            </a:r>
            <a:endParaRPr lang="ko-KR" altLang="en-US" sz="1400" dirty="0"/>
          </a:p>
        </p:txBody>
      </p:sp>
      <mc:AlternateContent xmlns:mc="http://schemas.openxmlformats.org/markup-compatibility/2006">
        <mc:Choice xmlns:a14="http://schemas.microsoft.com/office/drawing/2010/main" Requires="a14">
          <p:sp>
            <p:nvSpPr>
              <p:cNvPr id="13" name="내용 개체 틀 7">
                <a:extLst>
                  <a:ext uri="{FF2B5EF4-FFF2-40B4-BE49-F238E27FC236}">
                    <a16:creationId xmlns:a16="http://schemas.microsoft.com/office/drawing/2014/main" id="{A1C58076-003E-4F23-9943-6A0F342C8267}"/>
                  </a:ext>
                </a:extLst>
              </p:cNvPr>
              <p:cNvSpPr txBox="1">
                <a:spLocks/>
              </p:cNvSpPr>
              <p:nvPr/>
            </p:nvSpPr>
            <p:spPr>
              <a:xfrm>
                <a:off x="695325" y="1275613"/>
                <a:ext cx="6808977" cy="1934376"/>
              </a:xfrm>
              <a:prstGeom prst="rect">
                <a:avLst/>
              </a:prstGeom>
            </p:spPr>
            <p:txBody>
              <a:bodyPr vert="horz" wrap="square"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Stress(</a:t>
                </a:r>
                <a14:m>
                  <m:oMath xmlns:m="http://schemas.openxmlformats.org/officeDocument/2006/math">
                    <m:r>
                      <a:rPr lang="ko-KR" altLang="en-US" sz="1400" i="1" smtClean="0">
                        <a:solidFill>
                          <a:schemeClr val="tx1"/>
                        </a:solidFill>
                        <a:latin typeface="Cambria Math" panose="02040503050406030204" pitchFamily="18" charset="0"/>
                        <a:ea typeface="Noto Sans KR" panose="020B0200000000000000" pitchFamily="50" charset="-127"/>
                      </a:rPr>
                      <m:t>𝜎</m:t>
                    </m:r>
                  </m:oMath>
                </a14:m>
                <a:r>
                  <a:rPr lang="en-US" altLang="ko-KR" sz="1400" dirty="0">
                    <a:solidFill>
                      <a:schemeClr val="tx1"/>
                    </a:solidFill>
                    <a:latin typeface="Noto Sans KR" panose="020B0200000000000000" pitchFamily="50" charset="-127"/>
                    <a:ea typeface="Noto Sans KR" panose="020B0200000000000000" pitchFamily="50" charset="-127"/>
                  </a:rPr>
                  <a:t>)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force acting per unit area.</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 If the rod is stretched, it experiences tensile stress; if it is compressed, it experiences compressive stress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When force is applied perpendicular to the cut surface, it is called normal stress, and when it is applied parallel to the cross-section, it is called shear stress.</a:t>
                </a:r>
              </a:p>
            </p:txBody>
          </p:sp>
        </mc:Choice>
        <mc:Fallback>
          <p:sp>
            <p:nvSpPr>
              <p:cNvPr id="13" name="내용 개체 틀 7">
                <a:extLst>
                  <a:ext uri="{FF2B5EF4-FFF2-40B4-BE49-F238E27FC236}">
                    <a16:creationId xmlns:a16="http://schemas.microsoft.com/office/drawing/2014/main" id="{A1C58076-003E-4F23-9943-6A0F342C8267}"/>
                  </a:ext>
                </a:extLst>
              </p:cNvPr>
              <p:cNvSpPr txBox="1">
                <a:spLocks noRot="1" noChangeAspect="1" noMove="1" noResize="1" noEditPoints="1" noAdjustHandles="1" noChangeArrowheads="1" noChangeShapeType="1" noTextEdit="1"/>
              </p:cNvSpPr>
              <p:nvPr/>
            </p:nvSpPr>
            <p:spPr>
              <a:xfrm>
                <a:off x="695325" y="1275613"/>
                <a:ext cx="6808977" cy="1934376"/>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19" name="내용 개체 틀 7">
                <a:extLst>
                  <a:ext uri="{FF2B5EF4-FFF2-40B4-BE49-F238E27FC236}">
                    <a16:creationId xmlns:a16="http://schemas.microsoft.com/office/drawing/2014/main" id="{82D10CC4-16D3-41BD-AD04-D1B94E278023}"/>
                  </a:ext>
                </a:extLst>
              </p:cNvPr>
              <p:cNvSpPr txBox="1">
                <a:spLocks/>
              </p:cNvSpPr>
              <p:nvPr/>
            </p:nvSpPr>
            <p:spPr>
              <a:xfrm>
                <a:off x="757656" y="3148281"/>
                <a:ext cx="10801350" cy="1325427"/>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Strain:</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amount of elongation per unit length</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Under tension, this value is positive, and under compression, it becomes negative.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There is no distinct unit (mm/m, </a:t>
                </a:r>
                <a14:m>
                  <m:oMath xmlns:m="http://schemas.openxmlformats.org/officeDocument/2006/math">
                    <m:r>
                      <a:rPr lang="ko-KR" altLang="en-US" sz="1100" i="1" smtClean="0">
                        <a:solidFill>
                          <a:schemeClr val="tx1"/>
                        </a:solidFill>
                        <a:latin typeface="Cambria Math" panose="02040503050406030204" pitchFamily="18" charset="0"/>
                        <a:ea typeface="Noto Sans KR" panose="020B0200000000000000" pitchFamily="50" charset="-127"/>
                      </a:rPr>
                      <m:t>𝜇</m:t>
                    </m:r>
                  </m:oMath>
                </a14:m>
                <a:r>
                  <a:rPr lang="en-US" altLang="ko-KR" sz="1100" dirty="0">
                    <a:solidFill>
                      <a:schemeClr val="tx1"/>
                    </a:solidFill>
                    <a:latin typeface="Noto Sans KR" panose="020B0200000000000000" pitchFamily="50" charset="-127"/>
                    <a:ea typeface="Noto Sans KR" panose="020B0200000000000000" pitchFamily="50" charset="-127"/>
                  </a:rPr>
                  <a:t>m/m, in/in, %)</a:t>
                </a:r>
              </a:p>
            </p:txBody>
          </p:sp>
        </mc:Choice>
        <mc:Fallback>
          <p:sp>
            <p:nvSpPr>
              <p:cNvPr id="19" name="내용 개체 틀 7">
                <a:extLst>
                  <a:ext uri="{FF2B5EF4-FFF2-40B4-BE49-F238E27FC236}">
                    <a16:creationId xmlns:a16="http://schemas.microsoft.com/office/drawing/2014/main" id="{82D10CC4-16D3-41BD-AD04-D1B94E278023}"/>
                  </a:ext>
                </a:extLst>
              </p:cNvPr>
              <p:cNvSpPr txBox="1">
                <a:spLocks noRot="1" noChangeAspect="1" noMove="1" noResize="1" noEditPoints="1" noAdjustHandles="1" noChangeArrowheads="1" noChangeShapeType="1" noTextEdit="1"/>
              </p:cNvSpPr>
              <p:nvPr/>
            </p:nvSpPr>
            <p:spPr>
              <a:xfrm>
                <a:off x="757656" y="3148281"/>
                <a:ext cx="10801350" cy="1325427"/>
              </a:xfrm>
              <a:prstGeom prst="rect">
                <a:avLst/>
              </a:prstGeom>
              <a:blipFill>
                <a:blip r:embed="rId3"/>
                <a:stretch>
                  <a:fillRect/>
                </a:stretch>
              </a:blipFill>
            </p:spPr>
            <p:txBody>
              <a:bodyPr/>
              <a:lstStyle/>
              <a:p>
                <a:r>
                  <a:rPr lang="ko-KR" altLang="en-US">
                    <a:noFill/>
                  </a:rPr>
                  <a:t> </a:t>
                </a:r>
              </a:p>
            </p:txBody>
          </p:sp>
        </mc:Fallback>
      </mc:AlternateContent>
      <p:sp>
        <p:nvSpPr>
          <p:cNvPr id="21" name="TextBox 20">
            <a:extLst>
              <a:ext uri="{FF2B5EF4-FFF2-40B4-BE49-F238E27FC236}">
                <a16:creationId xmlns:a16="http://schemas.microsoft.com/office/drawing/2014/main" id="{66DA9F8F-FCC3-46EE-BE99-20ABE04054BD}"/>
              </a:ext>
            </a:extLst>
          </p:cNvPr>
          <p:cNvSpPr txBox="1"/>
          <p:nvPr/>
        </p:nvSpPr>
        <p:spPr>
          <a:xfrm>
            <a:off x="695325" y="6308725"/>
            <a:ext cx="10801350" cy="215444"/>
          </a:xfrm>
          <a:prstGeom prst="rect">
            <a:avLst/>
          </a:prstGeom>
          <a:noFill/>
        </p:spPr>
        <p:txBody>
          <a:bodyPr wrap="square" rtlCol="0">
            <a:spAutoFit/>
          </a:bodyPr>
          <a:lstStyle/>
          <a:p>
            <a:r>
              <a:rPr lang="en-US" altLang="ko-KR" sz="800" dirty="0"/>
              <a:t>1) Smart </a:t>
            </a:r>
            <a:r>
              <a:rPr lang="en-US" altLang="ko-KR" sz="800" dirty="0" err="1"/>
              <a:t>Desgin</a:t>
            </a:r>
            <a:r>
              <a:rPr lang="en-US" altLang="ko-KR" sz="800" dirty="0"/>
              <a:t> Lab. (2020,03,08). </a:t>
            </a:r>
            <a:r>
              <a:rPr lang="ko-KR" altLang="en-US" sz="800" dirty="0"/>
              <a:t>고체역학 </a:t>
            </a:r>
            <a:r>
              <a:rPr lang="en-US" altLang="ko-KR" sz="800" dirty="0"/>
              <a:t>Ch1. YouTube. https://youtu.be/GuiGDH6_GOw?si=O7IOqxes3wZUISw_.</a:t>
            </a:r>
            <a:endParaRPr lang="ko-KR" altLang="en-US" sz="800" dirty="0"/>
          </a:p>
        </p:txBody>
      </p:sp>
      <p:pic>
        <p:nvPicPr>
          <p:cNvPr id="3" name="그림 2">
            <a:extLst>
              <a:ext uri="{FF2B5EF4-FFF2-40B4-BE49-F238E27FC236}">
                <a16:creationId xmlns:a16="http://schemas.microsoft.com/office/drawing/2014/main" id="{4EC87AAE-1EDD-477E-87D8-97E44612A4B3}"/>
              </a:ext>
            </a:extLst>
          </p:cNvPr>
          <p:cNvPicPr>
            <a:picLocks noChangeAspect="1"/>
          </p:cNvPicPr>
          <p:nvPr/>
        </p:nvPicPr>
        <p:blipFill>
          <a:blip r:embed="rId4"/>
          <a:stretch>
            <a:fillRect/>
          </a:stretch>
        </p:blipFill>
        <p:spPr>
          <a:xfrm>
            <a:off x="7686143" y="1300526"/>
            <a:ext cx="3810532" cy="1200318"/>
          </a:xfrm>
          <a:prstGeom prst="rect">
            <a:avLst/>
          </a:prstGeom>
        </p:spPr>
      </p:pic>
      <p:pic>
        <p:nvPicPr>
          <p:cNvPr id="5" name="그림 4">
            <a:extLst>
              <a:ext uri="{FF2B5EF4-FFF2-40B4-BE49-F238E27FC236}">
                <a16:creationId xmlns:a16="http://schemas.microsoft.com/office/drawing/2014/main" id="{F97295DB-DC15-4084-9695-E133CC2A5037}"/>
              </a:ext>
            </a:extLst>
          </p:cNvPr>
          <p:cNvPicPr>
            <a:picLocks noChangeAspect="1"/>
          </p:cNvPicPr>
          <p:nvPr/>
        </p:nvPicPr>
        <p:blipFill>
          <a:blip r:embed="rId5"/>
          <a:stretch>
            <a:fillRect/>
          </a:stretch>
        </p:blipFill>
        <p:spPr>
          <a:xfrm>
            <a:off x="8954038" y="3308091"/>
            <a:ext cx="2542637" cy="1062595"/>
          </a:xfrm>
          <a:prstGeom prst="rect">
            <a:avLst/>
          </a:prstGeom>
        </p:spPr>
      </p:pic>
      <p:sp>
        <p:nvSpPr>
          <p:cNvPr id="9" name="내용 개체 틀 7">
            <a:extLst>
              <a:ext uri="{FF2B5EF4-FFF2-40B4-BE49-F238E27FC236}">
                <a16:creationId xmlns:a16="http://schemas.microsoft.com/office/drawing/2014/main" id="{1C7A6A86-7D38-407C-A43C-0CCE4F2536BE}"/>
              </a:ext>
            </a:extLst>
          </p:cNvPr>
          <p:cNvSpPr txBox="1">
            <a:spLocks/>
          </p:cNvSpPr>
          <p:nvPr/>
        </p:nvSpPr>
        <p:spPr>
          <a:xfrm>
            <a:off x="757656" y="4654544"/>
            <a:ext cx="8574069" cy="1196738"/>
          </a:xfrm>
          <a:prstGeom prst="rect">
            <a:avLst/>
          </a:prstGeom>
        </p:spPr>
        <p:txBody>
          <a:bodyPr vert="horz" wrap="square"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Buckling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Buckling is a phenomenon in which a structure under compressive load suddenly bends or fails upon exceeding a certain threshold</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In metamaterials, buckling is deliberately engineered to create unique mechanical properties.</a:t>
            </a:r>
          </a:p>
        </p:txBody>
      </p:sp>
      <p:pic>
        <p:nvPicPr>
          <p:cNvPr id="4" name="그래픽 3">
            <a:extLst>
              <a:ext uri="{FF2B5EF4-FFF2-40B4-BE49-F238E27FC236}">
                <a16:creationId xmlns:a16="http://schemas.microsoft.com/office/drawing/2014/main" id="{9E7E96D0-F290-403C-86AF-06C3619815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44544" y="4536147"/>
            <a:ext cx="1607117" cy="1607117"/>
          </a:xfrm>
          <a:prstGeom prst="rect">
            <a:avLst/>
          </a:prstGeom>
        </p:spPr>
      </p:pic>
    </p:spTree>
    <p:extLst>
      <p:ext uri="{BB962C8B-B14F-4D97-AF65-F5344CB8AC3E}">
        <p14:creationId xmlns:p14="http://schemas.microsoft.com/office/powerpoint/2010/main" val="3521870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Stress &amp; Strain</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2. Basic Knowledge of Metamaterial</a:t>
            </a:r>
            <a:endParaRPr lang="ko-KR" altLang="en-US" sz="1400" dirty="0"/>
          </a:p>
        </p:txBody>
      </p:sp>
      <p:sp>
        <p:nvSpPr>
          <p:cNvPr id="13" name="내용 개체 틀 7">
            <a:extLst>
              <a:ext uri="{FF2B5EF4-FFF2-40B4-BE49-F238E27FC236}">
                <a16:creationId xmlns:a16="http://schemas.microsoft.com/office/drawing/2014/main" id="{A1C58076-003E-4F23-9943-6A0F342C8267}"/>
              </a:ext>
            </a:extLst>
          </p:cNvPr>
          <p:cNvSpPr txBox="1">
            <a:spLocks/>
          </p:cNvSpPr>
          <p:nvPr/>
        </p:nvSpPr>
        <p:spPr>
          <a:xfrm>
            <a:off x="695325" y="1275613"/>
            <a:ext cx="10377063" cy="3170804"/>
          </a:xfrm>
          <a:prstGeom prst="rect">
            <a:avLst/>
          </a:prstGeom>
        </p:spPr>
        <p:txBody>
          <a:bodyPr vert="horz" wrap="square"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Stress–Strain Curve: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Segment OA: Here, stress and strain exhibit a linear, proportional relationship. The slope of this region is called the elastic modulus.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Point A is referred to as the proportional limit. If there is no clearly defined yield point, we shift the linear portion by 0.2% on the strain axis, and where that shifted line intersects the curve is taken as point A.</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Point B (Yield Point): At this point, the material no longer maintains pure elasticity and begins permanent deformation.</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Point D (Ultimate Stress): This is the peak stress that the material can withstand the highest point of the curve.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Point E (Fracture Point): The material breaks at this stress value, indicating complete failure.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Rubber Materials: Rubber can maintain a linear stress–strain relationship up to a very large strain. </a:t>
            </a:r>
          </a:p>
          <a:p>
            <a:pPr>
              <a:lnSpc>
                <a:spcPct val="120000"/>
              </a:lnSpc>
            </a:pPr>
            <a:endParaRPr lang="en-US" altLang="ko-KR" sz="1400" dirty="0">
              <a:solidFill>
                <a:schemeClr val="tx1"/>
              </a:solidFill>
              <a:latin typeface="Noto Sans KR" panose="020B0200000000000000" pitchFamily="50" charset="-127"/>
              <a:ea typeface="Noto Sans KR" panose="020B0200000000000000" pitchFamily="50" charset="-127"/>
            </a:endParaRPr>
          </a:p>
        </p:txBody>
      </p:sp>
      <p:sp>
        <p:nvSpPr>
          <p:cNvPr id="21" name="TextBox 20">
            <a:extLst>
              <a:ext uri="{FF2B5EF4-FFF2-40B4-BE49-F238E27FC236}">
                <a16:creationId xmlns:a16="http://schemas.microsoft.com/office/drawing/2014/main" id="{66DA9F8F-FCC3-46EE-BE99-20ABE04054BD}"/>
              </a:ext>
            </a:extLst>
          </p:cNvPr>
          <p:cNvSpPr txBox="1"/>
          <p:nvPr/>
        </p:nvSpPr>
        <p:spPr>
          <a:xfrm>
            <a:off x="695325" y="6308725"/>
            <a:ext cx="10801350" cy="215444"/>
          </a:xfrm>
          <a:prstGeom prst="rect">
            <a:avLst/>
          </a:prstGeom>
          <a:noFill/>
        </p:spPr>
        <p:txBody>
          <a:bodyPr wrap="square" rtlCol="0">
            <a:spAutoFit/>
          </a:bodyPr>
          <a:lstStyle/>
          <a:p>
            <a:r>
              <a:rPr lang="en-US" altLang="ko-KR" sz="800" dirty="0"/>
              <a:t>1) Smart </a:t>
            </a:r>
            <a:r>
              <a:rPr lang="en-US" altLang="ko-KR" sz="800" dirty="0" err="1"/>
              <a:t>Desgin</a:t>
            </a:r>
            <a:r>
              <a:rPr lang="en-US" altLang="ko-KR" sz="800" dirty="0"/>
              <a:t> Lab. (2020,03,08). </a:t>
            </a:r>
            <a:r>
              <a:rPr lang="ko-KR" altLang="en-US" sz="800" dirty="0"/>
              <a:t>고체역학 </a:t>
            </a:r>
            <a:r>
              <a:rPr lang="en-US" altLang="ko-KR" sz="800" dirty="0"/>
              <a:t>Ch1. YouTube. https://youtu.be/GuiGDH6_GOw?si=O7IOqxes3wZUISw_.</a:t>
            </a:r>
            <a:endParaRPr lang="ko-KR" altLang="en-US" sz="800" dirty="0"/>
          </a:p>
        </p:txBody>
      </p:sp>
      <p:pic>
        <p:nvPicPr>
          <p:cNvPr id="4" name="그림 3">
            <a:extLst>
              <a:ext uri="{FF2B5EF4-FFF2-40B4-BE49-F238E27FC236}">
                <a16:creationId xmlns:a16="http://schemas.microsoft.com/office/drawing/2014/main" id="{66ECC1B8-147E-4D5E-958C-7282A27B127A}"/>
              </a:ext>
            </a:extLst>
          </p:cNvPr>
          <p:cNvPicPr>
            <a:picLocks noChangeAspect="1"/>
          </p:cNvPicPr>
          <p:nvPr/>
        </p:nvPicPr>
        <p:blipFill>
          <a:blip r:embed="rId2"/>
          <a:stretch>
            <a:fillRect/>
          </a:stretch>
        </p:blipFill>
        <p:spPr>
          <a:xfrm>
            <a:off x="1016834" y="4311078"/>
            <a:ext cx="2502912" cy="1634195"/>
          </a:xfrm>
          <a:prstGeom prst="rect">
            <a:avLst/>
          </a:prstGeom>
        </p:spPr>
      </p:pic>
      <p:pic>
        <p:nvPicPr>
          <p:cNvPr id="8" name="그림 7">
            <a:extLst>
              <a:ext uri="{FF2B5EF4-FFF2-40B4-BE49-F238E27FC236}">
                <a16:creationId xmlns:a16="http://schemas.microsoft.com/office/drawing/2014/main" id="{F2796CC8-D41E-4968-BD6D-B3E39D9F8B72}"/>
              </a:ext>
            </a:extLst>
          </p:cNvPr>
          <p:cNvPicPr>
            <a:picLocks noChangeAspect="1"/>
          </p:cNvPicPr>
          <p:nvPr/>
        </p:nvPicPr>
        <p:blipFill>
          <a:blip r:embed="rId3"/>
          <a:stretch>
            <a:fillRect/>
          </a:stretch>
        </p:blipFill>
        <p:spPr>
          <a:xfrm>
            <a:off x="4014846" y="4311077"/>
            <a:ext cx="2437627" cy="1634195"/>
          </a:xfrm>
          <a:prstGeom prst="rect">
            <a:avLst/>
          </a:prstGeom>
        </p:spPr>
      </p:pic>
      <p:pic>
        <p:nvPicPr>
          <p:cNvPr id="11" name="그림 10">
            <a:extLst>
              <a:ext uri="{FF2B5EF4-FFF2-40B4-BE49-F238E27FC236}">
                <a16:creationId xmlns:a16="http://schemas.microsoft.com/office/drawing/2014/main" id="{C205CAD1-0258-429E-9071-B4FD6E9661D2}"/>
              </a:ext>
            </a:extLst>
          </p:cNvPr>
          <p:cNvPicPr>
            <a:picLocks noChangeAspect="1"/>
          </p:cNvPicPr>
          <p:nvPr/>
        </p:nvPicPr>
        <p:blipFill rotWithShape="1">
          <a:blip r:embed="rId4"/>
          <a:srcRect l="3865"/>
          <a:stretch/>
        </p:blipFill>
        <p:spPr>
          <a:xfrm>
            <a:off x="9600240" y="4311076"/>
            <a:ext cx="1978336" cy="1634195"/>
          </a:xfrm>
          <a:prstGeom prst="rect">
            <a:avLst/>
          </a:prstGeom>
        </p:spPr>
      </p:pic>
      <p:pic>
        <p:nvPicPr>
          <p:cNvPr id="15" name="그림 14">
            <a:extLst>
              <a:ext uri="{FF2B5EF4-FFF2-40B4-BE49-F238E27FC236}">
                <a16:creationId xmlns:a16="http://schemas.microsoft.com/office/drawing/2014/main" id="{7DD3DCE3-AA8D-4D10-BA7D-5D24C72C9330}"/>
              </a:ext>
            </a:extLst>
          </p:cNvPr>
          <p:cNvPicPr>
            <a:picLocks noChangeAspect="1"/>
          </p:cNvPicPr>
          <p:nvPr/>
        </p:nvPicPr>
        <p:blipFill>
          <a:blip r:embed="rId5"/>
          <a:stretch>
            <a:fillRect/>
          </a:stretch>
        </p:blipFill>
        <p:spPr>
          <a:xfrm>
            <a:off x="6888003" y="4321087"/>
            <a:ext cx="1986512" cy="1644204"/>
          </a:xfrm>
          <a:prstGeom prst="rect">
            <a:avLst/>
          </a:prstGeom>
        </p:spPr>
      </p:pic>
    </p:spTree>
    <p:extLst>
      <p:ext uri="{BB962C8B-B14F-4D97-AF65-F5344CB8AC3E}">
        <p14:creationId xmlns:p14="http://schemas.microsoft.com/office/powerpoint/2010/main" val="2898472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Elastic Modulus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2. Basic Knowledge of Metamaterial</a:t>
            </a:r>
            <a:endParaRPr lang="ko-KR" altLang="en-US" sz="1400" dirty="0"/>
          </a:p>
        </p:txBody>
      </p:sp>
      <p:sp>
        <p:nvSpPr>
          <p:cNvPr id="13" name="내용 개체 틀 7">
            <a:extLst>
              <a:ext uri="{FF2B5EF4-FFF2-40B4-BE49-F238E27FC236}">
                <a16:creationId xmlns:a16="http://schemas.microsoft.com/office/drawing/2014/main" id="{A1C58076-003E-4F23-9943-6A0F342C8267}"/>
              </a:ext>
            </a:extLst>
          </p:cNvPr>
          <p:cNvSpPr txBox="1">
            <a:spLocks/>
          </p:cNvSpPr>
          <p:nvPr/>
        </p:nvSpPr>
        <p:spPr>
          <a:xfrm>
            <a:off x="695325" y="1275613"/>
            <a:ext cx="10801350" cy="665118"/>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Young’s modulus (E)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material’s stiffness under axial loads, higher values indicate a stiffer material.</a:t>
            </a:r>
            <a:r>
              <a:rPr lang="ko-KR" altLang="en-US" sz="1100" dirty="0">
                <a:solidFill>
                  <a:schemeClr val="tx1"/>
                </a:solidFill>
                <a:latin typeface="Noto Sans KR" panose="020B0200000000000000" pitchFamily="50" charset="-127"/>
                <a:ea typeface="Noto Sans KR" panose="020B0200000000000000" pitchFamily="50" charset="-127"/>
              </a:rPr>
              <a:t> </a:t>
            </a:r>
            <a:endParaRPr lang="en-US" altLang="ko-KR" sz="1100" dirty="0">
              <a:solidFill>
                <a:schemeClr val="tx1"/>
              </a:solidFill>
              <a:latin typeface="Noto Sans KR" panose="020B0200000000000000" pitchFamily="50" charset="-127"/>
              <a:ea typeface="Noto Sans KR" panose="020B0200000000000000" pitchFamily="50" charset="-127"/>
            </a:endParaRPr>
          </a:p>
        </p:txBody>
      </p:sp>
      <p:pic>
        <p:nvPicPr>
          <p:cNvPr id="2050" name="Picture 2" descr="All the elastic moduli — Agile">
            <a:extLst>
              <a:ext uri="{FF2B5EF4-FFF2-40B4-BE49-F238E27FC236}">
                <a16:creationId xmlns:a16="http://schemas.microsoft.com/office/drawing/2014/main" id="{F2223BD5-7E21-4EB3-B735-DA026AC589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 r="36"/>
          <a:stretch/>
        </p:blipFill>
        <p:spPr bwMode="auto">
          <a:xfrm>
            <a:off x="3317496" y="4462459"/>
            <a:ext cx="5557008" cy="1665521"/>
          </a:xfrm>
          <a:prstGeom prst="rect">
            <a:avLst/>
          </a:prstGeom>
          <a:noFill/>
          <a:extLst>
            <a:ext uri="{909E8E84-426E-40DD-AFC4-6F175D3DCCD1}">
              <a14:hiddenFill xmlns:a14="http://schemas.microsoft.com/office/drawing/2010/main">
                <a:solidFill>
                  <a:srgbClr val="FFFFFF"/>
                </a:solidFill>
              </a14:hiddenFill>
            </a:ext>
          </a:extLst>
        </p:spPr>
      </p:pic>
      <p:sp>
        <p:nvSpPr>
          <p:cNvPr id="18" name="내용 개체 틀 7">
            <a:extLst>
              <a:ext uri="{FF2B5EF4-FFF2-40B4-BE49-F238E27FC236}">
                <a16:creationId xmlns:a16="http://schemas.microsoft.com/office/drawing/2014/main" id="{34C585DE-D090-4FCD-8D04-9FB19BC388CE}"/>
              </a:ext>
            </a:extLst>
          </p:cNvPr>
          <p:cNvSpPr txBox="1">
            <a:spLocks/>
          </p:cNvSpPr>
          <p:nvPr/>
        </p:nvSpPr>
        <p:spPr>
          <a:xfrm>
            <a:off x="695324" y="2008777"/>
            <a:ext cx="10801350" cy="865365"/>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Shear modulus(G):</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material’s ability to resist torsional deformation. Liquids have G=0, solids have G&gt;0, and </a:t>
            </a:r>
            <a:r>
              <a:rPr lang="en-US" altLang="ko-KR" sz="1100" dirty="0" err="1">
                <a:solidFill>
                  <a:schemeClr val="tx1"/>
                </a:solidFill>
                <a:latin typeface="Noto Sans KR" panose="020B0200000000000000" pitchFamily="50" charset="-127"/>
                <a:ea typeface="Noto Sans KR" panose="020B0200000000000000" pitchFamily="50" charset="-127"/>
              </a:rPr>
              <a:t>pentamode</a:t>
            </a:r>
            <a:r>
              <a:rPr lang="en-US" altLang="ko-KR" sz="1100" dirty="0">
                <a:solidFill>
                  <a:schemeClr val="tx1"/>
                </a:solidFill>
                <a:latin typeface="Noto Sans KR" panose="020B0200000000000000" pitchFamily="50" charset="-127"/>
                <a:ea typeface="Noto Sans KR" panose="020B0200000000000000" pitchFamily="50" charset="-127"/>
              </a:rPr>
              <a:t> materials exhibit G≪K—indicating strong resistance to compression but weak resistance to twisting.</a:t>
            </a:r>
          </a:p>
        </p:txBody>
      </p:sp>
      <p:sp>
        <p:nvSpPr>
          <p:cNvPr id="19" name="내용 개체 틀 7">
            <a:extLst>
              <a:ext uri="{FF2B5EF4-FFF2-40B4-BE49-F238E27FC236}">
                <a16:creationId xmlns:a16="http://schemas.microsoft.com/office/drawing/2014/main" id="{82D10CC4-16D3-41BD-AD04-D1B94E278023}"/>
              </a:ext>
            </a:extLst>
          </p:cNvPr>
          <p:cNvSpPr txBox="1">
            <a:spLocks/>
          </p:cNvSpPr>
          <p:nvPr/>
        </p:nvSpPr>
        <p:spPr>
          <a:xfrm>
            <a:off x="732741" y="2942188"/>
            <a:ext cx="10801350" cy="662233"/>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Bulk</a:t>
            </a:r>
            <a:r>
              <a:rPr lang="ko-KR" altLang="en-US" sz="1400" dirty="0">
                <a:solidFill>
                  <a:schemeClr val="tx1"/>
                </a:solidFill>
                <a:latin typeface="Noto Sans KR" panose="020B0200000000000000" pitchFamily="50" charset="-127"/>
                <a:ea typeface="Noto Sans KR" panose="020B0200000000000000" pitchFamily="50" charset="-127"/>
              </a:rPr>
              <a:t> </a:t>
            </a:r>
            <a:r>
              <a:rPr lang="en-US" altLang="ko-KR" sz="1400" dirty="0">
                <a:solidFill>
                  <a:schemeClr val="tx1"/>
                </a:solidFill>
                <a:latin typeface="Noto Sans KR" panose="020B0200000000000000" pitchFamily="50" charset="-127"/>
                <a:ea typeface="Noto Sans KR" panose="020B0200000000000000" pitchFamily="50" charset="-127"/>
              </a:rPr>
              <a:t>modulus(K):</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material’s resistance to compressive deformation. For example, solids have a large K value, whereas gases have a very small one.</a:t>
            </a:r>
          </a:p>
        </p:txBody>
      </p:sp>
      <mc:AlternateContent xmlns:mc="http://schemas.openxmlformats.org/markup-compatibility/2006">
        <mc:Choice xmlns:a14="http://schemas.microsoft.com/office/drawing/2010/main" Requires="a14">
          <p:sp>
            <p:nvSpPr>
              <p:cNvPr id="20" name="내용 개체 틀 7">
                <a:extLst>
                  <a:ext uri="{FF2B5EF4-FFF2-40B4-BE49-F238E27FC236}">
                    <a16:creationId xmlns:a16="http://schemas.microsoft.com/office/drawing/2014/main" id="{BB0D8383-7294-42E2-B759-1E809B4FB12E}"/>
                  </a:ext>
                </a:extLst>
              </p:cNvPr>
              <p:cNvSpPr txBox="1">
                <a:spLocks/>
              </p:cNvSpPr>
              <p:nvPr/>
            </p:nvSpPr>
            <p:spPr>
              <a:xfrm>
                <a:off x="732741" y="3776785"/>
                <a:ext cx="10801350" cy="665118"/>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Poisson’s ratio(</a:t>
                </a:r>
                <a14:m>
                  <m:oMath xmlns:m="http://schemas.openxmlformats.org/officeDocument/2006/math">
                    <m:r>
                      <a:rPr lang="en-US" altLang="ko-KR" sz="1400" b="0" i="1" smtClean="0">
                        <a:solidFill>
                          <a:schemeClr val="tx1"/>
                        </a:solidFill>
                        <a:latin typeface="Cambria Math" panose="02040503050406030204" pitchFamily="18" charset="0"/>
                        <a:ea typeface="Noto Sans KR" panose="020B0200000000000000" pitchFamily="50" charset="-127"/>
                      </a:rPr>
                      <m:t>𝑣</m:t>
                    </m:r>
                  </m:oMath>
                </a14:m>
                <a:r>
                  <a:rPr lang="en-US" altLang="ko-KR" sz="1400" dirty="0">
                    <a:solidFill>
                      <a:schemeClr val="tx1"/>
                    </a:solidFill>
                    <a:latin typeface="Noto Sans KR" panose="020B0200000000000000" pitchFamily="50" charset="-127"/>
                    <a:ea typeface="Noto Sans KR" panose="020B0200000000000000" pitchFamily="50" charset="-127"/>
                  </a:rPr>
                  <a:t>):</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 The ratio describing how much a material contracts or expands in the transverse direction when stretched along one axis.</a:t>
                </a:r>
              </a:p>
            </p:txBody>
          </p:sp>
        </mc:Choice>
        <mc:Fallback>
          <p:sp>
            <p:nvSpPr>
              <p:cNvPr id="20" name="내용 개체 틀 7">
                <a:extLst>
                  <a:ext uri="{FF2B5EF4-FFF2-40B4-BE49-F238E27FC236}">
                    <a16:creationId xmlns:a16="http://schemas.microsoft.com/office/drawing/2014/main" id="{BB0D8383-7294-42E2-B759-1E809B4FB12E}"/>
                  </a:ext>
                </a:extLst>
              </p:cNvPr>
              <p:cNvSpPr txBox="1">
                <a:spLocks noRot="1" noChangeAspect="1" noMove="1" noResize="1" noEditPoints="1" noAdjustHandles="1" noChangeArrowheads="1" noChangeShapeType="1" noTextEdit="1"/>
              </p:cNvSpPr>
              <p:nvPr/>
            </p:nvSpPr>
            <p:spPr>
              <a:xfrm>
                <a:off x="732741" y="3776785"/>
                <a:ext cx="10801350" cy="665118"/>
              </a:xfrm>
              <a:prstGeom prst="rect">
                <a:avLst/>
              </a:prstGeom>
              <a:blipFill>
                <a:blip r:embed="rId3"/>
                <a:stretch>
                  <a:fillRect/>
                </a:stretch>
              </a:blipFill>
            </p:spPr>
            <p:txBody>
              <a:bodyPr/>
              <a:lstStyle/>
              <a:p>
                <a:r>
                  <a:rPr lang="ko-KR" altLang="en-US">
                    <a:noFill/>
                  </a:rPr>
                  <a:t> </a:t>
                </a:r>
              </a:p>
            </p:txBody>
          </p:sp>
        </mc:Fallback>
      </mc:AlternateContent>
      <p:sp>
        <p:nvSpPr>
          <p:cNvPr id="21" name="TextBox 20">
            <a:extLst>
              <a:ext uri="{FF2B5EF4-FFF2-40B4-BE49-F238E27FC236}">
                <a16:creationId xmlns:a16="http://schemas.microsoft.com/office/drawing/2014/main" id="{66DA9F8F-FCC3-46EE-BE99-20ABE04054BD}"/>
              </a:ext>
            </a:extLst>
          </p:cNvPr>
          <p:cNvSpPr txBox="1"/>
          <p:nvPr/>
        </p:nvSpPr>
        <p:spPr>
          <a:xfrm>
            <a:off x="695325" y="6308725"/>
            <a:ext cx="10801350" cy="215444"/>
          </a:xfrm>
          <a:prstGeom prst="rect">
            <a:avLst/>
          </a:prstGeom>
          <a:noFill/>
        </p:spPr>
        <p:txBody>
          <a:bodyPr wrap="square" rtlCol="0">
            <a:spAutoFit/>
          </a:bodyPr>
          <a:lstStyle/>
          <a:p>
            <a:r>
              <a:rPr lang="en-US" altLang="ko-KR" sz="800" dirty="0"/>
              <a:t>1) Matt </a:t>
            </a:r>
            <a:r>
              <a:rPr lang="en-US" altLang="ko-KR" sz="800" dirty="0" err="1"/>
              <a:t>Hall.All</a:t>
            </a:r>
            <a:r>
              <a:rPr lang="en-US" altLang="ko-KR" sz="800" dirty="0"/>
              <a:t> the elastic moduli. Agile. 2016,04,028. https://agilescientific.com/blog/2016/4/28/all-the-elastic-moduli.</a:t>
            </a:r>
            <a:endParaRPr lang="ko-KR" altLang="en-US" sz="800" dirty="0"/>
          </a:p>
        </p:txBody>
      </p:sp>
    </p:spTree>
    <p:extLst>
      <p:ext uri="{BB962C8B-B14F-4D97-AF65-F5344CB8AC3E}">
        <p14:creationId xmlns:p14="http://schemas.microsoft.com/office/powerpoint/2010/main" val="2578067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a:xfrm>
            <a:off x="4325354" y="2273968"/>
            <a:ext cx="3533844" cy="2594894"/>
          </a:xfrm>
        </p:spPr>
        <p:txBody>
          <a:bodyPr anchor="ctr">
            <a:normAutofit fontScale="85000" lnSpcReduction="10000"/>
          </a:bodyPr>
          <a:lstStyle/>
          <a:p>
            <a:pPr algn="ctr"/>
            <a:r>
              <a:rPr lang="en-US" altLang="ko-KR" sz="4400" dirty="0"/>
              <a:t>Classification </a:t>
            </a:r>
          </a:p>
          <a:p>
            <a:pPr algn="ctr"/>
            <a:r>
              <a:rPr lang="en-US" altLang="ko-KR" sz="4400" dirty="0"/>
              <a:t>of </a:t>
            </a:r>
          </a:p>
          <a:p>
            <a:pPr algn="ctr"/>
            <a:r>
              <a:rPr lang="en-US" altLang="ko-KR" sz="4400" dirty="0"/>
              <a:t>Mechanical</a:t>
            </a:r>
          </a:p>
          <a:p>
            <a:pPr algn="ctr"/>
            <a:r>
              <a:rPr lang="en-US" altLang="ko-KR" sz="4400" dirty="0"/>
              <a:t> Metamaterials</a:t>
            </a:r>
            <a:endParaRPr lang="ko-KR" altLang="en-US" sz="4400" dirty="0"/>
          </a:p>
        </p:txBody>
      </p:sp>
    </p:spTree>
    <p:extLst>
      <p:ext uri="{BB962C8B-B14F-4D97-AF65-F5344CB8AC3E}">
        <p14:creationId xmlns:p14="http://schemas.microsoft.com/office/powerpoint/2010/main" val="2200412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Stiffness (E)-Based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3. Classification and Design Methods of Mechanical Metamaterials</a:t>
            </a:r>
            <a:endParaRPr lang="ko-KR" altLang="en-US" sz="1400" dirty="0"/>
          </a:p>
        </p:txBody>
      </p:sp>
      <p:sp>
        <p:nvSpPr>
          <p:cNvPr id="9" name="내용 개체 틀 7">
            <a:extLst>
              <a:ext uri="{FF2B5EF4-FFF2-40B4-BE49-F238E27FC236}">
                <a16:creationId xmlns:a16="http://schemas.microsoft.com/office/drawing/2014/main" id="{AA1AC088-5992-4A82-86F7-23DBAF3F966D}"/>
              </a:ext>
            </a:extLst>
          </p:cNvPr>
          <p:cNvSpPr txBox="1">
            <a:spLocks/>
          </p:cNvSpPr>
          <p:nvPr/>
        </p:nvSpPr>
        <p:spPr>
          <a:xfrm>
            <a:off x="695325" y="1275613"/>
            <a:ext cx="10801350" cy="2800254"/>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Micro-nano lattices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This structure refers to an ultra-lightweight lattice composed of micro- or nanoscale pillars or beams tessellated in three dimensions.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With advancements in 3D printing and nanofabrication technology, it has become feasible to realize such intricate geometries, making them highly promising..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Depending on factors like relative density and the spatial arrangement of unit cells, the stiffness of this metamaterial can vary..</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can be classified into open-cell or closed-cell configurations based on topology, and the structures themselves may arise randomly or be deliberately ordered like a honeycomb.</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Representative examples include the octet-truss geometry, typically made of metals or ceramics, and the bend-dominated tetrakaidecahedron geometry, often formed as cubic Kelvin foam.</a:t>
            </a:r>
          </a:p>
        </p:txBody>
      </p:sp>
      <p:pic>
        <p:nvPicPr>
          <p:cNvPr id="3" name="그림 2">
            <a:extLst>
              <a:ext uri="{FF2B5EF4-FFF2-40B4-BE49-F238E27FC236}">
                <a16:creationId xmlns:a16="http://schemas.microsoft.com/office/drawing/2014/main" id="{2E3A033F-7C52-4360-9074-3E333CF29750}"/>
              </a:ext>
            </a:extLst>
          </p:cNvPr>
          <p:cNvPicPr>
            <a:picLocks noChangeAspect="1"/>
          </p:cNvPicPr>
          <p:nvPr/>
        </p:nvPicPr>
        <p:blipFill>
          <a:blip r:embed="rId2"/>
          <a:stretch>
            <a:fillRect/>
          </a:stretch>
        </p:blipFill>
        <p:spPr>
          <a:xfrm>
            <a:off x="2504210" y="4138863"/>
            <a:ext cx="3186923" cy="1560493"/>
          </a:xfrm>
          <a:prstGeom prst="rect">
            <a:avLst/>
          </a:prstGeom>
        </p:spPr>
      </p:pic>
      <p:pic>
        <p:nvPicPr>
          <p:cNvPr id="6" name="그림 5">
            <a:extLst>
              <a:ext uri="{FF2B5EF4-FFF2-40B4-BE49-F238E27FC236}">
                <a16:creationId xmlns:a16="http://schemas.microsoft.com/office/drawing/2014/main" id="{03848538-8E38-41F8-8404-A7744CD0FC16}"/>
              </a:ext>
            </a:extLst>
          </p:cNvPr>
          <p:cNvPicPr>
            <a:picLocks noChangeAspect="1"/>
          </p:cNvPicPr>
          <p:nvPr/>
        </p:nvPicPr>
        <p:blipFill>
          <a:blip r:embed="rId3"/>
          <a:stretch>
            <a:fillRect/>
          </a:stretch>
        </p:blipFill>
        <p:spPr>
          <a:xfrm>
            <a:off x="6500867" y="4138655"/>
            <a:ext cx="3313165" cy="1560493"/>
          </a:xfrm>
          <a:prstGeom prst="rect">
            <a:avLst/>
          </a:prstGeom>
        </p:spPr>
      </p:pic>
      <p:sp>
        <p:nvSpPr>
          <p:cNvPr id="12" name="TextBox 11">
            <a:extLst>
              <a:ext uri="{FF2B5EF4-FFF2-40B4-BE49-F238E27FC236}">
                <a16:creationId xmlns:a16="http://schemas.microsoft.com/office/drawing/2014/main" id="{B0F55F8B-4425-429F-B473-A5A083A11D40}"/>
              </a:ext>
            </a:extLst>
          </p:cNvPr>
          <p:cNvSpPr txBox="1"/>
          <p:nvPr/>
        </p:nvSpPr>
        <p:spPr>
          <a:xfrm>
            <a:off x="695325" y="6308725"/>
            <a:ext cx="10801350" cy="215444"/>
          </a:xfrm>
          <a:prstGeom prst="rect">
            <a:avLst/>
          </a:prstGeom>
          <a:noFill/>
        </p:spPr>
        <p:txBody>
          <a:bodyPr wrap="square" rtlCol="0">
            <a:spAutoFit/>
          </a:bodyPr>
          <a:lstStyle/>
          <a:p>
            <a:pPr marL="228600" indent="-228600">
              <a:buAutoNum type="arabicParenR"/>
            </a:pPr>
            <a:r>
              <a:rPr lang="en-US" altLang="ko-KR" sz="800" dirty="0"/>
              <a:t>Zheng, X., Lee, H., </a:t>
            </a:r>
            <a:r>
              <a:rPr lang="en-US" altLang="ko-KR" sz="800" dirty="0" err="1"/>
              <a:t>Weisgraber</a:t>
            </a:r>
            <a:r>
              <a:rPr lang="en-US" altLang="ko-KR" sz="800" dirty="0"/>
              <a:t>, T. H., </a:t>
            </a:r>
            <a:r>
              <a:rPr lang="en-US" altLang="ko-KR" sz="800" dirty="0" err="1"/>
              <a:t>Shusteff</a:t>
            </a:r>
            <a:r>
              <a:rPr lang="en-US" altLang="ko-KR" sz="800" dirty="0"/>
              <a:t>, M., </a:t>
            </a:r>
            <a:r>
              <a:rPr lang="en-US" altLang="ko-KR" sz="800" dirty="0" err="1"/>
              <a:t>DeOtte</a:t>
            </a:r>
            <a:r>
              <a:rPr lang="en-US" altLang="ko-KR" sz="800" dirty="0"/>
              <a:t>, J., </a:t>
            </a:r>
            <a:r>
              <a:rPr lang="en-US" altLang="ko-KR" sz="800" dirty="0" err="1"/>
              <a:t>Duoss</a:t>
            </a:r>
            <a:r>
              <a:rPr lang="en-US" altLang="ko-KR" sz="800" dirty="0"/>
              <a:t>, E. B., ... &amp; </a:t>
            </a:r>
            <a:r>
              <a:rPr lang="en-US" altLang="ko-KR" sz="800" dirty="0" err="1"/>
              <a:t>Spadaccini</a:t>
            </a:r>
            <a:r>
              <a:rPr lang="en-US" altLang="ko-KR" sz="800" dirty="0"/>
              <a:t>, C. M. (2014). Ultralight, </a:t>
            </a:r>
            <a:r>
              <a:rPr lang="en-US" altLang="ko-KR" sz="800" dirty="0" err="1"/>
              <a:t>ultrastiff</a:t>
            </a:r>
            <a:r>
              <a:rPr lang="en-US" altLang="ko-KR" sz="800" dirty="0"/>
              <a:t> mechanical metamaterials. Science, 344(6190), 1373-1377.</a:t>
            </a:r>
          </a:p>
        </p:txBody>
      </p:sp>
    </p:spTree>
    <p:extLst>
      <p:ext uri="{BB962C8B-B14F-4D97-AF65-F5344CB8AC3E}">
        <p14:creationId xmlns:p14="http://schemas.microsoft.com/office/powerpoint/2010/main" val="177251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Stiffness (E)-Based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3. Classification and Design Methods of Mechanical Metamaterials</a:t>
            </a:r>
            <a:endParaRPr lang="ko-KR" altLang="en-US" sz="1400" dirty="0"/>
          </a:p>
        </p:txBody>
      </p:sp>
      <p:sp>
        <p:nvSpPr>
          <p:cNvPr id="14" name="내용 개체 틀 7">
            <a:extLst>
              <a:ext uri="{FF2B5EF4-FFF2-40B4-BE49-F238E27FC236}">
                <a16:creationId xmlns:a16="http://schemas.microsoft.com/office/drawing/2014/main" id="{2164527A-ED91-4939-840D-684AFB8336AE}"/>
              </a:ext>
            </a:extLst>
          </p:cNvPr>
          <p:cNvSpPr txBox="1">
            <a:spLocks/>
          </p:cNvSpPr>
          <p:nvPr/>
        </p:nvSpPr>
        <p:spPr>
          <a:xfrm>
            <a:off x="695325" y="1275613"/>
            <a:ext cx="10801350" cy="2800254"/>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Chiral / anti-Chiral:</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Chiral structures can be formed in left-handed or right-handed versions, which are mirror images of each other but cannot be superimposed.</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unit cell of such a structure consists of a central cylinder functioning as a node, with multiple tangential ligaments attached around it in a rotationally symmetric arrangement.</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These unit cells can be divided into two systems: chiral and anti-chiral. If the nodes are arranged in the same direction (left-left or right-right), it is called a chiral structure; if they are arranged in opposite directions (left-right), it is called an anti-chiral system.</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Under compression, the node rotates and the ligaments bend inward, while under tension, they unfold, potentially exhibiting a negative Poisson’s ratio.</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Recent research on hexachiral and </a:t>
            </a:r>
            <a:r>
              <a:rPr lang="en-US" altLang="ko-KR" sz="1100" dirty="0" err="1">
                <a:solidFill>
                  <a:schemeClr val="tx1"/>
                </a:solidFill>
                <a:latin typeface="Noto Sans KR" panose="020B0200000000000000" pitchFamily="50" charset="-127"/>
                <a:ea typeface="Noto Sans KR" panose="020B0200000000000000" pitchFamily="50" charset="-127"/>
              </a:rPr>
              <a:t>tetrachiral</a:t>
            </a:r>
            <a:r>
              <a:rPr lang="en-US" altLang="ko-KR" sz="1100" dirty="0">
                <a:solidFill>
                  <a:schemeClr val="tx1"/>
                </a:solidFill>
                <a:latin typeface="Noto Sans KR" panose="020B0200000000000000" pitchFamily="50" charset="-127"/>
                <a:ea typeface="Noto Sans KR" panose="020B0200000000000000" pitchFamily="50" charset="-127"/>
              </a:rPr>
              <a:t> lattices is active, and these lattices can also be applied in acoustic metamaterials.</a:t>
            </a:r>
          </a:p>
        </p:txBody>
      </p:sp>
      <p:pic>
        <p:nvPicPr>
          <p:cNvPr id="3" name="그림 2">
            <a:extLst>
              <a:ext uri="{FF2B5EF4-FFF2-40B4-BE49-F238E27FC236}">
                <a16:creationId xmlns:a16="http://schemas.microsoft.com/office/drawing/2014/main" id="{853A1BDF-1D3A-4769-839B-383577FEE399}"/>
              </a:ext>
            </a:extLst>
          </p:cNvPr>
          <p:cNvPicPr>
            <a:picLocks noChangeAspect="1"/>
          </p:cNvPicPr>
          <p:nvPr/>
        </p:nvPicPr>
        <p:blipFill>
          <a:blip r:embed="rId2"/>
          <a:stretch>
            <a:fillRect/>
          </a:stretch>
        </p:blipFill>
        <p:spPr>
          <a:xfrm>
            <a:off x="2118758" y="4282164"/>
            <a:ext cx="2731802" cy="1871366"/>
          </a:xfrm>
          <a:prstGeom prst="rect">
            <a:avLst/>
          </a:prstGeom>
        </p:spPr>
      </p:pic>
      <p:pic>
        <p:nvPicPr>
          <p:cNvPr id="5" name="그림 4">
            <a:extLst>
              <a:ext uri="{FF2B5EF4-FFF2-40B4-BE49-F238E27FC236}">
                <a16:creationId xmlns:a16="http://schemas.microsoft.com/office/drawing/2014/main" id="{8DAB560A-D21C-4CFA-BD4B-A276E1399C36}"/>
              </a:ext>
            </a:extLst>
          </p:cNvPr>
          <p:cNvPicPr>
            <a:picLocks noChangeAspect="1"/>
          </p:cNvPicPr>
          <p:nvPr/>
        </p:nvPicPr>
        <p:blipFill>
          <a:blip r:embed="rId3"/>
          <a:stretch>
            <a:fillRect/>
          </a:stretch>
        </p:blipFill>
        <p:spPr>
          <a:xfrm>
            <a:off x="6868564" y="4282164"/>
            <a:ext cx="2977916" cy="1864859"/>
          </a:xfrm>
          <a:prstGeom prst="rect">
            <a:avLst/>
          </a:prstGeom>
        </p:spPr>
      </p:pic>
      <p:sp>
        <p:nvSpPr>
          <p:cNvPr id="9" name="TextBox 8">
            <a:extLst>
              <a:ext uri="{FF2B5EF4-FFF2-40B4-BE49-F238E27FC236}">
                <a16:creationId xmlns:a16="http://schemas.microsoft.com/office/drawing/2014/main" id="{717B5723-4133-491D-860D-0515ABFA8901}"/>
              </a:ext>
            </a:extLst>
          </p:cNvPr>
          <p:cNvSpPr txBox="1"/>
          <p:nvPr/>
        </p:nvSpPr>
        <p:spPr>
          <a:xfrm>
            <a:off x="695325" y="6308725"/>
            <a:ext cx="10801350" cy="215444"/>
          </a:xfrm>
          <a:prstGeom prst="rect">
            <a:avLst/>
          </a:prstGeom>
          <a:noFill/>
        </p:spPr>
        <p:txBody>
          <a:bodyPr wrap="square" rtlCol="0">
            <a:spAutoFit/>
          </a:bodyPr>
          <a:lstStyle/>
          <a:p>
            <a:r>
              <a:rPr lang="en-US" altLang="ko-KR" sz="800" dirty="0"/>
              <a:t>1) Yu, X., Zhou, J., Liang, H., Jiang, Z., &amp; Wu, L. (2018). Mechanical metamaterials associated with stiffness, rigidity and compressibility: A brief review. Progress in Materials Science, 94, 114-173.</a:t>
            </a:r>
            <a:endParaRPr lang="ko-KR" altLang="en-US" sz="800" dirty="0"/>
          </a:p>
        </p:txBody>
      </p:sp>
    </p:spTree>
    <p:extLst>
      <p:ext uri="{BB962C8B-B14F-4D97-AF65-F5344CB8AC3E}">
        <p14:creationId xmlns:p14="http://schemas.microsoft.com/office/powerpoint/2010/main" val="1558226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Stiffness (E)-Based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3. Classification and Design Methods of Mechanical Metamaterials</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215444"/>
          </a:xfrm>
          <a:prstGeom prst="rect">
            <a:avLst/>
          </a:prstGeom>
          <a:noFill/>
        </p:spPr>
        <p:txBody>
          <a:bodyPr wrap="square" rtlCol="0">
            <a:spAutoFit/>
          </a:bodyPr>
          <a:lstStyle/>
          <a:p>
            <a:r>
              <a:rPr lang="en-US" altLang="ko-KR" sz="800" dirty="0"/>
              <a:t>1) Yu, X., Zhou, J., Liang, H., Jiang, Z., &amp; Wu, L. (2018). Mechanical metamaterials associated with stiffness, rigidity and compressibility: A brief review. Progress in Materials Science, 94, 114-173.</a:t>
            </a:r>
            <a:endParaRPr lang="ko-KR" altLang="en-US" sz="800" dirty="0"/>
          </a:p>
        </p:txBody>
      </p:sp>
      <p:sp>
        <p:nvSpPr>
          <p:cNvPr id="9" name="내용 개체 틀 7">
            <a:extLst>
              <a:ext uri="{FF2B5EF4-FFF2-40B4-BE49-F238E27FC236}">
                <a16:creationId xmlns:a16="http://schemas.microsoft.com/office/drawing/2014/main" id="{AA1AC088-5992-4A82-86F7-23DBAF3F966D}"/>
              </a:ext>
            </a:extLst>
          </p:cNvPr>
          <p:cNvSpPr txBox="1">
            <a:spLocks/>
          </p:cNvSpPr>
          <p:nvPr/>
        </p:nvSpPr>
        <p:spPr>
          <a:xfrm>
            <a:off x="695325" y="1275613"/>
            <a:ext cx="10801350" cy="2875146"/>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Origami structure: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Origami metamaterials incorporate predetermined crease lines into thin materials, enabling them to be folded or unfolded in specific ways to endow unique functionalities. These structures are lightweight and can exhibit large variations in elastic energy through folding, often possessing multiple stable states.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Miura-Ori patterns were originally devised to achieve negative Poisson’s ratio. Each unit cell is a parallelogram, allowing the pattern to fold almost flat and minimize volume, then fully unfold at once.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Ron Resch patterns, on the other hand, employ non-periodic and intricately arranged folds that leverage cooperative deformations among unit cells. Under external force, the structure may fold continuously into a highly complex shape or collapse toward a near-flat configuration.</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related approach is </a:t>
            </a:r>
            <a:r>
              <a:rPr lang="en-US" altLang="ko-KR" sz="1100" dirty="0" err="1">
                <a:solidFill>
                  <a:schemeClr val="tx1"/>
                </a:solidFill>
                <a:latin typeface="Noto Sans KR" panose="020B0200000000000000" pitchFamily="50" charset="-127"/>
                <a:ea typeface="Noto Sans KR" panose="020B0200000000000000" pitchFamily="50" charset="-127"/>
              </a:rPr>
              <a:t>Kirigami</a:t>
            </a:r>
            <a:r>
              <a:rPr lang="en-US" altLang="ko-KR" sz="1100" dirty="0">
                <a:solidFill>
                  <a:schemeClr val="tx1"/>
                </a:solidFill>
                <a:latin typeface="Noto Sans KR" panose="020B0200000000000000" pitchFamily="50" charset="-127"/>
                <a:ea typeface="Noto Sans KR" panose="020B0200000000000000" pitchFamily="50" charset="-127"/>
              </a:rPr>
              <a:t>, which not only folds the material but also cuts it, creating shapes determined by the placement of cuts and the resulting expansions and contractions. This approach can achieve more complex deformations than Origami alone.</a:t>
            </a:r>
            <a:r>
              <a:rPr lang="ko-KR" altLang="en-US" sz="1100" dirty="0">
                <a:solidFill>
                  <a:schemeClr val="tx1"/>
                </a:solidFill>
                <a:latin typeface="Noto Sans KR" panose="020B0200000000000000" pitchFamily="50" charset="-127"/>
                <a:ea typeface="Noto Sans KR" panose="020B0200000000000000" pitchFamily="50" charset="-127"/>
              </a:rPr>
              <a:t> </a:t>
            </a:r>
            <a:endParaRPr lang="en-US" altLang="ko-KR" sz="1100" dirty="0">
              <a:solidFill>
                <a:schemeClr val="tx1"/>
              </a:solidFill>
              <a:latin typeface="Noto Sans KR" panose="020B0200000000000000" pitchFamily="50" charset="-127"/>
              <a:ea typeface="Noto Sans KR" panose="020B0200000000000000" pitchFamily="50" charset="-127"/>
            </a:endParaRPr>
          </a:p>
        </p:txBody>
      </p:sp>
      <p:pic>
        <p:nvPicPr>
          <p:cNvPr id="3" name="그림 2">
            <a:extLst>
              <a:ext uri="{FF2B5EF4-FFF2-40B4-BE49-F238E27FC236}">
                <a16:creationId xmlns:a16="http://schemas.microsoft.com/office/drawing/2014/main" id="{A92187A7-A165-4B3B-81F9-9686D1351F47}"/>
              </a:ext>
            </a:extLst>
          </p:cNvPr>
          <p:cNvPicPr>
            <a:picLocks noChangeAspect="1"/>
          </p:cNvPicPr>
          <p:nvPr/>
        </p:nvPicPr>
        <p:blipFill>
          <a:blip r:embed="rId2"/>
          <a:stretch>
            <a:fillRect/>
          </a:stretch>
        </p:blipFill>
        <p:spPr>
          <a:xfrm>
            <a:off x="2272999" y="4353892"/>
            <a:ext cx="3201290" cy="1597537"/>
          </a:xfrm>
          <a:prstGeom prst="rect">
            <a:avLst/>
          </a:prstGeom>
        </p:spPr>
      </p:pic>
      <p:pic>
        <p:nvPicPr>
          <p:cNvPr id="6" name="그림 5">
            <a:extLst>
              <a:ext uri="{FF2B5EF4-FFF2-40B4-BE49-F238E27FC236}">
                <a16:creationId xmlns:a16="http://schemas.microsoft.com/office/drawing/2014/main" id="{BBBEE598-8AE4-47B9-B636-BEB504423AFA}"/>
              </a:ext>
            </a:extLst>
          </p:cNvPr>
          <p:cNvPicPr>
            <a:picLocks noChangeAspect="1"/>
          </p:cNvPicPr>
          <p:nvPr/>
        </p:nvPicPr>
        <p:blipFill>
          <a:blip r:embed="rId3"/>
          <a:stretch>
            <a:fillRect/>
          </a:stretch>
        </p:blipFill>
        <p:spPr>
          <a:xfrm>
            <a:off x="6232803" y="4353892"/>
            <a:ext cx="3438037" cy="1622804"/>
          </a:xfrm>
          <a:prstGeom prst="rect">
            <a:avLst/>
          </a:prstGeom>
        </p:spPr>
      </p:pic>
    </p:spTree>
    <p:extLst>
      <p:ext uri="{BB962C8B-B14F-4D97-AF65-F5344CB8AC3E}">
        <p14:creationId xmlns:p14="http://schemas.microsoft.com/office/powerpoint/2010/main" val="1362276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Stiffness (E)-Based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3. Classification and Design Methods of Mechanical Metamaterials</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461665"/>
          </a:xfrm>
          <a:prstGeom prst="rect">
            <a:avLst/>
          </a:prstGeom>
          <a:noFill/>
        </p:spPr>
        <p:txBody>
          <a:bodyPr wrap="square" rtlCol="0">
            <a:spAutoFit/>
          </a:bodyPr>
          <a:lstStyle/>
          <a:p>
            <a:pPr marL="228600" indent="-228600">
              <a:buAutoNum type="arabicParenR"/>
            </a:pPr>
            <a:r>
              <a:rPr lang="en-US" altLang="ko-KR" sz="800" dirty="0"/>
              <a:t>Bertoldi K, Reis PM, </a:t>
            </a:r>
            <a:r>
              <a:rPr lang="en-US" altLang="ko-KR" sz="800" dirty="0" err="1"/>
              <a:t>Willshaw</a:t>
            </a:r>
            <a:r>
              <a:rPr lang="en-US" altLang="ko-KR" sz="800" dirty="0"/>
              <a:t> S, Mullin T. Negative Poisson’s ratio behavior induced by an elastic instability. Adv Mater 2010;22:361–6.</a:t>
            </a:r>
          </a:p>
          <a:p>
            <a:pPr marL="228600" indent="-228600">
              <a:buAutoNum type="arabicParenR"/>
            </a:pPr>
            <a:r>
              <a:rPr lang="en-US" altLang="ko-KR" sz="800" dirty="0"/>
              <a:t>MULLIN, Tom, et al. Pattern transformation triggered by deformation. Physical review letters, 2007, 99.8: 084301.</a:t>
            </a:r>
          </a:p>
          <a:p>
            <a:pPr marL="228600" indent="-228600">
              <a:buAutoNum type="arabicParenR"/>
            </a:pPr>
            <a:endParaRPr lang="ko-KR" altLang="en-US" sz="800" dirty="0"/>
          </a:p>
        </p:txBody>
      </p:sp>
      <p:sp>
        <p:nvSpPr>
          <p:cNvPr id="14" name="내용 개체 틀 7">
            <a:extLst>
              <a:ext uri="{FF2B5EF4-FFF2-40B4-BE49-F238E27FC236}">
                <a16:creationId xmlns:a16="http://schemas.microsoft.com/office/drawing/2014/main" id="{2164527A-ED91-4939-840D-684AFB8336AE}"/>
              </a:ext>
            </a:extLst>
          </p:cNvPr>
          <p:cNvSpPr txBox="1">
            <a:spLocks/>
          </p:cNvSpPr>
          <p:nvPr/>
        </p:nvSpPr>
        <p:spPr>
          <a:xfrm>
            <a:off x="695325" y="1245815"/>
            <a:ext cx="10801350" cy="3003386"/>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Pattern Transform:</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structure featuring a specific hole pattern can exhibit adjustable stiffness when deformed. Once the material undergoes a certain level of compressive strain, the stress–strain behavior changes abruptly in a phase transition. Multiple cells collectively buckle, rearranging themselves to form a new structural topology.</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outcome depends on the shape (e.g., circular vs. elliptical) and arrangement (e.g., square vs. triangular lattice) of the holes, which determine the onset and nature of the instability.</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Two representative patterns are the holy sheet and the </a:t>
            </a:r>
            <a:r>
              <a:rPr lang="en-US" altLang="ko-KR" sz="1100" dirty="0" err="1">
                <a:solidFill>
                  <a:schemeClr val="tx1"/>
                </a:solidFill>
                <a:latin typeface="Noto Sans KR" panose="020B0200000000000000" pitchFamily="50" charset="-127"/>
                <a:ea typeface="Noto Sans KR" panose="020B0200000000000000" pitchFamily="50" charset="-127"/>
              </a:rPr>
              <a:t>biholar</a:t>
            </a:r>
            <a:r>
              <a:rPr lang="en-US" altLang="ko-KR" sz="1100" dirty="0">
                <a:solidFill>
                  <a:schemeClr val="tx1"/>
                </a:solidFill>
                <a:latin typeface="Noto Sans KR" panose="020B0200000000000000" pitchFamily="50" charset="-127"/>
                <a:ea typeface="Noto Sans KR" panose="020B0200000000000000" pitchFamily="50" charset="-127"/>
              </a:rPr>
              <a:t> sheet.</a:t>
            </a:r>
          </a:p>
          <a:p>
            <a:pPr lvl="2">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holy sheet is a 2D elastic sheet with uniformly sized holes arranged in a regular pattern, transforming under compression as the holes deform into ellipses.</a:t>
            </a:r>
          </a:p>
          <a:p>
            <a:pPr lvl="2">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Meanwhile, the </a:t>
            </a:r>
            <a:r>
              <a:rPr lang="en-US" altLang="ko-KR" sz="1100" dirty="0" err="1">
                <a:solidFill>
                  <a:schemeClr val="tx1"/>
                </a:solidFill>
                <a:latin typeface="Noto Sans KR" panose="020B0200000000000000" pitchFamily="50" charset="-127"/>
                <a:ea typeface="Noto Sans KR" panose="020B0200000000000000" pitchFamily="50" charset="-127"/>
              </a:rPr>
              <a:t>biholar</a:t>
            </a:r>
            <a:r>
              <a:rPr lang="en-US" altLang="ko-KR" sz="1100" dirty="0">
                <a:solidFill>
                  <a:schemeClr val="tx1"/>
                </a:solidFill>
                <a:latin typeface="Noto Sans KR" panose="020B0200000000000000" pitchFamily="50" charset="-127"/>
                <a:ea typeface="Noto Sans KR" panose="020B0200000000000000" pitchFamily="50" charset="-127"/>
              </a:rPr>
              <a:t> sheet has two differently sized circular holes, leading to more complex rotations and twists. This design can be “programmed” to achieve specific deformation behaviors if desired.</a:t>
            </a:r>
          </a:p>
        </p:txBody>
      </p:sp>
      <p:pic>
        <p:nvPicPr>
          <p:cNvPr id="3" name="그림 2">
            <a:extLst>
              <a:ext uri="{FF2B5EF4-FFF2-40B4-BE49-F238E27FC236}">
                <a16:creationId xmlns:a16="http://schemas.microsoft.com/office/drawing/2014/main" id="{48031DE1-65CA-4BE2-A7F0-7009A694FAAF}"/>
              </a:ext>
            </a:extLst>
          </p:cNvPr>
          <p:cNvPicPr>
            <a:picLocks noChangeAspect="1"/>
          </p:cNvPicPr>
          <p:nvPr/>
        </p:nvPicPr>
        <p:blipFill>
          <a:blip r:embed="rId2"/>
          <a:stretch>
            <a:fillRect/>
          </a:stretch>
        </p:blipFill>
        <p:spPr>
          <a:xfrm>
            <a:off x="2584391" y="4289882"/>
            <a:ext cx="7023217" cy="1808700"/>
          </a:xfrm>
          <a:prstGeom prst="rect">
            <a:avLst/>
          </a:prstGeom>
        </p:spPr>
      </p:pic>
    </p:spTree>
    <p:extLst>
      <p:ext uri="{BB962C8B-B14F-4D97-AF65-F5344CB8AC3E}">
        <p14:creationId xmlns:p14="http://schemas.microsoft.com/office/powerpoint/2010/main" val="152312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Poisson’s ratio(</a:t>
            </a:r>
            <a:r>
              <a:rPr lang="ko-KR" altLang="en-US" dirty="0"/>
              <a:t>𝑣</a:t>
            </a:r>
            <a:r>
              <a:rPr lang="en-US" altLang="ko-KR" dirty="0"/>
              <a:t>) - Based Metamaterials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3. Classification and Design Methods of Mechanical Metamaterials</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338554"/>
          </a:xfrm>
          <a:prstGeom prst="rect">
            <a:avLst/>
          </a:prstGeom>
          <a:noFill/>
        </p:spPr>
        <p:txBody>
          <a:bodyPr wrap="square" rtlCol="0">
            <a:spAutoFit/>
          </a:bodyPr>
          <a:lstStyle/>
          <a:p>
            <a:r>
              <a:rPr lang="en-US" altLang="ko-KR" sz="800" dirty="0"/>
              <a:t>1) WANG, Xin-Tao; LI, Xiao-Wen; MA, Li. Interlocking assembled 3D auxetic cellular structures. Materials &amp; Design, 2016, 99: 467-476. </a:t>
            </a:r>
          </a:p>
          <a:p>
            <a:r>
              <a:rPr lang="en-US" altLang="ko-KR" sz="800" dirty="0"/>
              <a:t>2) SOMAN, Pranav, et al. Spatial tuning of negative and positive Poisson’s ratio in a multi-layer scaffold. Acta </a:t>
            </a:r>
            <a:r>
              <a:rPr lang="en-US" altLang="ko-KR" sz="800" dirty="0" err="1"/>
              <a:t>biomaterialia</a:t>
            </a:r>
            <a:r>
              <a:rPr lang="en-US" altLang="ko-KR" sz="800" dirty="0"/>
              <a:t>, 2012, 8.7: 2587-2594.</a:t>
            </a:r>
            <a:endParaRPr lang="ko-KR" altLang="en-US" sz="800" dirty="0"/>
          </a:p>
        </p:txBody>
      </p:sp>
      <p:sp>
        <p:nvSpPr>
          <p:cNvPr id="9" name="내용 개체 틀 7">
            <a:extLst>
              <a:ext uri="{FF2B5EF4-FFF2-40B4-BE49-F238E27FC236}">
                <a16:creationId xmlns:a16="http://schemas.microsoft.com/office/drawing/2014/main" id="{7AA87760-60BE-4BB5-BECC-145D1C1EA8D5}"/>
              </a:ext>
            </a:extLst>
          </p:cNvPr>
          <p:cNvSpPr txBox="1">
            <a:spLocks/>
          </p:cNvSpPr>
          <p:nvPr/>
        </p:nvSpPr>
        <p:spPr>
          <a:xfrm>
            <a:off x="695325" y="1275613"/>
            <a:ext cx="10801350" cy="2137508"/>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Auxetic metamaterials: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term “Auxetic,” introduced by K.E. Evans, refers to materials with a negative Poisson’s ratio. Such materials can be categorized as either fully auxetic, having a Poisson’s ratio that is zero or negative in all directions, or partially auxetic, where the Poisson’s ratio can be positive or negative depending on the deformation direction.</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In partially auxetic structures, the crystal shape or structural inhomogeneity may result in direction-dependent Poisson’s ratios even within the same material.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Under an applied load or deformation, the Poisson’s ratio may switch from negative in one range to positive in another, allowing engineers to program the mechanical properties over a specified deformation window.</a:t>
            </a:r>
          </a:p>
        </p:txBody>
      </p:sp>
      <p:pic>
        <p:nvPicPr>
          <p:cNvPr id="3" name="그림 2">
            <a:extLst>
              <a:ext uri="{FF2B5EF4-FFF2-40B4-BE49-F238E27FC236}">
                <a16:creationId xmlns:a16="http://schemas.microsoft.com/office/drawing/2014/main" id="{F2B70E41-91D8-443B-A5CB-15EA895A2869}"/>
              </a:ext>
            </a:extLst>
          </p:cNvPr>
          <p:cNvPicPr>
            <a:picLocks noChangeAspect="1"/>
          </p:cNvPicPr>
          <p:nvPr/>
        </p:nvPicPr>
        <p:blipFill>
          <a:blip r:embed="rId2"/>
          <a:stretch>
            <a:fillRect/>
          </a:stretch>
        </p:blipFill>
        <p:spPr>
          <a:xfrm>
            <a:off x="6443482" y="3602262"/>
            <a:ext cx="3269748" cy="1614180"/>
          </a:xfrm>
          <a:prstGeom prst="rect">
            <a:avLst/>
          </a:prstGeom>
        </p:spPr>
      </p:pic>
      <p:pic>
        <p:nvPicPr>
          <p:cNvPr id="5" name="그림 4">
            <a:extLst>
              <a:ext uri="{FF2B5EF4-FFF2-40B4-BE49-F238E27FC236}">
                <a16:creationId xmlns:a16="http://schemas.microsoft.com/office/drawing/2014/main" id="{7B75E98B-CD76-4B16-A03E-4FC9490F5C26}"/>
              </a:ext>
            </a:extLst>
          </p:cNvPr>
          <p:cNvPicPr>
            <a:picLocks noChangeAspect="1"/>
          </p:cNvPicPr>
          <p:nvPr/>
        </p:nvPicPr>
        <p:blipFill>
          <a:blip r:embed="rId3"/>
          <a:stretch>
            <a:fillRect/>
          </a:stretch>
        </p:blipFill>
        <p:spPr>
          <a:xfrm>
            <a:off x="1836874" y="3602262"/>
            <a:ext cx="4142798" cy="1614180"/>
          </a:xfrm>
          <a:prstGeom prst="rect">
            <a:avLst/>
          </a:prstGeom>
        </p:spPr>
      </p:pic>
    </p:spTree>
    <p:extLst>
      <p:ext uri="{BB962C8B-B14F-4D97-AF65-F5344CB8AC3E}">
        <p14:creationId xmlns:p14="http://schemas.microsoft.com/office/powerpoint/2010/main" val="1101008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a:xfrm>
            <a:off x="4332802" y="2681275"/>
            <a:ext cx="3526395" cy="1608902"/>
          </a:xfrm>
        </p:spPr>
        <p:txBody>
          <a:bodyPr anchor="ctr">
            <a:normAutofit fontScale="77500" lnSpcReduction="20000"/>
          </a:bodyPr>
          <a:lstStyle/>
          <a:p>
            <a:pPr algn="ctr"/>
            <a:r>
              <a:rPr lang="en-US" altLang="ko-KR" sz="4400" dirty="0"/>
              <a:t>Metamaterial</a:t>
            </a:r>
          </a:p>
          <a:p>
            <a:pPr algn="ctr"/>
            <a:r>
              <a:rPr lang="en-US" altLang="ko-KR" sz="4400" dirty="0"/>
              <a:t>Applications</a:t>
            </a:r>
          </a:p>
          <a:p>
            <a:pPr algn="ctr"/>
            <a:r>
              <a:rPr lang="en-US" altLang="ko-KR" sz="4400" dirty="0"/>
              <a:t>in HCI</a:t>
            </a:r>
            <a:endParaRPr lang="ko-KR" altLang="en-US" sz="4400" dirty="0"/>
          </a:p>
        </p:txBody>
      </p:sp>
    </p:spTree>
    <p:extLst>
      <p:ext uri="{BB962C8B-B14F-4D97-AF65-F5344CB8AC3E}">
        <p14:creationId xmlns:p14="http://schemas.microsoft.com/office/powerpoint/2010/main" val="59240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Research Questions from a HCI Perspective</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4. Metamaterial Applications in HCI</a:t>
            </a:r>
            <a:endParaRPr lang="ko-KR" altLang="en-US" sz="14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851306"/>
            <a:ext cx="10757309" cy="2920529"/>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Research</a:t>
            </a:r>
            <a:r>
              <a:rPr lang="ko-KR" altLang="en-US" sz="1400" dirty="0">
                <a:solidFill>
                  <a:schemeClr val="tx1"/>
                </a:solidFill>
                <a:latin typeface="Noto Sans KR" panose="020B0200000000000000" pitchFamily="50" charset="-127"/>
                <a:ea typeface="Noto Sans KR" panose="020B0200000000000000" pitchFamily="50" charset="-127"/>
              </a:rPr>
              <a:t> </a:t>
            </a:r>
            <a:r>
              <a:rPr lang="en-US" altLang="ko-KR" sz="1400" dirty="0">
                <a:solidFill>
                  <a:schemeClr val="tx1"/>
                </a:solidFill>
                <a:latin typeface="Noto Sans KR" panose="020B0200000000000000" pitchFamily="50" charset="-127"/>
                <a:ea typeface="Noto Sans KR" panose="020B0200000000000000" pitchFamily="50" charset="-127"/>
              </a:rPr>
              <a:t>Question </a:t>
            </a:r>
            <a:r>
              <a:rPr lang="en-US" altLang="ko-KR" dirty="0">
                <a:solidFill>
                  <a:schemeClr val="tx1"/>
                </a:solidFill>
                <a:latin typeface="Noto Sans KR" panose="020B0200000000000000" pitchFamily="50" charset="-127"/>
                <a:ea typeface="Noto Sans KR" panose="020B0200000000000000" pitchFamily="50" charset="-127"/>
              </a:rPr>
              <a:t>:</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How can we leverage the reconfigurable nature of mechanical metamaterials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Can mechanical metamaterial structures be combined with sensor modules to accurately detect forces, contact points, or wear states, thus enabling next-generation HCI devices with enhanced sensing capabilities?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How can we harness the unique balance of flexibility (e.g., through negative Poisson’s ratio) and high stiffness in mechanical metamaterials to create wearable HCI devices that are both comfortable and durable?</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If mechanical metamaterials can dynamically adjust their stiffness or structural patterns in real time, how can we integrate these adaptive features into interaction scenarios to provide more personalized user experiences?</a:t>
            </a:r>
            <a:br>
              <a:rPr lang="en-US" altLang="ko-KR" sz="800" dirty="0">
                <a:solidFill>
                  <a:schemeClr val="tx1"/>
                </a:solidFill>
                <a:latin typeface="Noto Sans KR" panose="020B0200000000000000" pitchFamily="50" charset="-127"/>
                <a:ea typeface="Noto Sans KR" panose="020B0200000000000000" pitchFamily="50" charset="-127"/>
              </a:rPr>
            </a:b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180735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Significance of Metamaterials in Human-Computer Interaction</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4. Metamaterial Applications in HCI</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338554"/>
          </a:xfrm>
          <a:prstGeom prst="rect">
            <a:avLst/>
          </a:prstGeom>
          <a:noFill/>
        </p:spPr>
        <p:txBody>
          <a:bodyPr wrap="square" rtlCol="0">
            <a:spAutoFit/>
          </a:bodyPr>
          <a:lstStyle/>
          <a:p>
            <a:r>
              <a:rPr lang="en-US" altLang="ko-KR" sz="800" dirty="0"/>
              <a:t>1) Ion, A., Kovacs, R., Schneider, O. S., Lopes, P., &amp; </a:t>
            </a:r>
            <a:r>
              <a:rPr lang="en-US" altLang="ko-KR" sz="800" dirty="0" err="1"/>
              <a:t>Baudisch</a:t>
            </a:r>
            <a:r>
              <a:rPr lang="en-US" altLang="ko-KR" sz="800" dirty="0"/>
              <a:t>, P. (2018, April). Metamaterial textures. In Proceedings of the 2018 CHI conference on human factors in computing systems (pp. 1-12).</a:t>
            </a:r>
          </a:p>
          <a:p>
            <a:r>
              <a:rPr lang="en-US" altLang="ko-KR" sz="800" dirty="0"/>
              <a:t>2) D. Wang, C. Jiang and G. Gu, "Modeling and Design of Lattice-Reinforced Pneumatic Soft Robots," in IEEE Transactions on Robotics, vol. 40, pp. 606-623, 2024.</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164944"/>
            <a:ext cx="5400675" cy="2068762"/>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Shape-changing UI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Conventional HCI has mainly provided interactions by modifying displays and digital visual information.</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By using metamaterials, the actual physical material or surface itself can be deformed, expanding the range of interactions (e.g., tactile feedback, adjustable grip).</a:t>
            </a:r>
            <a:br>
              <a:rPr lang="en-US" altLang="ko-KR" sz="800" dirty="0">
                <a:solidFill>
                  <a:schemeClr val="tx1"/>
                </a:solidFill>
                <a:latin typeface="Noto Sans KR" panose="020B0200000000000000" pitchFamily="50" charset="-127"/>
                <a:ea typeface="Noto Sans KR" panose="020B0200000000000000" pitchFamily="50" charset="-127"/>
              </a:rPr>
            </a:b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sp>
        <p:nvSpPr>
          <p:cNvPr id="9" name="내용 개체 틀 7">
            <a:extLst>
              <a:ext uri="{FF2B5EF4-FFF2-40B4-BE49-F238E27FC236}">
                <a16:creationId xmlns:a16="http://schemas.microsoft.com/office/drawing/2014/main" id="{59D5B712-9FA7-4931-A5FB-7D2754DF370B}"/>
              </a:ext>
            </a:extLst>
          </p:cNvPr>
          <p:cNvSpPr txBox="1">
            <a:spLocks/>
          </p:cNvSpPr>
          <p:nvPr/>
        </p:nvSpPr>
        <p:spPr>
          <a:xfrm>
            <a:off x="695325" y="3429000"/>
            <a:ext cx="5400676" cy="2068762"/>
          </a:xfrm>
          <a:prstGeom prst="rect">
            <a:avLst/>
          </a:prstGeom>
        </p:spPr>
        <p:txBody>
          <a:bodyPr vert="horz" lIns="91440" tIns="45720" rIns="91440" bIns="45720" rtlCol="0">
            <a:norm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Soft Robotics, Wearable Device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Can be applied in controlling compression or support levels in wearable devices, and in implementing foldable robotic joints.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Using specific metamaterial structures, it is possible to design stable yet flexible housings or sensor–actuator integrated systems.</a:t>
            </a: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5" name="그림 4">
            <a:extLst>
              <a:ext uri="{FF2B5EF4-FFF2-40B4-BE49-F238E27FC236}">
                <a16:creationId xmlns:a16="http://schemas.microsoft.com/office/drawing/2014/main" id="{C2F2FFEE-8F15-487E-B84A-61723580D110}"/>
              </a:ext>
            </a:extLst>
          </p:cNvPr>
          <p:cNvPicPr>
            <a:picLocks noChangeAspect="1"/>
          </p:cNvPicPr>
          <p:nvPr/>
        </p:nvPicPr>
        <p:blipFill>
          <a:blip r:embed="rId2"/>
          <a:stretch>
            <a:fillRect/>
          </a:stretch>
        </p:blipFill>
        <p:spPr>
          <a:xfrm>
            <a:off x="6096000" y="3879814"/>
            <a:ext cx="4111451" cy="1648387"/>
          </a:xfrm>
          <a:prstGeom prst="rect">
            <a:avLst/>
          </a:prstGeom>
        </p:spPr>
      </p:pic>
      <p:pic>
        <p:nvPicPr>
          <p:cNvPr id="8" name="그림 7">
            <a:extLst>
              <a:ext uri="{FF2B5EF4-FFF2-40B4-BE49-F238E27FC236}">
                <a16:creationId xmlns:a16="http://schemas.microsoft.com/office/drawing/2014/main" id="{0A11D7F5-9C05-45F8-92BB-3A0ADD5560BE}"/>
              </a:ext>
            </a:extLst>
          </p:cNvPr>
          <p:cNvPicPr>
            <a:picLocks noChangeAspect="1"/>
          </p:cNvPicPr>
          <p:nvPr/>
        </p:nvPicPr>
        <p:blipFill>
          <a:blip r:embed="rId3"/>
          <a:stretch>
            <a:fillRect/>
          </a:stretch>
        </p:blipFill>
        <p:spPr>
          <a:xfrm>
            <a:off x="7550797" y="1158874"/>
            <a:ext cx="3410473" cy="2215984"/>
          </a:xfrm>
          <a:prstGeom prst="rect">
            <a:avLst/>
          </a:prstGeom>
        </p:spPr>
      </p:pic>
      <p:pic>
        <p:nvPicPr>
          <p:cNvPr id="3" name="그림 2">
            <a:extLst>
              <a:ext uri="{FF2B5EF4-FFF2-40B4-BE49-F238E27FC236}">
                <a16:creationId xmlns:a16="http://schemas.microsoft.com/office/drawing/2014/main" id="{9A8AF121-7FA3-402A-9DBC-9AE71A52CB2D}"/>
              </a:ext>
            </a:extLst>
          </p:cNvPr>
          <p:cNvPicPr>
            <a:picLocks noChangeAspect="1"/>
          </p:cNvPicPr>
          <p:nvPr/>
        </p:nvPicPr>
        <p:blipFill>
          <a:blip r:embed="rId4"/>
          <a:stretch>
            <a:fillRect/>
          </a:stretch>
        </p:blipFill>
        <p:spPr>
          <a:xfrm>
            <a:off x="10214926" y="3879814"/>
            <a:ext cx="1281749" cy="1666272"/>
          </a:xfrm>
          <a:prstGeom prst="rect">
            <a:avLst/>
          </a:prstGeom>
        </p:spPr>
      </p:pic>
    </p:spTree>
    <p:extLst>
      <p:ext uri="{BB962C8B-B14F-4D97-AF65-F5344CB8AC3E}">
        <p14:creationId xmlns:p14="http://schemas.microsoft.com/office/powerpoint/2010/main" val="223059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Related works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4. Metamaterial Applications in HCI</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215444"/>
          </a:xfrm>
          <a:prstGeom prst="rect">
            <a:avLst/>
          </a:prstGeom>
          <a:noFill/>
        </p:spPr>
        <p:txBody>
          <a:bodyPr wrap="square" rtlCol="0">
            <a:spAutoFit/>
          </a:bodyPr>
          <a:lstStyle/>
          <a:p>
            <a:r>
              <a:rPr lang="en-US" altLang="ko-KR" sz="800" dirty="0"/>
              <a:t>1) Ion, A., Wall, L., Kovacs, R., &amp; </a:t>
            </a:r>
            <a:r>
              <a:rPr lang="en-US" altLang="ko-KR" sz="800" dirty="0" err="1"/>
              <a:t>Baudisch</a:t>
            </a:r>
            <a:r>
              <a:rPr lang="en-US" altLang="ko-KR" sz="800" dirty="0"/>
              <a:t>, P. (2017, May). Digital mechanical metamaterials. In Proceedings of the 2017 CHI Conference on Human Factors in Computing Systems (pp. 977-988).</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158874"/>
            <a:ext cx="5456093" cy="3454087"/>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Digital Mechanical Metamaterials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Author</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Alexandra Ion, Ludwig Wall, Robert Kovacs, and Patrick </a:t>
            </a:r>
            <a:r>
              <a:rPr lang="en-US" altLang="ko-KR" sz="1100" dirty="0" err="1">
                <a:solidFill>
                  <a:schemeClr val="tx1"/>
                </a:solidFill>
                <a:latin typeface="Noto Sans KR" panose="020B0200000000000000" pitchFamily="50" charset="-127"/>
                <a:ea typeface="Noto Sans KR" panose="020B0200000000000000" pitchFamily="50" charset="-127"/>
              </a:rPr>
              <a:t>Baudisch</a:t>
            </a:r>
            <a:r>
              <a:rPr lang="en-US" altLang="ko-KR" sz="1100" dirty="0">
                <a:solidFill>
                  <a:schemeClr val="tx1"/>
                </a:solidFill>
                <a:latin typeface="Noto Sans KR" panose="020B0200000000000000" pitchFamily="50" charset="-127"/>
                <a:ea typeface="Noto Sans KR" panose="020B0200000000000000" pitchFamily="50" charset="-127"/>
              </a:rPr>
              <a:t>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Conference </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CHI</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2017</a:t>
            </a:r>
            <a:endParaRPr lang="en-US" altLang="ko-KR" sz="8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Design : The cell is designed as a bit cell that can maintain two discrete states, and chaining multiple such cells together allows them to function as a logic circuit.</a:t>
            </a: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r>
              <a:rPr lang="en-US" altLang="ko-KR" sz="1100" dirty="0">
                <a:solidFill>
                  <a:schemeClr val="tx1"/>
                </a:solidFill>
                <a:latin typeface="Noto Sans KR" panose="020B0200000000000000" pitchFamily="50" charset="-127"/>
                <a:ea typeface="Noto Sans KR" panose="020B0200000000000000" pitchFamily="50" charset="-127"/>
              </a:rPr>
              <a:t>Application : This study broadens the applications of 3D-printed objects by enabling the creation of fully mechanical systems with computational capabilities in environments where electronic components are either impractical or undesirable.</a:t>
            </a:r>
            <a:br>
              <a:rPr lang="en-US" altLang="ko-KR" sz="800" dirty="0">
                <a:solidFill>
                  <a:schemeClr val="tx1"/>
                </a:solidFill>
                <a:latin typeface="Noto Sans KR" panose="020B0200000000000000" pitchFamily="50" charset="-127"/>
                <a:ea typeface="Noto Sans KR" panose="020B0200000000000000" pitchFamily="50" charset="-127"/>
              </a:rPr>
            </a:b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2" name="온라인 미디어 1" title="Digital Mechanical Metamaterials">
            <a:hlinkClick r:id="" action="ppaction://media"/>
            <a:extLst>
              <a:ext uri="{FF2B5EF4-FFF2-40B4-BE49-F238E27FC236}">
                <a16:creationId xmlns:a16="http://schemas.microsoft.com/office/drawing/2014/main" id="{A4A882F3-595B-4E97-81DD-178FBF7CC96A}"/>
              </a:ext>
            </a:extLst>
          </p:cNvPr>
          <p:cNvPicPr>
            <a:picLocks noRot="1" noChangeAspect="1"/>
          </p:cNvPicPr>
          <p:nvPr>
            <a:videoFile r:link="rId1"/>
          </p:nvPr>
        </p:nvPicPr>
        <p:blipFill>
          <a:blip r:embed="rId3"/>
          <a:stretch>
            <a:fillRect/>
          </a:stretch>
        </p:blipFill>
        <p:spPr>
          <a:xfrm>
            <a:off x="7084254" y="1324022"/>
            <a:ext cx="3446055" cy="1947021"/>
          </a:xfrm>
          <a:prstGeom prst="rect">
            <a:avLst/>
          </a:prstGeom>
        </p:spPr>
      </p:pic>
      <p:pic>
        <p:nvPicPr>
          <p:cNvPr id="5" name="그림 4">
            <a:extLst>
              <a:ext uri="{FF2B5EF4-FFF2-40B4-BE49-F238E27FC236}">
                <a16:creationId xmlns:a16="http://schemas.microsoft.com/office/drawing/2014/main" id="{727A21F5-A243-4A47-9878-7EF73145E76F}"/>
              </a:ext>
            </a:extLst>
          </p:cNvPr>
          <p:cNvPicPr>
            <a:picLocks noChangeAspect="1"/>
          </p:cNvPicPr>
          <p:nvPr/>
        </p:nvPicPr>
        <p:blipFill>
          <a:blip r:embed="rId4"/>
          <a:stretch>
            <a:fillRect/>
          </a:stretch>
        </p:blipFill>
        <p:spPr>
          <a:xfrm>
            <a:off x="7438294" y="3354052"/>
            <a:ext cx="2822754" cy="2871663"/>
          </a:xfrm>
          <a:prstGeom prst="rect">
            <a:avLst/>
          </a:prstGeom>
        </p:spPr>
      </p:pic>
    </p:spTree>
    <p:extLst>
      <p:ext uri="{BB962C8B-B14F-4D97-AF65-F5344CB8AC3E}">
        <p14:creationId xmlns:p14="http://schemas.microsoft.com/office/powerpoint/2010/main" val="69005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Related works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4. Metamaterial Applications in HCI</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338554"/>
          </a:xfrm>
          <a:prstGeom prst="rect">
            <a:avLst/>
          </a:prstGeom>
          <a:noFill/>
        </p:spPr>
        <p:txBody>
          <a:bodyPr wrap="square" rtlCol="0">
            <a:spAutoFit/>
          </a:bodyPr>
          <a:lstStyle/>
          <a:p>
            <a:r>
              <a:rPr lang="en-US" altLang="ko-KR" sz="800" dirty="0"/>
              <a:t>1) Gong, J., </a:t>
            </a:r>
            <a:r>
              <a:rPr lang="en-US" altLang="ko-KR" sz="800" dirty="0" err="1"/>
              <a:t>Seow</a:t>
            </a:r>
            <a:r>
              <a:rPr lang="en-US" altLang="ko-KR" sz="800" dirty="0"/>
              <a:t>, O., </a:t>
            </a:r>
            <a:r>
              <a:rPr lang="en-US" altLang="ko-KR" sz="800" dirty="0" err="1"/>
              <a:t>Honnet</a:t>
            </a:r>
            <a:r>
              <a:rPr lang="en-US" altLang="ko-KR" sz="800" dirty="0"/>
              <a:t>, C., Forman, J., &amp; Mueller, S. (2021, October). </a:t>
            </a:r>
            <a:r>
              <a:rPr lang="en-US" altLang="ko-KR" sz="800" dirty="0" err="1"/>
              <a:t>MetaSense</a:t>
            </a:r>
            <a:r>
              <a:rPr lang="en-US" altLang="ko-KR" sz="800" dirty="0"/>
              <a:t>: Integrating sensing capabilities into mechanical metamaterial. In The 34th annual ACM symposium on user interface software and technology (pp. 1063-1073).</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158874"/>
            <a:ext cx="5456093" cy="3564887"/>
          </a:xfrm>
          <a:prstGeom prst="rect">
            <a:avLst/>
          </a:prstGeom>
        </p:spPr>
        <p:txBody>
          <a:bodyPr vert="horz"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err="1">
                <a:solidFill>
                  <a:schemeClr val="tx1"/>
                </a:solidFill>
                <a:latin typeface="Noto Sans KR" panose="020B0200000000000000" pitchFamily="50" charset="-127"/>
                <a:ea typeface="Noto Sans KR" panose="020B0200000000000000" pitchFamily="50" charset="-127"/>
              </a:rPr>
              <a:t>MetaSense</a:t>
            </a:r>
            <a:r>
              <a:rPr lang="en-US" altLang="ko-KR" sz="1400" dirty="0">
                <a:solidFill>
                  <a:schemeClr val="tx1"/>
                </a:solidFill>
                <a:latin typeface="Noto Sans KR" panose="020B0200000000000000" pitchFamily="50" charset="-127"/>
                <a:ea typeface="Noto Sans KR" panose="020B0200000000000000" pitchFamily="50" charset="-127"/>
              </a:rPr>
              <a:t>: Integrating Sensing Capabilities into Mechanical Metamaterial:</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Author</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Gong, J., </a:t>
            </a:r>
            <a:r>
              <a:rPr lang="en-US" altLang="ko-KR" sz="1100" dirty="0" err="1">
                <a:solidFill>
                  <a:schemeClr val="tx1"/>
                </a:solidFill>
                <a:latin typeface="Noto Sans KR" panose="020B0200000000000000" pitchFamily="50" charset="-127"/>
                <a:ea typeface="Noto Sans KR" panose="020B0200000000000000" pitchFamily="50" charset="-127"/>
              </a:rPr>
              <a:t>Seow</a:t>
            </a:r>
            <a:r>
              <a:rPr lang="en-US" altLang="ko-KR" sz="1100" dirty="0">
                <a:solidFill>
                  <a:schemeClr val="tx1"/>
                </a:solidFill>
                <a:latin typeface="Noto Sans KR" panose="020B0200000000000000" pitchFamily="50" charset="-127"/>
                <a:ea typeface="Noto Sans KR" panose="020B0200000000000000" pitchFamily="50" charset="-127"/>
              </a:rPr>
              <a:t>, O., </a:t>
            </a:r>
            <a:r>
              <a:rPr lang="en-US" altLang="ko-KR" sz="1100" dirty="0" err="1">
                <a:solidFill>
                  <a:schemeClr val="tx1"/>
                </a:solidFill>
                <a:latin typeface="Noto Sans KR" panose="020B0200000000000000" pitchFamily="50" charset="-127"/>
                <a:ea typeface="Noto Sans KR" panose="020B0200000000000000" pitchFamily="50" charset="-127"/>
              </a:rPr>
              <a:t>Honnet</a:t>
            </a:r>
            <a:r>
              <a:rPr lang="en-US" altLang="ko-KR" sz="1100" dirty="0">
                <a:solidFill>
                  <a:schemeClr val="tx1"/>
                </a:solidFill>
                <a:latin typeface="Noto Sans KR" panose="020B0200000000000000" pitchFamily="50" charset="-127"/>
                <a:ea typeface="Noto Sans KR" panose="020B0200000000000000" pitchFamily="50" charset="-127"/>
              </a:rPr>
              <a:t>, C., Forman, J., &amp; Mueller, 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Conference</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UIST</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2021</a:t>
            </a:r>
            <a:endParaRPr lang="en-US" altLang="ko-KR" sz="8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Design : After defining the cell’s size and thickness, the cell is fabricated using a conductive material. Then, when external forces such as compression or tension are applied, changes in both the distance between the cell walls and the overlapping area are measured via resonance.</a:t>
            </a: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r>
              <a:rPr lang="en-US" altLang="ko-KR" sz="1100" dirty="0">
                <a:solidFill>
                  <a:schemeClr val="tx1"/>
                </a:solidFill>
                <a:latin typeface="Noto Sans KR" panose="020B0200000000000000" pitchFamily="50" charset="-127"/>
                <a:ea typeface="Noto Sans KR" panose="020B0200000000000000" pitchFamily="50" charset="-127"/>
              </a:rPr>
              <a:t>Application : It can be used as a controller or input device capable of detecting both the magnitude and direction of applied force.</a:t>
            </a: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3" name="온라인 미디어 2" title="MetaSense: Integrating Sensing Capabilities into Mechanical Metamaterial">
            <a:hlinkClick r:id="" action="ppaction://media"/>
            <a:extLst>
              <a:ext uri="{FF2B5EF4-FFF2-40B4-BE49-F238E27FC236}">
                <a16:creationId xmlns:a16="http://schemas.microsoft.com/office/drawing/2014/main" id="{47427A82-8829-4EFD-9CC7-CBA6A427CC98}"/>
              </a:ext>
            </a:extLst>
          </p:cNvPr>
          <p:cNvPicPr>
            <a:picLocks noRot="1" noChangeAspect="1"/>
          </p:cNvPicPr>
          <p:nvPr>
            <a:videoFile r:link="rId1"/>
          </p:nvPr>
        </p:nvPicPr>
        <p:blipFill>
          <a:blip r:embed="rId3"/>
          <a:stretch>
            <a:fillRect/>
          </a:stretch>
        </p:blipFill>
        <p:spPr>
          <a:xfrm>
            <a:off x="7065219" y="1301659"/>
            <a:ext cx="4022638" cy="2272791"/>
          </a:xfrm>
          <a:prstGeom prst="rect">
            <a:avLst/>
          </a:prstGeom>
        </p:spPr>
      </p:pic>
      <p:pic>
        <p:nvPicPr>
          <p:cNvPr id="5" name="그림 4">
            <a:extLst>
              <a:ext uri="{FF2B5EF4-FFF2-40B4-BE49-F238E27FC236}">
                <a16:creationId xmlns:a16="http://schemas.microsoft.com/office/drawing/2014/main" id="{9BDBA801-1ECD-4A15-AE01-7409CC5BE97A}"/>
              </a:ext>
            </a:extLst>
          </p:cNvPr>
          <p:cNvPicPr>
            <a:picLocks noChangeAspect="1"/>
          </p:cNvPicPr>
          <p:nvPr/>
        </p:nvPicPr>
        <p:blipFill>
          <a:blip r:embed="rId4"/>
          <a:stretch>
            <a:fillRect/>
          </a:stretch>
        </p:blipFill>
        <p:spPr>
          <a:xfrm>
            <a:off x="7065220" y="4198651"/>
            <a:ext cx="4022638" cy="1013951"/>
          </a:xfrm>
          <a:prstGeom prst="rect">
            <a:avLst/>
          </a:prstGeom>
        </p:spPr>
      </p:pic>
    </p:spTree>
    <p:extLst>
      <p:ext uri="{BB962C8B-B14F-4D97-AF65-F5344CB8AC3E}">
        <p14:creationId xmlns:p14="http://schemas.microsoft.com/office/powerpoint/2010/main" val="228848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Related works</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4. Metamaterial Applications in HCI</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215444"/>
          </a:xfrm>
          <a:prstGeom prst="rect">
            <a:avLst/>
          </a:prstGeom>
          <a:noFill/>
        </p:spPr>
        <p:txBody>
          <a:bodyPr wrap="square" rtlCol="0">
            <a:spAutoFit/>
          </a:bodyPr>
          <a:lstStyle/>
          <a:p>
            <a:r>
              <a:rPr lang="en-US" altLang="ko-KR" sz="800" dirty="0"/>
              <a:t>1) Yang, W. Y., Zhuang, Y., Darcy, L. A., Liu, G., &amp; Ion, A. (2022, October). Reconfigurable elastic metamaterials. In Proceedings of the 35th Annual ACM Symposium on User Interface Software and Technology (pp. 1-13).</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158874"/>
            <a:ext cx="5400675" cy="3356303"/>
          </a:xfrm>
          <a:prstGeom prst="rect">
            <a:avLst/>
          </a:prstGeom>
        </p:spPr>
        <p:txBody>
          <a:bodyPr vert="horz" wrap="square" lIns="91440" tIns="45720" rIns="91440" bIns="45720" rtlCol="0">
            <a:spAutoFit/>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Reconfigurable Elastic Metamaterials: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Author</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Yang, W. Y., Zhuang, Y., Darcy, L. A., Liu, G., &amp; Ion, A.</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Conference</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 UIST</a:t>
            </a:r>
            <a:r>
              <a:rPr lang="ko-KR" altLang="en-US" sz="1100" dirty="0">
                <a:solidFill>
                  <a:schemeClr val="tx1"/>
                </a:solidFill>
                <a:latin typeface="Noto Sans KR" panose="020B0200000000000000" pitchFamily="50" charset="-127"/>
                <a:ea typeface="Noto Sans KR" panose="020B0200000000000000" pitchFamily="50" charset="-127"/>
              </a:rPr>
              <a:t> </a:t>
            </a:r>
            <a:r>
              <a:rPr lang="en-US" altLang="ko-KR" sz="1100" dirty="0">
                <a:solidFill>
                  <a:schemeClr val="tx1"/>
                </a:solidFill>
                <a:latin typeface="Noto Sans KR" panose="020B0200000000000000" pitchFamily="50" charset="-127"/>
                <a:ea typeface="Noto Sans KR" panose="020B0200000000000000" pitchFamily="50" charset="-127"/>
              </a:rPr>
              <a:t>2022</a:t>
            </a:r>
            <a:endParaRPr lang="en-US" altLang="ko-KR" sz="8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Design : Unit cells classified as “Spring Cells” and “Damper Cells” are fabricated, then combined and arranged in a particular way to design a structure with targeted elastic and </a:t>
            </a:r>
            <a:r>
              <a:rPr lang="en-US" altLang="ko-KR" sz="1100" dirty="0" err="1">
                <a:solidFill>
                  <a:schemeClr val="tx1"/>
                </a:solidFill>
                <a:latin typeface="Noto Sans KR" panose="020B0200000000000000" pitchFamily="50" charset="-127"/>
                <a:ea typeface="Noto Sans KR" panose="020B0200000000000000" pitchFamily="50" charset="-127"/>
              </a:rPr>
              <a:t>impact&amp;absorption</a:t>
            </a:r>
            <a:r>
              <a:rPr lang="en-US" altLang="ko-KR" sz="1100" dirty="0">
                <a:solidFill>
                  <a:schemeClr val="tx1"/>
                </a:solidFill>
                <a:latin typeface="Noto Sans KR" panose="020B0200000000000000" pitchFamily="50" charset="-127"/>
                <a:ea typeface="Noto Sans KR" panose="020B0200000000000000" pitchFamily="50" charset="-127"/>
              </a:rPr>
              <a:t> properties.</a:t>
            </a:r>
            <a:br>
              <a:rPr lang="en-US" altLang="ko-KR" sz="1100" dirty="0">
                <a:solidFill>
                  <a:schemeClr val="tx1"/>
                </a:solidFill>
                <a:latin typeface="Noto Sans KR" panose="020B0200000000000000" pitchFamily="50" charset="-127"/>
                <a:ea typeface="Noto Sans KR" panose="020B0200000000000000" pitchFamily="50" charset="-127"/>
              </a:rPr>
            </a:br>
            <a:r>
              <a:rPr lang="en-US" altLang="ko-KR" sz="1100" dirty="0">
                <a:solidFill>
                  <a:schemeClr val="tx1"/>
                </a:solidFill>
                <a:latin typeface="Noto Sans KR" panose="020B0200000000000000" pitchFamily="50" charset="-127"/>
                <a:ea typeface="Noto Sans KR" panose="020B0200000000000000" pitchFamily="50" charset="-127"/>
              </a:rPr>
              <a:t> </a:t>
            </a:r>
            <a:br>
              <a:rPr lang="en-US" altLang="ko-KR" sz="1100" dirty="0">
                <a:solidFill>
                  <a:schemeClr val="tx1"/>
                </a:solidFill>
                <a:latin typeface="Noto Sans KR" panose="020B0200000000000000" pitchFamily="50" charset="-127"/>
                <a:ea typeface="Noto Sans KR" panose="020B0200000000000000" pitchFamily="50" charset="-127"/>
              </a:rPr>
            </a:br>
            <a:r>
              <a:rPr lang="en-US" altLang="ko-KR" sz="1100" dirty="0">
                <a:solidFill>
                  <a:schemeClr val="tx1"/>
                </a:solidFill>
                <a:latin typeface="Noto Sans KR" panose="020B0200000000000000" pitchFamily="50" charset="-127"/>
                <a:ea typeface="Noto Sans KR" panose="020B0200000000000000" pitchFamily="50" charset="-127"/>
              </a:rPr>
              <a:t>Application : Combined in various configurations and applied to products such as shoe insoles and piano keys. An interface is provided so that users can directly adjust the setup, enabling them to achieve the desired elastic properties</a:t>
            </a: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5" name="온라인 미디어 4" title="Reconfigurable Elastic Metamaterials">
            <a:hlinkClick r:id="" action="ppaction://media"/>
            <a:extLst>
              <a:ext uri="{FF2B5EF4-FFF2-40B4-BE49-F238E27FC236}">
                <a16:creationId xmlns:a16="http://schemas.microsoft.com/office/drawing/2014/main" id="{91A1ADFE-FBF6-4944-B072-025620152BDC}"/>
              </a:ext>
            </a:extLst>
          </p:cNvPr>
          <p:cNvPicPr>
            <a:picLocks noRot="1" noChangeAspect="1"/>
          </p:cNvPicPr>
          <p:nvPr>
            <a:videoFile r:link="rId1"/>
          </p:nvPr>
        </p:nvPicPr>
        <p:blipFill>
          <a:blip r:embed="rId3"/>
          <a:stretch>
            <a:fillRect/>
          </a:stretch>
        </p:blipFill>
        <p:spPr>
          <a:xfrm>
            <a:off x="7207587" y="1604108"/>
            <a:ext cx="3916379" cy="2212754"/>
          </a:xfrm>
          <a:prstGeom prst="rect">
            <a:avLst/>
          </a:prstGeom>
        </p:spPr>
      </p:pic>
      <p:pic>
        <p:nvPicPr>
          <p:cNvPr id="8" name="그림 7">
            <a:extLst>
              <a:ext uri="{FF2B5EF4-FFF2-40B4-BE49-F238E27FC236}">
                <a16:creationId xmlns:a16="http://schemas.microsoft.com/office/drawing/2014/main" id="{91D77D8B-3070-46BF-8F32-2ACC5291BB1B}"/>
              </a:ext>
            </a:extLst>
          </p:cNvPr>
          <p:cNvPicPr>
            <a:picLocks noChangeAspect="1"/>
          </p:cNvPicPr>
          <p:nvPr/>
        </p:nvPicPr>
        <p:blipFill>
          <a:blip r:embed="rId4"/>
          <a:stretch>
            <a:fillRect/>
          </a:stretch>
        </p:blipFill>
        <p:spPr>
          <a:xfrm>
            <a:off x="7207587" y="4040952"/>
            <a:ext cx="3919329" cy="1021841"/>
          </a:xfrm>
          <a:prstGeom prst="rect">
            <a:avLst/>
          </a:prstGeom>
        </p:spPr>
      </p:pic>
    </p:spTree>
    <p:extLst>
      <p:ext uri="{BB962C8B-B14F-4D97-AF65-F5344CB8AC3E}">
        <p14:creationId xmlns:p14="http://schemas.microsoft.com/office/powerpoint/2010/main" val="197873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a:xfrm>
            <a:off x="4332802" y="2624549"/>
            <a:ext cx="3526395" cy="1608902"/>
          </a:xfrm>
        </p:spPr>
        <p:txBody>
          <a:bodyPr anchor="ctr">
            <a:normAutofit/>
          </a:bodyPr>
          <a:lstStyle/>
          <a:p>
            <a:pPr algn="ctr"/>
            <a:r>
              <a:rPr lang="en-US" altLang="ko-KR" sz="4400" dirty="0"/>
              <a:t>In My</a:t>
            </a:r>
            <a:br>
              <a:rPr lang="en-US" altLang="ko-KR" sz="4400" dirty="0"/>
            </a:br>
            <a:r>
              <a:rPr lang="en-US" altLang="ko-KR" sz="4400" dirty="0"/>
              <a:t>Works</a:t>
            </a:r>
            <a:endParaRPr lang="ko-KR" altLang="en-US" sz="4400" dirty="0"/>
          </a:p>
        </p:txBody>
      </p:sp>
    </p:spTree>
    <p:extLst>
      <p:ext uri="{BB962C8B-B14F-4D97-AF65-F5344CB8AC3E}">
        <p14:creationId xmlns:p14="http://schemas.microsoft.com/office/powerpoint/2010/main" val="3117297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a:xfrm>
            <a:off x="695325" y="549275"/>
            <a:ext cx="7185934" cy="315912"/>
          </a:xfrm>
        </p:spPr>
        <p:txBody>
          <a:bodyPr>
            <a:normAutofit fontScale="90000"/>
          </a:bodyPr>
          <a:lstStyle/>
          <a:p>
            <a:r>
              <a:rPr lang="en-US" altLang="ko-KR" dirty="0"/>
              <a:t>Topology Optimization</a:t>
            </a:r>
            <a:endParaRPr lang="ko-KR" altLang="en-US" dirty="0"/>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a:xfrm>
            <a:off x="695325" y="255588"/>
            <a:ext cx="7552088" cy="293687"/>
          </a:xfrm>
        </p:spPr>
        <p:txBody>
          <a:bodyPr/>
          <a:lstStyle/>
          <a:p>
            <a:r>
              <a:rPr lang="en-US" altLang="ko-KR" sz="1400" dirty="0"/>
              <a:t>5. My work</a:t>
            </a:r>
            <a:endParaRPr lang="ko-KR" altLang="en-US" sz="1400" dirty="0"/>
          </a:p>
        </p:txBody>
      </p:sp>
      <p:sp>
        <p:nvSpPr>
          <p:cNvPr id="4" name="TextBox 3">
            <a:extLst>
              <a:ext uri="{FF2B5EF4-FFF2-40B4-BE49-F238E27FC236}">
                <a16:creationId xmlns:a16="http://schemas.microsoft.com/office/drawing/2014/main" id="{216176C6-4919-4ECB-8B3D-0768FD962A68}"/>
              </a:ext>
            </a:extLst>
          </p:cNvPr>
          <p:cNvSpPr txBox="1"/>
          <p:nvPr/>
        </p:nvSpPr>
        <p:spPr>
          <a:xfrm>
            <a:off x="695325" y="6308725"/>
            <a:ext cx="10801350" cy="461665"/>
          </a:xfrm>
          <a:prstGeom prst="rect">
            <a:avLst/>
          </a:prstGeom>
          <a:noFill/>
        </p:spPr>
        <p:txBody>
          <a:bodyPr wrap="square" rtlCol="0">
            <a:spAutoFit/>
          </a:bodyPr>
          <a:lstStyle/>
          <a:p>
            <a:pPr marL="228600" indent="-228600">
              <a:buAutoNum type="arabicParenR"/>
            </a:pPr>
            <a:r>
              <a:rPr lang="en-US" altLang="ko-KR" sz="800" dirty="0" err="1"/>
              <a:t>Bendsøe</a:t>
            </a:r>
            <a:r>
              <a:rPr lang="en-US" altLang="ko-KR" sz="800" dirty="0"/>
              <a:t>, M. P., and Sigmund, O., 2003, Topology Optimization: Theory, Methods and Applications, </a:t>
            </a:r>
            <a:r>
              <a:rPr lang="en-US" altLang="ko-KR" sz="800" dirty="0" err="1"/>
              <a:t>Springer,Berlin</a:t>
            </a:r>
            <a:endParaRPr lang="en-US" altLang="ko-KR" sz="800" dirty="0"/>
          </a:p>
          <a:p>
            <a:pPr marL="228600" indent="-228600">
              <a:buAutoNum type="arabicParenR"/>
            </a:pPr>
            <a:r>
              <a:rPr lang="en-US" altLang="ko-KR" sz="800" dirty="0" err="1"/>
              <a:t>Matejka</a:t>
            </a:r>
            <a:r>
              <a:rPr lang="en-US" altLang="ko-KR" sz="800" dirty="0"/>
              <a:t>, J.,</a:t>
            </a:r>
            <a:r>
              <a:rPr lang="en-US" altLang="ko-KR" sz="800" dirty="0" err="1"/>
              <a:t>Glueck</a:t>
            </a:r>
            <a:r>
              <a:rPr lang="en-US" altLang="ko-KR" sz="800" dirty="0"/>
              <a:t>, M.,</a:t>
            </a:r>
            <a:r>
              <a:rPr lang="en-US" altLang="ko-KR" sz="800" dirty="0" err="1"/>
              <a:t>Bradner</a:t>
            </a:r>
            <a:r>
              <a:rPr lang="en-US" altLang="ko-KR" sz="800" dirty="0"/>
              <a:t>, </a:t>
            </a:r>
            <a:r>
              <a:rPr lang="en-US" altLang="ko-KR" sz="800" dirty="0" err="1"/>
              <a:t>E.,Hashemi</a:t>
            </a:r>
            <a:r>
              <a:rPr lang="en-US" altLang="ko-KR" sz="800" dirty="0"/>
              <a:t>, A., Grossman, T., &amp; Fitzmaurice, G. (2018, April). Dream Lens: Exploration and Visualization of Large-Scale Generative </a:t>
            </a:r>
            <a:r>
              <a:rPr lang="en-US" altLang="ko-KR" sz="800" dirty="0" err="1"/>
              <a:t>DesignDatasets</a:t>
            </a:r>
            <a:r>
              <a:rPr lang="en-US" altLang="ko-KR" sz="800" dirty="0"/>
              <a:t>. </a:t>
            </a:r>
            <a:r>
              <a:rPr lang="en-US" altLang="ko-KR" sz="800" dirty="0" err="1"/>
              <a:t>InProceedings</a:t>
            </a:r>
            <a:r>
              <a:rPr lang="en-US" altLang="ko-KR" sz="800" dirty="0"/>
              <a:t> of the 2018 CHI Conference on Human Factors in Computing Systems(p. 369).ACM</a:t>
            </a:r>
            <a:endParaRPr lang="ko-KR" altLang="en-US" sz="800" dirty="0"/>
          </a:p>
        </p:txBody>
      </p:sp>
      <p:sp>
        <p:nvSpPr>
          <p:cNvPr id="12" name="내용 개체 틀 7">
            <a:extLst>
              <a:ext uri="{FF2B5EF4-FFF2-40B4-BE49-F238E27FC236}">
                <a16:creationId xmlns:a16="http://schemas.microsoft.com/office/drawing/2014/main" id="{46FDC34A-CACD-4C52-8E29-87EF32B22692}"/>
              </a:ext>
            </a:extLst>
          </p:cNvPr>
          <p:cNvSpPr txBox="1">
            <a:spLocks/>
          </p:cNvSpPr>
          <p:nvPr/>
        </p:nvSpPr>
        <p:spPr>
          <a:xfrm>
            <a:off x="695325" y="1429450"/>
            <a:ext cx="5958972" cy="1949415"/>
          </a:xfrm>
          <a:prstGeom prst="rect">
            <a:avLst/>
          </a:prstGeom>
        </p:spPr>
        <p:txBody>
          <a:bodyPr vert="horz" lIns="91440" tIns="45720" rIns="91440" bIns="45720" rtlCol="0">
            <a:normAutofit lnSpcReduction="10000"/>
          </a:bodyPr>
          <a:lstStyle>
            <a:lvl1pPr marL="228600" indent="-228600" algn="l" defTabSz="914400" rtl="0" eaLnBrk="1" latinLnBrk="1" hangingPunct="1">
              <a:lnSpc>
                <a:spcPct val="90000"/>
              </a:lnSpc>
              <a:spcBef>
                <a:spcPts val="1000"/>
              </a:spcBef>
              <a:spcAft>
                <a:spcPts val="500"/>
              </a:spcAft>
              <a:buFont typeface="Arial" panose="020B0604020202020204" pitchFamily="34" charset="0"/>
              <a:buChar char="•"/>
              <a:defRPr sz="24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8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Definition :</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 technique that mathematically optimizes the arrangement of materials and structural elements to meet specific design objectives, reconfiguring the structure accordingly.</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After defining the design space and boundary/load conditions, an algorithm determines where material is needed and where it is not , thereby identifying an efficient shape.</a:t>
            </a:r>
            <a:br>
              <a:rPr lang="en-US" altLang="ko-KR" sz="800" dirty="0">
                <a:solidFill>
                  <a:schemeClr val="tx1"/>
                </a:solidFill>
                <a:latin typeface="Noto Sans KR" panose="020B0200000000000000" pitchFamily="50" charset="-127"/>
                <a:ea typeface="Noto Sans KR" panose="020B0200000000000000" pitchFamily="50" charset="-127"/>
              </a:rPr>
            </a:br>
            <a:br>
              <a:rPr lang="en-US" altLang="ko-KR" sz="800" dirty="0">
                <a:solidFill>
                  <a:schemeClr val="tx1"/>
                </a:solidFill>
                <a:latin typeface="Noto Sans KR" panose="020B0200000000000000" pitchFamily="50" charset="-127"/>
                <a:ea typeface="Noto Sans KR" panose="020B0200000000000000" pitchFamily="50" charset="-127"/>
              </a:rPr>
            </a:b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5" name="그림 4">
            <a:extLst>
              <a:ext uri="{FF2B5EF4-FFF2-40B4-BE49-F238E27FC236}">
                <a16:creationId xmlns:a16="http://schemas.microsoft.com/office/drawing/2014/main" id="{5DF5878F-986F-4232-8741-37CFEE6C267E}"/>
              </a:ext>
            </a:extLst>
          </p:cNvPr>
          <p:cNvPicPr>
            <a:picLocks noChangeAspect="1"/>
          </p:cNvPicPr>
          <p:nvPr/>
        </p:nvPicPr>
        <p:blipFill>
          <a:blip r:embed="rId2"/>
          <a:stretch>
            <a:fillRect/>
          </a:stretch>
        </p:blipFill>
        <p:spPr>
          <a:xfrm>
            <a:off x="6866932" y="1783206"/>
            <a:ext cx="4629743" cy="4028567"/>
          </a:xfrm>
          <a:prstGeom prst="rect">
            <a:avLst/>
          </a:prstGeom>
        </p:spPr>
      </p:pic>
      <p:pic>
        <p:nvPicPr>
          <p:cNvPr id="8" name="그림 7">
            <a:extLst>
              <a:ext uri="{FF2B5EF4-FFF2-40B4-BE49-F238E27FC236}">
                <a16:creationId xmlns:a16="http://schemas.microsoft.com/office/drawing/2014/main" id="{5917F8DC-DD56-4F22-964F-9F073E5B0AA0}"/>
              </a:ext>
            </a:extLst>
          </p:cNvPr>
          <p:cNvPicPr>
            <a:picLocks noChangeAspect="1"/>
          </p:cNvPicPr>
          <p:nvPr/>
        </p:nvPicPr>
        <p:blipFill>
          <a:blip r:embed="rId3"/>
          <a:stretch>
            <a:fillRect/>
          </a:stretch>
        </p:blipFill>
        <p:spPr>
          <a:xfrm>
            <a:off x="1228898" y="3479135"/>
            <a:ext cx="5082999" cy="2332638"/>
          </a:xfrm>
          <a:prstGeom prst="rect">
            <a:avLst/>
          </a:prstGeom>
        </p:spPr>
      </p:pic>
    </p:spTree>
    <p:extLst>
      <p:ext uri="{BB962C8B-B14F-4D97-AF65-F5344CB8AC3E}">
        <p14:creationId xmlns:p14="http://schemas.microsoft.com/office/powerpoint/2010/main" val="116872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Core Idea</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9362" y="1523193"/>
            <a:ext cx="10927446" cy="2118895"/>
          </a:xfrm>
        </p:spPr>
        <p:txBody>
          <a:bodyPr>
            <a:normAutofit/>
          </a:bodyPr>
          <a:lstStyle/>
          <a:p>
            <a:pPr>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Step 1: Select certain structures as unit cells and parametrize their components. Using those parameters, generate multiple variations of the unit cells.</a:t>
            </a:r>
          </a:p>
          <a:p>
            <a:pPr>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Step 2: For each variation generated, collect the material property data, such as stress–strain or force–displacement curves that change with parameter variation, into a dataset.</a:t>
            </a:r>
          </a:p>
          <a:p>
            <a:pPr>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Step 3: Based on this dataset, design a reverse engineering machine learning model (e.g., using a neural network or reinforcement learning) which, given the user’s desired material properties as input, outputs the corresponding unit cell parameters..</a:t>
            </a:r>
            <a:endParaRPr lang="ko-KR" altLang="en-US" sz="1100" dirty="0">
              <a:solidFill>
                <a:schemeClr val="tx1"/>
              </a:solidFill>
              <a:latin typeface="Noto Sans KR" panose="020B0200000000000000" pitchFamily="50" charset="-127"/>
              <a:ea typeface="Noto Sans KR" panose="020B0200000000000000" pitchFamily="50" charset="-127"/>
            </a:endParaRPr>
          </a:p>
        </p:txBody>
      </p:sp>
      <p:sp>
        <p:nvSpPr>
          <p:cNvPr id="10" name="텍스트 개체 틀 9">
            <a:extLst>
              <a:ext uri="{FF2B5EF4-FFF2-40B4-BE49-F238E27FC236}">
                <a16:creationId xmlns:a16="http://schemas.microsoft.com/office/drawing/2014/main" id="{C64A2105-4BA3-4CA9-81EE-CB560EBBB73D}"/>
              </a:ext>
            </a:extLst>
          </p:cNvPr>
          <p:cNvSpPr>
            <a:spLocks noGrp="1"/>
          </p:cNvSpPr>
          <p:nvPr>
            <p:ph type="body" sz="quarter" idx="12"/>
          </p:nvPr>
        </p:nvSpPr>
        <p:spPr/>
        <p:txBody>
          <a:bodyPr/>
          <a:lstStyle/>
          <a:p>
            <a:r>
              <a:rPr lang="en-US" altLang="ko-KR" sz="1400" dirty="0"/>
              <a:t>5. My Work </a:t>
            </a:r>
            <a:endParaRPr lang="ko-KR" altLang="en-US" sz="1400" dirty="0"/>
          </a:p>
        </p:txBody>
      </p:sp>
      <p:pic>
        <p:nvPicPr>
          <p:cNvPr id="4" name="그림 3">
            <a:extLst>
              <a:ext uri="{FF2B5EF4-FFF2-40B4-BE49-F238E27FC236}">
                <a16:creationId xmlns:a16="http://schemas.microsoft.com/office/drawing/2014/main" id="{07A1FFF0-F05F-443D-91AC-C8028E38AECC}"/>
              </a:ext>
            </a:extLst>
          </p:cNvPr>
          <p:cNvPicPr>
            <a:picLocks noChangeAspect="1"/>
          </p:cNvPicPr>
          <p:nvPr/>
        </p:nvPicPr>
        <p:blipFill>
          <a:blip r:embed="rId2"/>
          <a:stretch>
            <a:fillRect/>
          </a:stretch>
        </p:blipFill>
        <p:spPr>
          <a:xfrm>
            <a:off x="1565781" y="3812752"/>
            <a:ext cx="4035771" cy="2102993"/>
          </a:xfrm>
          <a:prstGeom prst="rect">
            <a:avLst/>
          </a:prstGeom>
        </p:spPr>
      </p:pic>
      <p:pic>
        <p:nvPicPr>
          <p:cNvPr id="11" name="그림 10">
            <a:extLst>
              <a:ext uri="{FF2B5EF4-FFF2-40B4-BE49-F238E27FC236}">
                <a16:creationId xmlns:a16="http://schemas.microsoft.com/office/drawing/2014/main" id="{0AD38CDF-FA93-49CF-8835-D4096A65173F}"/>
              </a:ext>
            </a:extLst>
          </p:cNvPr>
          <p:cNvPicPr>
            <a:picLocks noChangeAspect="1"/>
          </p:cNvPicPr>
          <p:nvPr/>
        </p:nvPicPr>
        <p:blipFill rotWithShape="1">
          <a:blip r:embed="rId3"/>
          <a:srcRect l="40774" t="34259"/>
          <a:stretch/>
        </p:blipFill>
        <p:spPr>
          <a:xfrm>
            <a:off x="7136960" y="3812753"/>
            <a:ext cx="2358267" cy="2102993"/>
          </a:xfrm>
          <a:prstGeom prst="rect">
            <a:avLst/>
          </a:prstGeom>
        </p:spPr>
      </p:pic>
      <p:sp>
        <p:nvSpPr>
          <p:cNvPr id="12" name="TextBox 11">
            <a:extLst>
              <a:ext uri="{FF2B5EF4-FFF2-40B4-BE49-F238E27FC236}">
                <a16:creationId xmlns:a16="http://schemas.microsoft.com/office/drawing/2014/main" id="{6C7FB7F2-6FBA-4811-B6A3-B0B7C5990C3C}"/>
              </a:ext>
            </a:extLst>
          </p:cNvPr>
          <p:cNvSpPr txBox="1"/>
          <p:nvPr/>
        </p:nvSpPr>
        <p:spPr>
          <a:xfrm>
            <a:off x="695325" y="6308725"/>
            <a:ext cx="10801350" cy="215444"/>
          </a:xfrm>
          <a:prstGeom prst="rect">
            <a:avLst/>
          </a:prstGeom>
          <a:noFill/>
        </p:spPr>
        <p:txBody>
          <a:bodyPr wrap="square" rtlCol="0">
            <a:spAutoFit/>
          </a:bodyPr>
          <a:lstStyle/>
          <a:p>
            <a:r>
              <a:rPr lang="en-US" altLang="ko-KR" sz="800" dirty="0"/>
              <a:t>1) MOHAMMADI, Alireza, et al. Flexible mechanical metamaterials enabling soft tactile sensors with multiple sensitivities at multiple force sensing ranges. Scientific reports, 2021, 11.1: 24125.</a:t>
            </a:r>
            <a:endParaRPr lang="ko-KR" altLang="en-US" sz="800" dirty="0"/>
          </a:p>
        </p:txBody>
      </p:sp>
    </p:spTree>
    <p:extLst>
      <p:ext uri="{BB962C8B-B14F-4D97-AF65-F5344CB8AC3E}">
        <p14:creationId xmlns:p14="http://schemas.microsoft.com/office/powerpoint/2010/main" val="3156000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First Workflow</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5325" y="1328535"/>
            <a:ext cx="10386117" cy="3092074"/>
          </a:xfrm>
        </p:spPr>
        <p:txBody>
          <a:bodyPr numCol="1">
            <a:normAutofit/>
          </a:bodyPr>
          <a:lstStyle/>
          <a:p>
            <a:pPr algn="just">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Primary Research Goal:  </a:t>
            </a:r>
          </a:p>
          <a:p>
            <a:pPr lvl="1" algn="just">
              <a:lnSpc>
                <a:spcPct val="120000"/>
              </a:lnSpc>
            </a:pPr>
            <a:r>
              <a:rPr lang="en-US" altLang="ko-KR" sz="1200" dirty="0">
                <a:solidFill>
                  <a:schemeClr val="tx1"/>
                </a:solidFill>
                <a:latin typeface="Noto Sans KR" panose="020B0200000000000000" pitchFamily="50" charset="-127"/>
                <a:ea typeface="Noto Sans KR" panose="020B0200000000000000" pitchFamily="50" charset="-127"/>
              </a:rPr>
              <a:t>Using an artificial neural network, determine the optimal parameters that produce the target stress–strain curve.  </a:t>
            </a:r>
          </a:p>
          <a:p>
            <a:pPr algn="just">
              <a:lnSpc>
                <a:spcPct val="120000"/>
              </a:lnSpc>
            </a:pPr>
            <a:r>
              <a:rPr lang="en-US" altLang="ko-KR" sz="1500" dirty="0">
                <a:solidFill>
                  <a:schemeClr val="tx1"/>
                </a:solidFill>
                <a:latin typeface="Noto Sans KR" panose="020B0200000000000000" pitchFamily="50" charset="-127"/>
                <a:ea typeface="Noto Sans KR" panose="020B0200000000000000" pitchFamily="50" charset="-127"/>
              </a:rPr>
              <a:t>Structure:  </a:t>
            </a:r>
          </a:p>
          <a:p>
            <a:pPr lvl="1" algn="just">
              <a:lnSpc>
                <a:spcPct val="120000"/>
              </a:lnSpc>
            </a:pPr>
            <a:r>
              <a:rPr lang="en-US" altLang="ko-KR" sz="1200" dirty="0">
                <a:solidFill>
                  <a:schemeClr val="tx1"/>
                </a:solidFill>
                <a:latin typeface="Noto Sans KR" panose="020B0200000000000000" pitchFamily="50" charset="-127"/>
                <a:ea typeface="Noto Sans KR" panose="020B0200000000000000" pitchFamily="50" charset="-127"/>
              </a:rPr>
              <a:t>1. First, features are extracted from the stress–strain curve and fed into the neural network (NN).  </a:t>
            </a:r>
          </a:p>
          <a:p>
            <a:pPr lvl="1" algn="just">
              <a:lnSpc>
                <a:spcPct val="120000"/>
              </a:lnSpc>
            </a:pPr>
            <a:r>
              <a:rPr lang="en-US" altLang="ko-KR" sz="1200" dirty="0">
                <a:solidFill>
                  <a:schemeClr val="tx1"/>
                </a:solidFill>
                <a:latin typeface="Noto Sans KR" panose="020B0200000000000000" pitchFamily="50" charset="-127"/>
                <a:ea typeface="Noto Sans KR" panose="020B0200000000000000" pitchFamily="50" charset="-127"/>
              </a:rPr>
              <a:t>2. The NN then outputs both the cell parameters and the curve type information.  </a:t>
            </a:r>
          </a:p>
          <a:p>
            <a:pPr lvl="1" algn="just">
              <a:lnSpc>
                <a:spcPct val="120000"/>
              </a:lnSpc>
            </a:pPr>
            <a:r>
              <a:rPr lang="en-US" altLang="ko-KR" sz="1200" dirty="0">
                <a:solidFill>
                  <a:schemeClr val="tx1"/>
                </a:solidFill>
                <a:latin typeface="Noto Sans KR" panose="020B0200000000000000" pitchFamily="50" charset="-127"/>
                <a:ea typeface="Noto Sans KR" panose="020B0200000000000000" pitchFamily="50" charset="-127"/>
              </a:rPr>
              <a:t>3. These parameters are used to reconstruct the curve. The model simultaneously produces five such reconstructions; the average of these five curves becomes the final predicted result.  </a:t>
            </a:r>
          </a:p>
          <a:p>
            <a:pPr lvl="1" algn="just">
              <a:lnSpc>
                <a:spcPct val="120000"/>
              </a:lnSpc>
            </a:pPr>
            <a:r>
              <a:rPr lang="en-US" altLang="ko-KR" sz="1200" dirty="0">
                <a:solidFill>
                  <a:schemeClr val="tx1"/>
                </a:solidFill>
                <a:latin typeface="Noto Sans KR" panose="020B0200000000000000" pitchFamily="50" charset="-127"/>
                <a:ea typeface="Noto Sans KR" panose="020B0200000000000000" pitchFamily="50" charset="-127"/>
              </a:rPr>
              <a:t>4. The difference between the predicted curve and the actual target curve is treated as the loss, which is used to train the model.</a:t>
            </a:r>
            <a:endParaRPr lang="en-US" altLang="ko-KR" sz="800" dirty="0">
              <a:solidFill>
                <a:schemeClr val="tx1"/>
              </a:solidFill>
              <a:latin typeface="Noto Sans KR" panose="020B0200000000000000" pitchFamily="50" charset="-127"/>
              <a:ea typeface="Noto Sans KR" panose="020B0200000000000000" pitchFamily="50" charset="-127"/>
            </a:endParaRPr>
          </a:p>
        </p:txBody>
      </p:sp>
      <p:pic>
        <p:nvPicPr>
          <p:cNvPr id="12" name="그림 11">
            <a:extLst>
              <a:ext uri="{FF2B5EF4-FFF2-40B4-BE49-F238E27FC236}">
                <a16:creationId xmlns:a16="http://schemas.microsoft.com/office/drawing/2014/main" id="{821A85EC-B922-4431-8F2D-0EB75A80D09A}"/>
              </a:ext>
            </a:extLst>
          </p:cNvPr>
          <p:cNvPicPr>
            <a:picLocks noChangeAspect="1"/>
          </p:cNvPicPr>
          <p:nvPr/>
        </p:nvPicPr>
        <p:blipFill rotWithShape="1">
          <a:blip r:embed="rId2"/>
          <a:srcRect b="44194"/>
          <a:stretch/>
        </p:blipFill>
        <p:spPr>
          <a:xfrm>
            <a:off x="3395662" y="4584111"/>
            <a:ext cx="4817158" cy="1408960"/>
          </a:xfrm>
          <a:prstGeom prst="rect">
            <a:avLst/>
          </a:prstGeom>
        </p:spPr>
      </p:pic>
      <p:sp>
        <p:nvSpPr>
          <p:cNvPr id="6" name="텍스트 개체 틀 9">
            <a:extLst>
              <a:ext uri="{FF2B5EF4-FFF2-40B4-BE49-F238E27FC236}">
                <a16:creationId xmlns:a16="http://schemas.microsoft.com/office/drawing/2014/main" id="{0E441D62-6B9C-44B8-8ACC-1BA7BE86B8E8}"/>
              </a:ext>
            </a:extLst>
          </p:cNvPr>
          <p:cNvSpPr txBox="1">
            <a:spLocks/>
          </p:cNvSpPr>
          <p:nvPr/>
        </p:nvSpPr>
        <p:spPr>
          <a:xfrm>
            <a:off x="695325" y="255588"/>
            <a:ext cx="3074988" cy="29368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spcAft>
                <a:spcPts val="500"/>
              </a:spcAft>
              <a:buFont typeface="Arial" panose="020B0604020202020204" pitchFamily="34" charset="0"/>
              <a:buNone/>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400"/>
              <a:t>5. My Work </a:t>
            </a:r>
            <a:endParaRPr lang="ko-KR" altLang="en-US" sz="1400" dirty="0"/>
          </a:p>
        </p:txBody>
      </p:sp>
    </p:spTree>
    <p:extLst>
      <p:ext uri="{BB962C8B-B14F-4D97-AF65-F5344CB8AC3E}">
        <p14:creationId xmlns:p14="http://schemas.microsoft.com/office/powerpoint/2010/main" val="743274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First Workflow - Result</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5325" y="1328534"/>
            <a:ext cx="10386117" cy="3727915"/>
          </a:xfrm>
        </p:spPr>
        <p:txBody>
          <a:bodyPr numCol="1">
            <a:normAutofit/>
          </a:bodyPr>
          <a:lstStyle/>
          <a:p>
            <a:pPr algn="just">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Results: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loss between the predicted and actual graphs was large, indicating that the model did not successfully optimize. Additionally, the measured stress–strain curves differed from the model’s predictions.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However, stacking multiple structural cells with varying data produced graphs showing different stiffness values in different compression ranges.</a:t>
            </a:r>
            <a:endParaRPr lang="en-US" altLang="ko-KR" sz="1400" dirty="0">
              <a:solidFill>
                <a:schemeClr val="tx1"/>
              </a:solidFill>
              <a:latin typeface="Noto Sans KR" panose="020B0200000000000000" pitchFamily="50" charset="-127"/>
              <a:ea typeface="Noto Sans KR" panose="020B0200000000000000" pitchFamily="50" charset="-127"/>
            </a:endParaRPr>
          </a:p>
          <a:p>
            <a:pPr algn="just">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Conclusion: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The model failed primarily due to an insufficient dataset.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Acquiring more extensive data is necessary to improve the accuracy of the model and enhance prediction performance.</a:t>
            </a:r>
            <a:endParaRPr lang="en-US" altLang="ko-KR" sz="900" dirty="0">
              <a:solidFill>
                <a:schemeClr val="tx1"/>
              </a:solidFill>
              <a:latin typeface="Noto Sans KR" panose="020B0200000000000000" pitchFamily="50" charset="-127"/>
              <a:ea typeface="Noto Sans KR" panose="020B0200000000000000" pitchFamily="50" charset="-127"/>
            </a:endParaRPr>
          </a:p>
        </p:txBody>
      </p:sp>
      <p:sp>
        <p:nvSpPr>
          <p:cNvPr id="6" name="텍스트 개체 틀 9">
            <a:extLst>
              <a:ext uri="{FF2B5EF4-FFF2-40B4-BE49-F238E27FC236}">
                <a16:creationId xmlns:a16="http://schemas.microsoft.com/office/drawing/2014/main" id="{0E441D62-6B9C-44B8-8ACC-1BA7BE86B8E8}"/>
              </a:ext>
            </a:extLst>
          </p:cNvPr>
          <p:cNvSpPr txBox="1">
            <a:spLocks/>
          </p:cNvSpPr>
          <p:nvPr/>
        </p:nvSpPr>
        <p:spPr>
          <a:xfrm>
            <a:off x="695325" y="255588"/>
            <a:ext cx="3074988" cy="29368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spcAft>
                <a:spcPts val="500"/>
              </a:spcAft>
              <a:buFont typeface="Arial" panose="020B0604020202020204" pitchFamily="34" charset="0"/>
              <a:buNone/>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400"/>
              <a:t>5. My Work </a:t>
            </a:r>
            <a:endParaRPr lang="ko-KR" altLang="en-US" sz="1400" dirty="0"/>
          </a:p>
        </p:txBody>
      </p:sp>
      <p:pic>
        <p:nvPicPr>
          <p:cNvPr id="3" name="그림 2">
            <a:extLst>
              <a:ext uri="{FF2B5EF4-FFF2-40B4-BE49-F238E27FC236}">
                <a16:creationId xmlns:a16="http://schemas.microsoft.com/office/drawing/2014/main" id="{BE1BB2B9-54BF-44C1-A432-F977397BE6B0}"/>
              </a:ext>
            </a:extLst>
          </p:cNvPr>
          <p:cNvPicPr>
            <a:picLocks noChangeAspect="1"/>
          </p:cNvPicPr>
          <p:nvPr/>
        </p:nvPicPr>
        <p:blipFill>
          <a:blip r:embed="rId2"/>
          <a:stretch>
            <a:fillRect/>
          </a:stretch>
        </p:blipFill>
        <p:spPr>
          <a:xfrm>
            <a:off x="838787" y="4102593"/>
            <a:ext cx="4611280" cy="1497758"/>
          </a:xfrm>
          <a:prstGeom prst="rect">
            <a:avLst/>
          </a:prstGeom>
        </p:spPr>
      </p:pic>
      <p:pic>
        <p:nvPicPr>
          <p:cNvPr id="5" name="그림 4">
            <a:extLst>
              <a:ext uri="{FF2B5EF4-FFF2-40B4-BE49-F238E27FC236}">
                <a16:creationId xmlns:a16="http://schemas.microsoft.com/office/drawing/2014/main" id="{61F84105-2771-40F1-AA15-18EBBF521A07}"/>
              </a:ext>
            </a:extLst>
          </p:cNvPr>
          <p:cNvPicPr>
            <a:picLocks noChangeAspect="1"/>
          </p:cNvPicPr>
          <p:nvPr/>
        </p:nvPicPr>
        <p:blipFill>
          <a:blip r:embed="rId3"/>
          <a:stretch>
            <a:fillRect/>
          </a:stretch>
        </p:blipFill>
        <p:spPr>
          <a:xfrm>
            <a:off x="5728627" y="4103088"/>
            <a:ext cx="5903146" cy="1497263"/>
          </a:xfrm>
          <a:prstGeom prst="rect">
            <a:avLst/>
          </a:prstGeom>
        </p:spPr>
      </p:pic>
    </p:spTree>
    <p:extLst>
      <p:ext uri="{BB962C8B-B14F-4D97-AF65-F5344CB8AC3E}">
        <p14:creationId xmlns:p14="http://schemas.microsoft.com/office/powerpoint/2010/main" val="2664268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Second Workflow</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5325" y="1328535"/>
            <a:ext cx="10386117" cy="4139698"/>
          </a:xfrm>
        </p:spPr>
        <p:txBody>
          <a:bodyPr numCol="1">
            <a:normAutofit/>
          </a:bodyPr>
          <a:lstStyle/>
          <a:p>
            <a:pPr algn="just">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Secondary Research Objective: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Utilize simulations (e.g., FEM) to augment the dataset and enable more accurate predictions.</a:t>
            </a:r>
            <a:endParaRPr lang="en-US" altLang="ko-KR" sz="1400" dirty="0">
              <a:solidFill>
                <a:schemeClr val="tx1"/>
              </a:solidFill>
              <a:latin typeface="Noto Sans KR" panose="020B0200000000000000" pitchFamily="50" charset="-127"/>
              <a:ea typeface="Noto Sans KR" panose="020B0200000000000000" pitchFamily="50" charset="-127"/>
            </a:endParaRPr>
          </a:p>
          <a:p>
            <a:pPr algn="just">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Structure: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1. Generate random unit cells using a Gaussian random field, then run FE simulations on each to obtain its stress–strain response.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2. During compression, extract both the stress–strain data and images capturing the internal stress distribution.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3. Use these extracted datasets to train a model with diffusion and attention mechanisms to learn how the unit cells respond to stress.  </a:t>
            </a:r>
          </a:p>
          <a:p>
            <a:pPr lvl="1" algn="just">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4. When a desired stress–strain curve is provided to the trained model, it generates a unit cell capable of exhibiting that response.</a:t>
            </a:r>
          </a:p>
        </p:txBody>
      </p:sp>
      <p:sp>
        <p:nvSpPr>
          <p:cNvPr id="6" name="텍스트 개체 틀 9">
            <a:extLst>
              <a:ext uri="{FF2B5EF4-FFF2-40B4-BE49-F238E27FC236}">
                <a16:creationId xmlns:a16="http://schemas.microsoft.com/office/drawing/2014/main" id="{0E441D62-6B9C-44B8-8ACC-1BA7BE86B8E8}"/>
              </a:ext>
            </a:extLst>
          </p:cNvPr>
          <p:cNvSpPr txBox="1">
            <a:spLocks/>
          </p:cNvSpPr>
          <p:nvPr/>
        </p:nvSpPr>
        <p:spPr>
          <a:xfrm>
            <a:off x="695325" y="255588"/>
            <a:ext cx="3074988" cy="29368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spcAft>
                <a:spcPts val="500"/>
              </a:spcAft>
              <a:buFont typeface="Arial" panose="020B0604020202020204" pitchFamily="34" charset="0"/>
              <a:buNone/>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400"/>
              <a:t>5. My Work </a:t>
            </a:r>
            <a:endParaRPr lang="ko-KR" altLang="en-US" sz="1400" dirty="0"/>
          </a:p>
        </p:txBody>
      </p:sp>
      <p:grpSp>
        <p:nvGrpSpPr>
          <p:cNvPr id="2" name="그룹 1">
            <a:extLst>
              <a:ext uri="{FF2B5EF4-FFF2-40B4-BE49-F238E27FC236}">
                <a16:creationId xmlns:a16="http://schemas.microsoft.com/office/drawing/2014/main" id="{ABB52505-89EB-48F5-A761-F4160B8BADEA}"/>
              </a:ext>
            </a:extLst>
          </p:cNvPr>
          <p:cNvGrpSpPr/>
          <p:nvPr/>
        </p:nvGrpSpPr>
        <p:grpSpPr>
          <a:xfrm>
            <a:off x="2625351" y="4502757"/>
            <a:ext cx="2289924" cy="1428824"/>
            <a:chOff x="1237841" y="3946398"/>
            <a:chExt cx="4315642" cy="2692793"/>
          </a:xfrm>
        </p:grpSpPr>
        <p:pic>
          <p:nvPicPr>
            <p:cNvPr id="3" name="그림 2">
              <a:extLst>
                <a:ext uri="{FF2B5EF4-FFF2-40B4-BE49-F238E27FC236}">
                  <a16:creationId xmlns:a16="http://schemas.microsoft.com/office/drawing/2014/main" id="{4B58310E-EC2B-473B-BFE6-1A14D0DD4190}"/>
                </a:ext>
              </a:extLst>
            </p:cNvPr>
            <p:cNvPicPr>
              <a:picLocks noChangeAspect="1"/>
            </p:cNvPicPr>
            <p:nvPr/>
          </p:nvPicPr>
          <p:blipFill>
            <a:blip r:embed="rId2"/>
            <a:stretch>
              <a:fillRect/>
            </a:stretch>
          </p:blipFill>
          <p:spPr>
            <a:xfrm>
              <a:off x="1237841" y="3946398"/>
              <a:ext cx="4315642" cy="1252601"/>
            </a:xfrm>
            <a:prstGeom prst="rect">
              <a:avLst/>
            </a:prstGeom>
          </p:spPr>
        </p:pic>
        <p:pic>
          <p:nvPicPr>
            <p:cNvPr id="5" name="그림 4">
              <a:extLst>
                <a:ext uri="{FF2B5EF4-FFF2-40B4-BE49-F238E27FC236}">
                  <a16:creationId xmlns:a16="http://schemas.microsoft.com/office/drawing/2014/main" id="{672BB8E3-A3BC-4C66-B805-5F219A932C0C}"/>
                </a:ext>
              </a:extLst>
            </p:cNvPr>
            <p:cNvPicPr>
              <a:picLocks noChangeAspect="1"/>
            </p:cNvPicPr>
            <p:nvPr/>
          </p:nvPicPr>
          <p:blipFill>
            <a:blip r:embed="rId3"/>
            <a:stretch>
              <a:fillRect/>
            </a:stretch>
          </p:blipFill>
          <p:spPr>
            <a:xfrm>
              <a:off x="1237841" y="5199000"/>
              <a:ext cx="4315642" cy="1440191"/>
            </a:xfrm>
            <a:prstGeom prst="rect">
              <a:avLst/>
            </a:prstGeom>
          </p:spPr>
        </p:pic>
      </p:grpSp>
      <p:sp>
        <p:nvSpPr>
          <p:cNvPr id="9" name="TextBox 8">
            <a:extLst>
              <a:ext uri="{FF2B5EF4-FFF2-40B4-BE49-F238E27FC236}">
                <a16:creationId xmlns:a16="http://schemas.microsoft.com/office/drawing/2014/main" id="{B2B4B2F9-D071-434F-A8B4-0A9D77BD9C4B}"/>
              </a:ext>
            </a:extLst>
          </p:cNvPr>
          <p:cNvSpPr txBox="1"/>
          <p:nvPr/>
        </p:nvSpPr>
        <p:spPr>
          <a:xfrm>
            <a:off x="695325" y="6308725"/>
            <a:ext cx="10801350" cy="215444"/>
          </a:xfrm>
          <a:prstGeom prst="rect">
            <a:avLst/>
          </a:prstGeom>
          <a:noFill/>
        </p:spPr>
        <p:txBody>
          <a:bodyPr wrap="square" rtlCol="0">
            <a:spAutoFit/>
          </a:bodyPr>
          <a:lstStyle/>
          <a:p>
            <a:r>
              <a:rPr lang="en-US" altLang="ko-KR" sz="800" dirty="0"/>
              <a:t>1) BASTEK, Jan-Hendrik; KOCHMANN, Dennis M. Inverse design of nonlinear mechanical metamaterials via video denoising diffusion models. Nature Machine Intelligence, 2023, 5.12: 1466-1475.</a:t>
            </a:r>
            <a:endParaRPr lang="ko-KR" altLang="en-US" sz="800" dirty="0"/>
          </a:p>
        </p:txBody>
      </p:sp>
      <p:pic>
        <p:nvPicPr>
          <p:cNvPr id="10" name="그림 9">
            <a:extLst>
              <a:ext uri="{FF2B5EF4-FFF2-40B4-BE49-F238E27FC236}">
                <a16:creationId xmlns:a16="http://schemas.microsoft.com/office/drawing/2014/main" id="{A8D6C009-5C8A-4FFA-9C80-4A60F65CF23A}"/>
              </a:ext>
            </a:extLst>
          </p:cNvPr>
          <p:cNvPicPr>
            <a:picLocks noChangeAspect="1"/>
          </p:cNvPicPr>
          <p:nvPr/>
        </p:nvPicPr>
        <p:blipFill>
          <a:blip r:embed="rId4"/>
          <a:stretch>
            <a:fillRect/>
          </a:stretch>
        </p:blipFill>
        <p:spPr>
          <a:xfrm>
            <a:off x="6333691" y="4502757"/>
            <a:ext cx="2603568" cy="1428824"/>
          </a:xfrm>
          <a:prstGeom prst="rect">
            <a:avLst/>
          </a:prstGeom>
        </p:spPr>
      </p:pic>
    </p:spTree>
    <p:extLst>
      <p:ext uri="{BB962C8B-B14F-4D97-AF65-F5344CB8AC3E}">
        <p14:creationId xmlns:p14="http://schemas.microsoft.com/office/powerpoint/2010/main" val="774974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E9684F6F-88E5-4B8A-8B9E-45EC26E09AE5}"/>
              </a:ext>
            </a:extLst>
          </p:cNvPr>
          <p:cNvSpPr>
            <a:spLocks noGrp="1"/>
          </p:cNvSpPr>
          <p:nvPr>
            <p:ph type="title"/>
          </p:nvPr>
        </p:nvSpPr>
        <p:spPr/>
        <p:txBody>
          <a:bodyPr>
            <a:normAutofit fontScale="90000"/>
          </a:bodyPr>
          <a:lstStyle/>
          <a:p>
            <a:r>
              <a:rPr lang="en-US" altLang="ko-KR" dirty="0"/>
              <a:t>Second Workflow</a:t>
            </a:r>
            <a:endParaRPr lang="ko-KR" altLang="en-US" dirty="0"/>
          </a:p>
        </p:txBody>
      </p:sp>
      <p:sp>
        <p:nvSpPr>
          <p:cNvPr id="8" name="내용 개체 틀 7">
            <a:extLst>
              <a:ext uri="{FF2B5EF4-FFF2-40B4-BE49-F238E27FC236}">
                <a16:creationId xmlns:a16="http://schemas.microsoft.com/office/drawing/2014/main" id="{2807C6C9-276A-494B-90EC-33221DF706D8}"/>
              </a:ext>
            </a:extLst>
          </p:cNvPr>
          <p:cNvSpPr>
            <a:spLocks noGrp="1"/>
          </p:cNvSpPr>
          <p:nvPr>
            <p:ph idx="1"/>
          </p:nvPr>
        </p:nvSpPr>
        <p:spPr>
          <a:xfrm>
            <a:off x="695325" y="1328535"/>
            <a:ext cx="10801349" cy="4769484"/>
          </a:xfrm>
        </p:spPr>
        <p:txBody>
          <a:bodyPr numCol="1">
            <a:normAutofit/>
          </a:bodyPr>
          <a:lstStyle/>
          <a:p>
            <a:pPr>
              <a:lnSpc>
                <a:spcPct val="120000"/>
              </a:lnSpc>
            </a:pPr>
            <a:r>
              <a:rPr lang="en-US" altLang="ko-KR" sz="1400" dirty="0">
                <a:solidFill>
                  <a:schemeClr val="tx1"/>
                </a:solidFill>
                <a:latin typeface="Noto Sans KR" panose="020B0200000000000000" pitchFamily="50" charset="-127"/>
                <a:ea typeface="Noto Sans KR" panose="020B0200000000000000" pitchFamily="50" charset="-127"/>
              </a:rPr>
              <a:t>Intermediate results:</a:t>
            </a: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When validating with Abaqus-based simulations for the generated unit cells, a typical stress–strain curve as input yielded a curve similar to the input data. However, when a second-order curve—resembling </a:t>
            </a:r>
            <a:r>
              <a:rPr lang="en-US" altLang="ko-KR" sz="1100" dirty="0" err="1">
                <a:solidFill>
                  <a:schemeClr val="tx1"/>
                </a:solidFill>
                <a:latin typeface="Noto Sans KR" panose="020B0200000000000000" pitchFamily="50" charset="-127"/>
                <a:ea typeface="Noto Sans KR" panose="020B0200000000000000" pitchFamily="50" charset="-127"/>
              </a:rPr>
              <a:t>hyperelastic</a:t>
            </a:r>
            <a:r>
              <a:rPr lang="en-US" altLang="ko-KR" sz="1100" dirty="0">
                <a:solidFill>
                  <a:schemeClr val="tx1"/>
                </a:solidFill>
                <a:latin typeface="Noto Sans KR" panose="020B0200000000000000" pitchFamily="50" charset="-127"/>
                <a:ea typeface="Noto Sans KR" panose="020B0200000000000000" pitchFamily="50" charset="-127"/>
              </a:rPr>
              <a:t> behavior—was used as input, the output was different.</a:t>
            </a: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br>
              <a:rPr lang="en-US" altLang="ko-KR" sz="1100" dirty="0">
                <a:solidFill>
                  <a:schemeClr val="tx1"/>
                </a:solidFill>
                <a:latin typeface="Noto Sans KR" panose="020B0200000000000000" pitchFamily="50" charset="-127"/>
                <a:ea typeface="Noto Sans KR" panose="020B0200000000000000" pitchFamily="50" charset="-127"/>
              </a:rPr>
            </a:br>
            <a:endParaRPr lang="en-US" altLang="ko-KR" sz="1100" dirty="0">
              <a:solidFill>
                <a:schemeClr val="tx1"/>
              </a:solidFill>
              <a:latin typeface="Noto Sans KR" panose="020B0200000000000000" pitchFamily="50" charset="-127"/>
              <a:ea typeface="Noto Sans KR" panose="020B0200000000000000" pitchFamily="50" charset="-127"/>
            </a:endParaRPr>
          </a:p>
          <a:p>
            <a:pPr lvl="1">
              <a:lnSpc>
                <a:spcPct val="120000"/>
              </a:lnSpc>
            </a:pPr>
            <a:r>
              <a:rPr lang="en-US" altLang="ko-KR" sz="1100" dirty="0">
                <a:solidFill>
                  <a:schemeClr val="tx1"/>
                </a:solidFill>
                <a:latin typeface="Noto Sans KR" panose="020B0200000000000000" pitchFamily="50" charset="-127"/>
                <a:ea typeface="Noto Sans KR" panose="020B0200000000000000" pitchFamily="50" charset="-127"/>
              </a:rPr>
              <a:t>When the quadratic function was used as input, the generated unit cell was not a single, continuous structure but instead became a disjointed one.</a:t>
            </a:r>
          </a:p>
        </p:txBody>
      </p:sp>
      <p:sp>
        <p:nvSpPr>
          <p:cNvPr id="6" name="텍스트 개체 틀 9">
            <a:extLst>
              <a:ext uri="{FF2B5EF4-FFF2-40B4-BE49-F238E27FC236}">
                <a16:creationId xmlns:a16="http://schemas.microsoft.com/office/drawing/2014/main" id="{0E441D62-6B9C-44B8-8ACC-1BA7BE86B8E8}"/>
              </a:ext>
            </a:extLst>
          </p:cNvPr>
          <p:cNvSpPr txBox="1">
            <a:spLocks/>
          </p:cNvSpPr>
          <p:nvPr/>
        </p:nvSpPr>
        <p:spPr>
          <a:xfrm>
            <a:off x="695325" y="255588"/>
            <a:ext cx="3074988" cy="29368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spcAft>
                <a:spcPts val="500"/>
              </a:spcAft>
              <a:buFont typeface="Arial" panose="020B0604020202020204" pitchFamily="34" charset="0"/>
              <a:buNone/>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1pPr>
            <a:lvl2pPr marL="6858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2pPr>
            <a:lvl3pPr marL="11430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3pPr>
            <a:lvl4pPr marL="16002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4pPr>
            <a:lvl5pPr marL="2057400" indent="-228600" algn="l" defTabSz="914400" rtl="0" eaLnBrk="1" latinLnBrk="1" hangingPunct="1">
              <a:lnSpc>
                <a:spcPct val="90000"/>
              </a:lnSpc>
              <a:spcBef>
                <a:spcPts val="500"/>
              </a:spcBef>
              <a:spcAft>
                <a:spcPts val="500"/>
              </a:spcAft>
              <a:buFont typeface="Arial" panose="020B0604020202020204" pitchFamily="34" charset="0"/>
              <a:buChar char="•"/>
              <a:defRPr sz="1600" kern="1200" spc="90" baseline="0">
                <a:ln>
                  <a:solidFill>
                    <a:schemeClr val="accent1">
                      <a:alpha val="0"/>
                    </a:schemeClr>
                  </a:solidFill>
                </a:ln>
                <a:solidFill>
                  <a:srgbClr val="0D3271"/>
                </a:solidFill>
                <a:latin typeface="나눔고딕OTF" panose="020D0804000000000000" pitchFamily="34" charset="-127"/>
                <a:ea typeface="나눔고딕OTF" panose="020D0804000000000000" pitchFamily="34"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400"/>
              <a:t>5. My Work </a:t>
            </a:r>
            <a:endParaRPr lang="ko-KR" altLang="en-US" sz="1400" dirty="0"/>
          </a:p>
        </p:txBody>
      </p:sp>
      <p:sp>
        <p:nvSpPr>
          <p:cNvPr id="9" name="TextBox 8">
            <a:extLst>
              <a:ext uri="{FF2B5EF4-FFF2-40B4-BE49-F238E27FC236}">
                <a16:creationId xmlns:a16="http://schemas.microsoft.com/office/drawing/2014/main" id="{B2B4B2F9-D071-434F-A8B4-0A9D77BD9C4B}"/>
              </a:ext>
            </a:extLst>
          </p:cNvPr>
          <p:cNvSpPr txBox="1"/>
          <p:nvPr/>
        </p:nvSpPr>
        <p:spPr>
          <a:xfrm>
            <a:off x="695325" y="6308725"/>
            <a:ext cx="10801350" cy="215444"/>
          </a:xfrm>
          <a:prstGeom prst="rect">
            <a:avLst/>
          </a:prstGeom>
          <a:noFill/>
        </p:spPr>
        <p:txBody>
          <a:bodyPr wrap="square" rtlCol="0">
            <a:spAutoFit/>
          </a:bodyPr>
          <a:lstStyle/>
          <a:p>
            <a:r>
              <a:rPr lang="en-US" altLang="ko-KR" sz="800" dirty="0"/>
              <a:t>1) BASTEK, Jan-Hendrik; KOCHMANN, Dennis M. Inverse design of nonlinear mechanical metamaterials via video denoising diffusion models. Nature Machine Intelligence, 2023, 5.12: 1466-1475.</a:t>
            </a:r>
            <a:endParaRPr lang="ko-KR" altLang="en-US" sz="800" dirty="0"/>
          </a:p>
        </p:txBody>
      </p:sp>
      <p:grpSp>
        <p:nvGrpSpPr>
          <p:cNvPr id="20" name="그룹 19">
            <a:extLst>
              <a:ext uri="{FF2B5EF4-FFF2-40B4-BE49-F238E27FC236}">
                <a16:creationId xmlns:a16="http://schemas.microsoft.com/office/drawing/2014/main" id="{142C458D-45EA-48C3-ADB5-D31163448DF2}"/>
              </a:ext>
            </a:extLst>
          </p:cNvPr>
          <p:cNvGrpSpPr/>
          <p:nvPr/>
        </p:nvGrpSpPr>
        <p:grpSpPr>
          <a:xfrm>
            <a:off x="4960824" y="2534705"/>
            <a:ext cx="4418360" cy="1327711"/>
            <a:chOff x="6384882" y="4018954"/>
            <a:chExt cx="4418360" cy="1327711"/>
          </a:xfrm>
        </p:grpSpPr>
        <p:pic>
          <p:nvPicPr>
            <p:cNvPr id="17" name="그림 16">
              <a:extLst>
                <a:ext uri="{FF2B5EF4-FFF2-40B4-BE49-F238E27FC236}">
                  <a16:creationId xmlns:a16="http://schemas.microsoft.com/office/drawing/2014/main" id="{C04F7D88-56B6-4F1F-A150-D20D6C9E2DDC}"/>
                </a:ext>
              </a:extLst>
            </p:cNvPr>
            <p:cNvPicPr>
              <a:picLocks noChangeAspect="1"/>
            </p:cNvPicPr>
            <p:nvPr/>
          </p:nvPicPr>
          <p:blipFill>
            <a:blip r:embed="rId2"/>
            <a:stretch>
              <a:fillRect/>
            </a:stretch>
          </p:blipFill>
          <p:spPr>
            <a:xfrm>
              <a:off x="6384882" y="4035662"/>
              <a:ext cx="2209180" cy="1311003"/>
            </a:xfrm>
            <a:prstGeom prst="rect">
              <a:avLst/>
            </a:prstGeom>
          </p:spPr>
        </p:pic>
        <p:pic>
          <p:nvPicPr>
            <p:cNvPr id="19" name="그림 18">
              <a:extLst>
                <a:ext uri="{FF2B5EF4-FFF2-40B4-BE49-F238E27FC236}">
                  <a16:creationId xmlns:a16="http://schemas.microsoft.com/office/drawing/2014/main" id="{C390A4FA-CBC2-44D1-81D8-55C34C867AF2}"/>
                </a:ext>
              </a:extLst>
            </p:cNvPr>
            <p:cNvPicPr>
              <a:picLocks noChangeAspect="1"/>
            </p:cNvPicPr>
            <p:nvPr/>
          </p:nvPicPr>
          <p:blipFill>
            <a:blip r:embed="rId3"/>
            <a:stretch>
              <a:fillRect/>
            </a:stretch>
          </p:blipFill>
          <p:spPr>
            <a:xfrm>
              <a:off x="8594062" y="4018954"/>
              <a:ext cx="2209180" cy="1327711"/>
            </a:xfrm>
            <a:prstGeom prst="rect">
              <a:avLst/>
            </a:prstGeom>
          </p:spPr>
        </p:pic>
      </p:grpSp>
      <p:pic>
        <p:nvPicPr>
          <p:cNvPr id="24" name="그림 23">
            <a:extLst>
              <a:ext uri="{FF2B5EF4-FFF2-40B4-BE49-F238E27FC236}">
                <a16:creationId xmlns:a16="http://schemas.microsoft.com/office/drawing/2014/main" id="{0CCA377D-F4F5-49C2-928F-0D195B0D1A9A}"/>
              </a:ext>
            </a:extLst>
          </p:cNvPr>
          <p:cNvPicPr>
            <a:picLocks noChangeAspect="1"/>
          </p:cNvPicPr>
          <p:nvPr/>
        </p:nvPicPr>
        <p:blipFill>
          <a:blip r:embed="rId4"/>
          <a:stretch>
            <a:fillRect/>
          </a:stretch>
        </p:blipFill>
        <p:spPr>
          <a:xfrm>
            <a:off x="2739630" y="2546400"/>
            <a:ext cx="2221194" cy="1304323"/>
          </a:xfrm>
          <a:prstGeom prst="rect">
            <a:avLst/>
          </a:prstGeom>
        </p:spPr>
      </p:pic>
      <p:pic>
        <p:nvPicPr>
          <p:cNvPr id="28" name="그림 27">
            <a:extLst>
              <a:ext uri="{FF2B5EF4-FFF2-40B4-BE49-F238E27FC236}">
                <a16:creationId xmlns:a16="http://schemas.microsoft.com/office/drawing/2014/main" id="{C87DE8E8-F32D-43E6-A6EC-F26727852EA5}"/>
              </a:ext>
            </a:extLst>
          </p:cNvPr>
          <p:cNvPicPr>
            <a:picLocks noChangeAspect="1"/>
          </p:cNvPicPr>
          <p:nvPr/>
        </p:nvPicPr>
        <p:blipFill>
          <a:blip r:embed="rId5"/>
          <a:stretch>
            <a:fillRect/>
          </a:stretch>
        </p:blipFill>
        <p:spPr>
          <a:xfrm>
            <a:off x="6819582" y="4716838"/>
            <a:ext cx="971686" cy="990738"/>
          </a:xfrm>
          <a:prstGeom prst="rect">
            <a:avLst/>
          </a:prstGeom>
        </p:spPr>
      </p:pic>
      <p:pic>
        <p:nvPicPr>
          <p:cNvPr id="30" name="그림 29">
            <a:extLst>
              <a:ext uri="{FF2B5EF4-FFF2-40B4-BE49-F238E27FC236}">
                <a16:creationId xmlns:a16="http://schemas.microsoft.com/office/drawing/2014/main" id="{9E33193F-E7DF-43C8-93FB-C66318CDE465}"/>
              </a:ext>
            </a:extLst>
          </p:cNvPr>
          <p:cNvPicPr>
            <a:picLocks noChangeAspect="1"/>
          </p:cNvPicPr>
          <p:nvPr/>
        </p:nvPicPr>
        <p:blipFill>
          <a:blip r:embed="rId6"/>
          <a:stretch>
            <a:fillRect/>
          </a:stretch>
        </p:blipFill>
        <p:spPr>
          <a:xfrm>
            <a:off x="7821853" y="4716838"/>
            <a:ext cx="1020460" cy="990738"/>
          </a:xfrm>
          <a:prstGeom prst="rect">
            <a:avLst/>
          </a:prstGeom>
        </p:spPr>
      </p:pic>
      <p:pic>
        <p:nvPicPr>
          <p:cNvPr id="32" name="그림 31">
            <a:extLst>
              <a:ext uri="{FF2B5EF4-FFF2-40B4-BE49-F238E27FC236}">
                <a16:creationId xmlns:a16="http://schemas.microsoft.com/office/drawing/2014/main" id="{E4167AC6-68BA-4069-B829-7BA2FE17DE18}"/>
              </a:ext>
            </a:extLst>
          </p:cNvPr>
          <p:cNvPicPr>
            <a:picLocks noChangeAspect="1"/>
          </p:cNvPicPr>
          <p:nvPr/>
        </p:nvPicPr>
        <p:blipFill>
          <a:blip r:embed="rId7"/>
          <a:stretch>
            <a:fillRect/>
          </a:stretch>
        </p:blipFill>
        <p:spPr>
          <a:xfrm>
            <a:off x="2534228" y="4715984"/>
            <a:ext cx="3903982" cy="989884"/>
          </a:xfrm>
          <a:prstGeom prst="rect">
            <a:avLst/>
          </a:prstGeom>
        </p:spPr>
      </p:pic>
    </p:spTree>
    <p:extLst>
      <p:ext uri="{BB962C8B-B14F-4D97-AF65-F5344CB8AC3E}">
        <p14:creationId xmlns:p14="http://schemas.microsoft.com/office/powerpoint/2010/main" val="1011195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텍스트 개체 틀 5">
            <a:extLst>
              <a:ext uri="{FF2B5EF4-FFF2-40B4-BE49-F238E27FC236}">
                <a16:creationId xmlns:a16="http://schemas.microsoft.com/office/drawing/2014/main" id="{DC577272-97A7-4438-B14C-08D9E1E51A13}"/>
              </a:ext>
            </a:extLst>
          </p:cNvPr>
          <p:cNvSpPr>
            <a:spLocks noGrp="1"/>
          </p:cNvSpPr>
          <p:nvPr>
            <p:ph type="body" sz="quarter" idx="10"/>
          </p:nvPr>
        </p:nvSpPr>
        <p:spPr/>
        <p:txBody>
          <a:bodyPr anchor="ctr">
            <a:normAutofit/>
          </a:bodyPr>
          <a:lstStyle/>
          <a:p>
            <a:pPr algn="ctr"/>
            <a:r>
              <a:rPr lang="en-US" altLang="ko-KR" sz="5400" dirty="0"/>
              <a:t>Q&amp;A</a:t>
            </a:r>
            <a:endParaRPr lang="ko-KR" altLang="en-US" sz="5400" dirty="0"/>
          </a:p>
        </p:txBody>
      </p:sp>
    </p:spTree>
    <p:extLst>
      <p:ext uri="{BB962C8B-B14F-4D97-AF65-F5344CB8AC3E}">
        <p14:creationId xmlns:p14="http://schemas.microsoft.com/office/powerpoint/2010/main" val="77112766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나눔고딕OTF"/>
        <a:ea typeface="나눔고딕OTF"/>
        <a:cs typeface=""/>
      </a:majorFont>
      <a:minorFont>
        <a:latin typeface="나눔고딕OTF"/>
        <a:ea typeface="나눔고딕OTF"/>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13875</TotalTime>
  <Words>3610</Words>
  <Application>Microsoft Office PowerPoint</Application>
  <PresentationFormat>와이드스크린</PresentationFormat>
  <Paragraphs>204</Paragraphs>
  <Slides>29</Slides>
  <Notes>0</Notes>
  <HiddenSlides>0</HiddenSlides>
  <MMClips>5</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29</vt:i4>
      </vt:variant>
    </vt:vector>
  </HeadingPairs>
  <TitlesOfParts>
    <vt:vector size="35" baseType="lpstr">
      <vt:lpstr>-apple-system</vt:lpstr>
      <vt:lpstr>Noto Sans KR</vt:lpstr>
      <vt:lpstr>나눔고딕OTF</vt:lpstr>
      <vt:lpstr>Arial</vt:lpstr>
      <vt:lpstr>Cambria Math</vt:lpstr>
      <vt:lpstr>Office 테마</vt:lpstr>
      <vt:lpstr>Overview of Metamaterials</vt:lpstr>
      <vt:lpstr>PowerPoint 프레젠테이션</vt:lpstr>
      <vt:lpstr>What are Metamaterials?</vt:lpstr>
      <vt:lpstr>What are Metamaterials?</vt:lpstr>
      <vt:lpstr>Research Keywords</vt:lpstr>
      <vt:lpstr>PowerPoint 프레젠테이션</vt:lpstr>
      <vt:lpstr>Stress &amp; Strain</vt:lpstr>
      <vt:lpstr>Stress &amp; Strain</vt:lpstr>
      <vt:lpstr>Elastic Modulus</vt:lpstr>
      <vt:lpstr>PowerPoint 프레젠테이션</vt:lpstr>
      <vt:lpstr>Stiffness (E)-Based Metamaterials</vt:lpstr>
      <vt:lpstr>Stiffness (E)-Based Metamaterials</vt:lpstr>
      <vt:lpstr>Stiffness (E)-Based Metamaterials</vt:lpstr>
      <vt:lpstr>Stiffness (E)-Based Metamaterials</vt:lpstr>
      <vt:lpstr>Poisson’s ratio(𝑣) - Based Metamaterials</vt:lpstr>
      <vt:lpstr>PowerPoint 프레젠테이션</vt:lpstr>
      <vt:lpstr>Research Questions from a HCI Perspective</vt:lpstr>
      <vt:lpstr>Significance of Metamaterials in Human-Computer Interaction</vt:lpstr>
      <vt:lpstr>Related works</vt:lpstr>
      <vt:lpstr>Related works</vt:lpstr>
      <vt:lpstr>Related works</vt:lpstr>
      <vt:lpstr>PowerPoint 프레젠테이션</vt:lpstr>
      <vt:lpstr>Topology Optimization</vt:lpstr>
      <vt:lpstr>Core Idea</vt:lpstr>
      <vt:lpstr>First Workflow</vt:lpstr>
      <vt:lpstr>First Workflow - Result</vt:lpstr>
      <vt:lpstr>Second Workflow</vt:lpstr>
      <vt:lpstr>Second Workflow</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진영 이</cp:lastModifiedBy>
  <cp:revision>169</cp:revision>
  <dcterms:created xsi:type="dcterms:W3CDTF">2024-01-30T05:30:49Z</dcterms:created>
  <dcterms:modified xsi:type="dcterms:W3CDTF">2025-03-26T14:18:33Z</dcterms:modified>
</cp:coreProperties>
</file>