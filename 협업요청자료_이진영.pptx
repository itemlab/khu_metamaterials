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855" r:id="rId4"/>
    <p:sldId id="835" r:id="rId5"/>
    <p:sldId id="844" r:id="rId6"/>
    <p:sldId id="839" r:id="rId7"/>
    <p:sldId id="845" r:id="rId8"/>
    <p:sldId id="841" r:id="rId9"/>
    <p:sldId id="847" r:id="rId10"/>
    <p:sldId id="852" r:id="rId11"/>
    <p:sldId id="857" r:id="rId12"/>
    <p:sldId id="858" r:id="rId13"/>
    <p:sldId id="849" r:id="rId14"/>
    <p:sldId id="854" r:id="rId15"/>
    <p:sldId id="861" r:id="rId16"/>
    <p:sldId id="853" r:id="rId17"/>
    <p:sldId id="848" r:id="rId18"/>
    <p:sldId id="846" r:id="rId19"/>
    <p:sldId id="851" r:id="rId20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81635" autoAdjust="0"/>
  </p:normalViewPr>
  <p:slideViewPr>
    <p:cSldViewPr snapToGrid="0">
      <p:cViewPr>
        <p:scale>
          <a:sx n="125" d="100"/>
          <a:sy n="125" d="100"/>
        </p:scale>
        <p:origin x="1632" y="246"/>
      </p:cViewPr>
      <p:guideLst>
        <p:guide orient="horz" pos="2160"/>
        <p:guide pos="3840"/>
        <p:guide orient="horz" pos="3997"/>
        <p:guide orient="horz" pos="777"/>
      </p:guideLst>
    </p:cSldViewPr>
  </p:slideViewPr>
  <p:outlineViewPr>
    <p:cViewPr>
      <p:scale>
        <a:sx n="33" d="100"/>
        <a:sy n="33" d="100"/>
      </p:scale>
      <p:origin x="0" y="-135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0"/>
    </p:cViewPr>
  </p:sorterViewPr>
  <p:notesViewPr>
    <p:cSldViewPr snapToGrid="0">
      <p:cViewPr varScale="1">
        <p:scale>
          <a:sx n="162" d="100"/>
          <a:sy n="162" d="100"/>
        </p:scale>
        <p:origin x="2124" y="114"/>
      </p:cViewPr>
      <p:guideLst/>
    </p:cSldViewPr>
  </p:notesViewPr>
  <p:gridSpacing cx="144001" cy="144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oolg\Desktop\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oolg\Desktop\1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Stress-strain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3815048118985127"/>
          <c:y val="0.17171296296296296"/>
          <c:w val="0.80576596675415568"/>
          <c:h val="0.62271617089530473"/>
        </c:manualLayout>
      </c:layout>
      <c:scatterChart>
        <c:scatterStyle val="lineMarker"/>
        <c:varyColors val="0"/>
        <c:ser>
          <c:idx val="0"/>
          <c:order val="0"/>
          <c:tx>
            <c:v>Target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'2'!$A$1:$A$11</c:f>
              <c:numCache>
                <c:formatCode>@</c:formatCode>
                <c:ptCount val="11"/>
                <c:pt idx="0">
                  <c:v>0.2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'2'!$B$1:$B$11</c:f>
              <c:numCache>
                <c:formatCode>@</c:formatCode>
                <c:ptCount val="11"/>
                <c:pt idx="0">
                  <c:v>2.8942057778936698</c:v>
                </c:pt>
                <c:pt idx="1">
                  <c:v>28.9420577789367</c:v>
                </c:pt>
                <c:pt idx="2">
                  <c:v>46.349097501830798</c:v>
                </c:pt>
                <c:pt idx="3">
                  <c:v>56.848517288364597</c:v>
                </c:pt>
                <c:pt idx="4">
                  <c:v>64.215316225846294</c:v>
                </c:pt>
                <c:pt idx="5">
                  <c:v>69.585260741833594</c:v>
                </c:pt>
                <c:pt idx="6">
                  <c:v>74.259626654671095</c:v>
                </c:pt>
                <c:pt idx="7">
                  <c:v>78.826318212880395</c:v>
                </c:pt>
                <c:pt idx="8">
                  <c:v>82.8795949492484</c:v>
                </c:pt>
                <c:pt idx="9">
                  <c:v>85.818889169297705</c:v>
                </c:pt>
                <c:pt idx="10">
                  <c:v>86.164457798578397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13-4692-805D-BB2EE4190AE6}"/>
            </c:ext>
          </c:extLst>
        </c:ser>
        <c:ser>
          <c:idx val="1"/>
          <c:order val="1"/>
          <c:tx>
            <c:v>Predict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'2'!$A$1:$A$11</c:f>
              <c:numCache>
                <c:formatCode>@</c:formatCode>
                <c:ptCount val="11"/>
                <c:pt idx="0">
                  <c:v>0.2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'2'!$C$1:$C$11</c:f>
              <c:numCache>
                <c:formatCode>@</c:formatCode>
                <c:ptCount val="11"/>
                <c:pt idx="0">
                  <c:v>2.81</c:v>
                </c:pt>
                <c:pt idx="1">
                  <c:v>30.4</c:v>
                </c:pt>
                <c:pt idx="2">
                  <c:v>49.7</c:v>
                </c:pt>
                <c:pt idx="3">
                  <c:v>60.1</c:v>
                </c:pt>
                <c:pt idx="4">
                  <c:v>67.400000000000006</c:v>
                </c:pt>
                <c:pt idx="5">
                  <c:v>73.099999999999994</c:v>
                </c:pt>
                <c:pt idx="6">
                  <c:v>77.400000000000006</c:v>
                </c:pt>
                <c:pt idx="7">
                  <c:v>81.3</c:v>
                </c:pt>
                <c:pt idx="8">
                  <c:v>84.3</c:v>
                </c:pt>
                <c:pt idx="9">
                  <c:v>86.1</c:v>
                </c:pt>
                <c:pt idx="10">
                  <c:v>85.1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313-4692-805D-BB2EE4190AE6}"/>
            </c:ext>
          </c:extLst>
        </c:ser>
        <c:ser>
          <c:idx val="2"/>
          <c:order val="2"/>
          <c:tx>
            <c:v>Abaqus_eval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'2'!$A$1:$A$11</c:f>
              <c:numCache>
                <c:formatCode>@</c:formatCode>
                <c:ptCount val="11"/>
                <c:pt idx="0">
                  <c:v>0.2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'2'!$D$1:$D$11</c:f>
              <c:numCache>
                <c:formatCode>@</c:formatCode>
                <c:ptCount val="11"/>
                <c:pt idx="0">
                  <c:v>0</c:v>
                </c:pt>
                <c:pt idx="1">
                  <c:v>30.9188498556613</c:v>
                </c:pt>
                <c:pt idx="2">
                  <c:v>49.332112193107598</c:v>
                </c:pt>
                <c:pt idx="3">
                  <c:v>59.0220680832862</c:v>
                </c:pt>
                <c:pt idx="4">
                  <c:v>65.775169968604999</c:v>
                </c:pt>
                <c:pt idx="5">
                  <c:v>70.889467716216998</c:v>
                </c:pt>
                <c:pt idx="6">
                  <c:v>75.5690495967864</c:v>
                </c:pt>
                <c:pt idx="7">
                  <c:v>79.268025279045105</c:v>
                </c:pt>
                <c:pt idx="8">
                  <c:v>82.282271921634603</c:v>
                </c:pt>
                <c:pt idx="9">
                  <c:v>83.6581782698631</c:v>
                </c:pt>
                <c:pt idx="10">
                  <c:v>83.827970743179307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313-4692-805D-BB2EE419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7166591"/>
        <c:axId val="1887177407"/>
      </c:scatterChart>
      <c:valAx>
        <c:axId val="1887166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Strain</a:t>
                </a:r>
                <a:r>
                  <a:rPr lang="en-US" altLang="ko-KR" baseline="0"/>
                  <a:t> (%)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87177407"/>
        <c:crosses val="autoZero"/>
        <c:crossBetween val="midCat"/>
      </c:valAx>
      <c:valAx>
        <c:axId val="1887177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Stress (MPa)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871665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922750190333636"/>
          <c:y val="0.46465170531423511"/>
          <c:w val="0.25949496955423584"/>
          <c:h val="0.31731302197545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Stress</a:t>
            </a:r>
            <a:r>
              <a:rPr lang="en-US" altLang="ko-KR" baseline="0" dirty="0"/>
              <a:t> - strain</a:t>
            </a:r>
            <a:endParaRPr lang="ko-KR" altLang="en-US" dirty="0"/>
          </a:p>
        </c:rich>
      </c:tx>
      <c:layout>
        <c:manualLayout>
          <c:xMode val="edge"/>
          <c:yMode val="edge"/>
          <c:x val="0.3257442578128714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3623200960966544"/>
          <c:y val="0.17171296296296296"/>
          <c:w val="0.81056857187228948"/>
          <c:h val="0.59917468649752115"/>
        </c:manualLayout>
      </c:layout>
      <c:scatterChart>
        <c:scatterStyle val="lineMarker"/>
        <c:varyColors val="0"/>
        <c:ser>
          <c:idx val="0"/>
          <c:order val="0"/>
          <c:tx>
            <c:v>Target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'1'!$B$1:$B$11</c:f>
              <c:numCache>
                <c:formatCode>@</c:formatCode>
                <c:ptCount val="11"/>
                <c:pt idx="0">
                  <c:v>0.2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'1'!$C$1:$C$11</c:f>
              <c:numCache>
                <c:formatCode>@</c:formatCode>
                <c:ptCount val="11"/>
                <c:pt idx="0">
                  <c:v>4.6879176710188297E-3</c:v>
                </c:pt>
                <c:pt idx="1">
                  <c:v>4.6879176710187001E-2</c:v>
                </c:pt>
                <c:pt idx="2">
                  <c:v>2.86596201992463E-2</c:v>
                </c:pt>
                <c:pt idx="3">
                  <c:v>0.19908772775644101</c:v>
                </c:pt>
                <c:pt idx="4">
                  <c:v>0.450780709720141</c:v>
                </c:pt>
                <c:pt idx="5">
                  <c:v>0.76707433834447503</c:v>
                </c:pt>
                <c:pt idx="6">
                  <c:v>1.09621902123093</c:v>
                </c:pt>
                <c:pt idx="7">
                  <c:v>1.4459815720895799</c:v>
                </c:pt>
                <c:pt idx="8">
                  <c:v>1.86419386772174</c:v>
                </c:pt>
                <c:pt idx="9">
                  <c:v>2.45411935732806</c:v>
                </c:pt>
                <c:pt idx="10">
                  <c:v>3.0161356778082702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3A-41E0-96A3-2EA08EEBE28C}"/>
            </c:ext>
          </c:extLst>
        </c:ser>
        <c:ser>
          <c:idx val="1"/>
          <c:order val="1"/>
          <c:tx>
            <c:v>Predict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'1'!$B$1:$B$11</c:f>
              <c:numCache>
                <c:formatCode>@</c:formatCode>
                <c:ptCount val="11"/>
                <c:pt idx="0">
                  <c:v>0.2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'1'!$D$1:$D$11</c:f>
              <c:numCache>
                <c:formatCode>@</c:formatCode>
                <c:ptCount val="11"/>
                <c:pt idx="0">
                  <c:v>3</c:v>
                </c:pt>
                <c:pt idx="1">
                  <c:v>3.03</c:v>
                </c:pt>
                <c:pt idx="2">
                  <c:v>3.1</c:v>
                </c:pt>
                <c:pt idx="3">
                  <c:v>3.23</c:v>
                </c:pt>
                <c:pt idx="4">
                  <c:v>3.4</c:v>
                </c:pt>
                <c:pt idx="5">
                  <c:v>3.63</c:v>
                </c:pt>
                <c:pt idx="6">
                  <c:v>3.9</c:v>
                </c:pt>
                <c:pt idx="7">
                  <c:v>4.2300000000000004</c:v>
                </c:pt>
                <c:pt idx="8">
                  <c:v>4.5999999999999996</c:v>
                </c:pt>
                <c:pt idx="9">
                  <c:v>5.03</c:v>
                </c:pt>
                <c:pt idx="10">
                  <c:v>5.5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3A-41E0-96A3-2EA08EEBE28C}"/>
            </c:ext>
          </c:extLst>
        </c:ser>
        <c:ser>
          <c:idx val="2"/>
          <c:order val="2"/>
          <c:tx>
            <c:v>Abaqus_eval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'1'!$I$2:$I$12</c:f>
              <c:numCache>
                <c:formatCode>@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5.9999999999999902</c:v>
                </c:pt>
                <c:pt idx="4">
                  <c:v>8</c:v>
                </c:pt>
                <c:pt idx="5">
                  <c:v>10</c:v>
                </c:pt>
                <c:pt idx="6">
                  <c:v>11.999999999999901</c:v>
                </c:pt>
                <c:pt idx="7">
                  <c:v>14.000000000000002</c:v>
                </c:pt>
                <c:pt idx="8">
                  <c:v>16</c:v>
                </c:pt>
                <c:pt idx="9">
                  <c:v>17.999999999999901</c:v>
                </c:pt>
                <c:pt idx="10">
                  <c:v>20</c:v>
                </c:pt>
              </c:numCache>
            </c:numRef>
          </c:xVal>
          <c:yVal>
            <c:numRef>
              <c:f>'1'!$J$2:$J$12</c:f>
              <c:numCache>
                <c:formatCode>@</c:formatCode>
                <c:ptCount val="11"/>
                <c:pt idx="0">
                  <c:v>0</c:v>
                </c:pt>
                <c:pt idx="1">
                  <c:v>2.62984862923622</c:v>
                </c:pt>
                <c:pt idx="2">
                  <c:v>2.7980947978794499</c:v>
                </c:pt>
                <c:pt idx="3">
                  <c:v>2.7501661889254998</c:v>
                </c:pt>
                <c:pt idx="4">
                  <c:v>5.0123775824904397</c:v>
                </c:pt>
                <c:pt idx="5">
                  <c:v>5.39847336709499</c:v>
                </c:pt>
                <c:pt idx="6">
                  <c:v>5.3288989812135599</c:v>
                </c:pt>
                <c:pt idx="7">
                  <c:v>5.0959110334515501</c:v>
                </c:pt>
                <c:pt idx="8">
                  <c:v>4.8394423797726596</c:v>
                </c:pt>
                <c:pt idx="9">
                  <c:v>4.6144874915480596</c:v>
                </c:pt>
                <c:pt idx="10">
                  <c:v>4.3199719935655496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13A-41E0-96A3-2EA08EEBE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6828767"/>
        <c:axId val="2056829599"/>
      </c:scatterChart>
      <c:valAx>
        <c:axId val="2056828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Strain (%)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56829599"/>
        <c:crosses val="autoZero"/>
        <c:crossBetween val="midCat"/>
      </c:valAx>
      <c:valAx>
        <c:axId val="2056829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Stress (MPa)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568287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552161181444661"/>
          <c:y val="0.53264007248631895"/>
          <c:w val="0.25704006245859956"/>
          <c:h val="0.23437664041994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FD79C-96A8-4BCF-8476-F072EC4E630A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5AC6D-0699-4E01-A4C1-801B4DBE86E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70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6824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4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2944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5F18-F817-5DEF-0C0F-A683874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6814B-2A89-BEA6-FACF-6667813E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FD285-4B11-1CE6-C480-E937DDD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0BBED-9A08-409A-B78C-36B6861D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5E0D9-3D78-4F43-BD61-7330B4DC3B6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8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5F18-F817-5DEF-0C0F-A683874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6814B-2A89-BEA6-FACF-6667813E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FD285-4B11-1CE6-C480-E937DDD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0BBED-9A08-409A-B78C-36B6861D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5E0D9-3D78-4F43-BD61-7330B4DC3B6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7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5F18-F817-5DEF-0C0F-A683874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6814B-2A89-BEA6-FACF-6667813E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FD285-4B11-1CE6-C480-E937DDD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0BBED-9A08-409A-B78C-36B6861D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5E0D9-3D78-4F43-BD61-7330B4DC3B6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82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5F18-F817-5DEF-0C0F-A683874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6814B-2A89-BEA6-FACF-6667813E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FD285-4B11-1CE6-C480-E937DDD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0BBED-9A08-409A-B78C-36B6861D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5E0D9-3D78-4F43-BD61-7330B4DC3B6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68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5F18-F817-5DEF-0C0F-A683874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6814B-2A89-BEA6-FACF-6667813E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FD285-4B11-1CE6-C480-E937DDD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0BBED-9A08-409A-B78C-36B6861D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5E0D9-3D78-4F43-BD61-7330B4DC3B6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004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8699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685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4111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050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5AC6D-0699-4E01-A4C1-801B4DBE86EE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46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87DA2-AE60-4CE4-AB9A-48477B3D4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EFDF26-ABDF-40C6-9223-86A1E0049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0FDEE-EE95-41B8-AF15-FF8BD429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03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AD5F4-B404-40F5-B555-98C1A483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90" y="291935"/>
            <a:ext cx="5241365" cy="672172"/>
          </a:xfrm>
        </p:spPr>
        <p:txBody>
          <a:bodyPr>
            <a:normAutofit/>
          </a:bodyPr>
          <a:lstStyle>
            <a:lvl1pPr>
              <a:defRPr sz="3200">
                <a:latin typeface="나눔고딕OTF ExtraBold" panose="020D0904000000000000" pitchFamily="34" charset="-127"/>
                <a:ea typeface="나눔고딕OTF ExtraBold" panose="020D0904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975C64-4FDF-4519-96B2-935434986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74363"/>
            <a:ext cx="11306175" cy="47236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n-ea"/>
                <a:ea typeface="+mn-ea"/>
              </a:defRPr>
            </a:lvl1pPr>
            <a:lvl2pPr>
              <a:lnSpc>
                <a:spcPct val="120000"/>
              </a:lnSpc>
              <a:defRPr sz="1400">
                <a:latin typeface="+mn-ea"/>
                <a:ea typeface="+mn-ea"/>
              </a:defRPr>
            </a:lvl2pPr>
            <a:lvl3pPr>
              <a:lnSpc>
                <a:spcPct val="120000"/>
              </a:lnSpc>
              <a:defRPr sz="14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4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4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318C-D03F-4DC7-894D-04D34856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F9CCAF8D-52A7-4FAB-846B-808CC11F98E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5241365" cy="32238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latin typeface="나눔고딕OTF" panose="020D0804000000000000" pitchFamily="34" charset="-127"/>
                <a:ea typeface="나눔고딕OTF" panose="020D0804000000000000" pitchFamily="34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77711B-D17D-42E2-90AA-6D4C89169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5463" y="6566064"/>
            <a:ext cx="10396537" cy="2919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977446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 userDrawn="1">
          <p15:clr>
            <a:srgbClr val="FBAE40"/>
          </p15:clr>
        </p15:guide>
        <p15:guide id="4" pos="7401" userDrawn="1">
          <p15:clr>
            <a:srgbClr val="FBAE40"/>
          </p15:clr>
        </p15:guide>
        <p15:guide id="5" pos="279" userDrawn="1">
          <p15:clr>
            <a:srgbClr val="FBAE40"/>
          </p15:clr>
        </p15:guide>
        <p15:guide id="6" orient="horz" pos="4133" userDrawn="1">
          <p15:clr>
            <a:srgbClr val="FBAE40"/>
          </p15:clr>
        </p15:guide>
        <p15:guide id="7" pos="2048" userDrawn="1">
          <p15:clr>
            <a:srgbClr val="FBAE40"/>
          </p15:clr>
        </p15:guide>
        <p15:guide id="8" orient="horz" pos="867" userDrawn="1">
          <p15:clr>
            <a:srgbClr val="FBAE40"/>
          </p15:clr>
        </p15:guide>
        <p15:guide id="9" pos="5632" userDrawn="1">
          <p15:clr>
            <a:srgbClr val="FBAE40"/>
          </p15:clr>
        </p15:guide>
        <p15:guide id="10" orient="horz" pos="2500" userDrawn="1">
          <p15:clr>
            <a:srgbClr val="FBAE40"/>
          </p15:clr>
        </p15:guide>
        <p15:guide id="1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95F03-AA81-428A-9691-AD1A4A61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084CB4-8C78-4B1A-AEA3-C52235DC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CC177F-0B8C-408C-B306-64641F93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089884-3377-43B1-A7BE-4C3FF298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B59ECA-4934-48D9-B02E-8F4B0580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87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1D6A6-6099-45E0-8706-B899E545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B8A0B5-024E-4311-A91D-1A8C38A94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D57B49-B064-41A6-9AEA-375AEF9D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3D3A9E-ABF5-4E01-BB34-F9367B61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EF436-B59A-4EE8-A591-7B5A7DD8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798961-8960-4C43-A0AF-A8D1143D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811D376-E214-45FA-8359-153254E7557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1012" y="776082"/>
            <a:ext cx="5241365" cy="32238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0756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6B97E-4C45-4799-8385-CCC6F01D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242C8-9924-47CE-87BA-4AA338991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A71EA2-BBCF-4CE2-BFAA-531F94591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0EA10B-2756-4458-BFD8-5DFF86040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A02F04-8516-444B-A08A-F3392C717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5A1EB1-B456-4023-8177-A13AD066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FF61C8-F77A-4CFF-96D5-42B9B027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D0934C-0C50-4257-BEFC-32170232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639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36A9B-DC80-487F-886F-FABBFA26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7AC89E-1315-4CBE-BC63-35B836C7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44125E-2BFD-45B0-8D7C-4D004FF1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73354-0DE3-40BE-86A3-8D170326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943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318BE2-4D9C-4E55-9237-DA223C52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15C854-9184-4126-B278-DF377656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A71675-07A8-4D78-B2D8-A1CFF67B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F0343-CA0D-4E29-813A-F935DB8D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E11B66-F124-4E3B-8F9B-669B441D9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D2ABB0-2828-4EA3-9BD0-A6108E75F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A5072E-DA4F-4F38-9699-19E2CA62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538AA-A592-4023-93A5-A82A27F5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CA3409-B8F8-43EA-9813-910F91AF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189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2DE3-CA89-4875-A97B-ABC8D569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1C3B3A-4B45-4764-993D-AA2427387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4572F1-4267-4D73-A7F9-F40E2102E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EC6E0-1DE2-482F-A19B-C7BD4D04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C27C5A-1BFF-421F-A533-792B3547C5EC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919491-D63A-4F46-B986-5B341A730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8B20F-FC31-4A32-ADE6-C50A48AF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171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863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63379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57600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43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8115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8039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0860"/>
          </a:xfrm>
        </p:spPr>
        <p:txBody>
          <a:bodyPr wrap="square" lIns="288000" tIns="432000">
            <a:spAutoFit/>
          </a:bodyPr>
          <a:lstStyle>
            <a:lvl1pPr>
              <a:defRPr lang="ko-KR" altLang="en-US" dirty="0">
                <a:solidFill>
                  <a:schemeClr val="tx1"/>
                </a:solidFill>
                <a:latin typeface="Bebas Kai" panose="04050603020B02020204" pitchFamily="82" charset="0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92ED4-0C0C-42E4-8A23-E9349A841DD5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419CB-B7D9-4405-9A36-6AF00FE057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0" y="1026319"/>
            <a:ext cx="12192000" cy="482633"/>
          </a:xfrm>
        </p:spPr>
        <p:txBody>
          <a:bodyPr vert="horz" lIns="288000" tIns="45720" rIns="91440" bIns="45720" rtlCol="0">
            <a:normAutofit/>
          </a:bodyPr>
          <a:lstStyle>
            <a:lvl1pPr marL="0" indent="0">
              <a:buNone/>
              <a:defRPr lang="ko-KR" altLang="en-US" dirty="0">
                <a:solidFill>
                  <a:schemeClr val="bg1">
                    <a:lumMod val="8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marL="228600" lvl="0" indent="-22860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8510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9C4F12-0FCA-4462-BE39-ECDE3BFF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2" y="103910"/>
            <a:ext cx="5241365" cy="672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5A350-5165-4155-817E-830131206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011" y="1374363"/>
            <a:ext cx="11576811" cy="4723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313F0-E783-4264-8466-03CF671E0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0004" y="1"/>
            <a:ext cx="571995" cy="2078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36F43-AD8C-4F33-980A-5B4ED8AB2F7F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2B7AEBF-C6E1-49CB-AEFF-595ECD6706F1}"/>
              </a:ext>
            </a:extLst>
          </p:cNvPr>
          <p:cNvGrpSpPr/>
          <p:nvPr userDrawn="1"/>
        </p:nvGrpSpPr>
        <p:grpSpPr>
          <a:xfrm>
            <a:off x="0" y="6545016"/>
            <a:ext cx="1092017" cy="312984"/>
            <a:chOff x="572323" y="6360928"/>
            <a:chExt cx="1309105" cy="37520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AF3015E-3DBE-4732-A859-3A08ECE9E4E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60" t="31135" r="32969" b="32640"/>
            <a:stretch/>
          </p:blipFill>
          <p:spPr>
            <a:xfrm>
              <a:off x="572323" y="6360928"/>
              <a:ext cx="519695" cy="375204"/>
            </a:xfrm>
            <a:prstGeom prst="rect">
              <a:avLst/>
            </a:prstGeom>
          </p:spPr>
        </p:pic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907F8E28-1EE4-463D-94FA-34650B32F9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l="15925" t="31982" r="16696" b="24062"/>
            <a:stretch/>
          </p:blipFill>
          <p:spPr>
            <a:xfrm>
              <a:off x="1138067" y="6400800"/>
              <a:ext cx="743361" cy="2954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03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openxmlformats.org/officeDocument/2006/relationships/image" Target="../media/image7.gif"/><Relationship Id="rId7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10" Type="http://schemas.openxmlformats.org/officeDocument/2006/relationships/image" Target="../media/image14.gif"/><Relationship Id="rId4" Type="http://schemas.openxmlformats.org/officeDocument/2006/relationships/image" Target="../media/image8.gif"/><Relationship Id="rId9" Type="http://schemas.openxmlformats.org/officeDocument/2006/relationships/image" Target="../media/image1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chart" Target="../charts/chart1.xml"/><Relationship Id="rId7" Type="http://schemas.openxmlformats.org/officeDocument/2006/relationships/image" Target="../media/image19.gif"/><Relationship Id="rId12" Type="http://schemas.openxmlformats.org/officeDocument/2006/relationships/image" Target="../media/image2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11" Type="http://schemas.openxmlformats.org/officeDocument/2006/relationships/image" Target="../media/image22.gif"/><Relationship Id="rId5" Type="http://schemas.openxmlformats.org/officeDocument/2006/relationships/image" Target="../media/image17.gif"/><Relationship Id="rId10" Type="http://schemas.openxmlformats.org/officeDocument/2006/relationships/image" Target="../media/image21.gif"/><Relationship Id="rId4" Type="http://schemas.openxmlformats.org/officeDocument/2006/relationships/image" Target="../media/image16.gif"/><Relationship Id="rId9" Type="http://schemas.openxmlformats.org/officeDocument/2006/relationships/image" Target="../media/image2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995144A-212D-43EB-A1F3-6707739DE8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Inverse Design of Nonlinear Mechanical Metamaterial</a:t>
            </a:r>
            <a:endParaRPr lang="ko-KR" altLang="en-US" dirty="0"/>
          </a:p>
        </p:txBody>
      </p:sp>
      <p:sp>
        <p:nvSpPr>
          <p:cNvPr id="8" name="부제목 7">
            <a:extLst>
              <a:ext uri="{FF2B5EF4-FFF2-40B4-BE49-F238E27FC236}">
                <a16:creationId xmlns:a16="http://schemas.microsoft.com/office/drawing/2014/main" id="{FA618216-DC6B-46FD-AD8E-F5A25F710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2026.04.22</a:t>
            </a:r>
          </a:p>
          <a:p>
            <a:r>
              <a:rPr lang="ko-KR" altLang="en-US" sz="1800" dirty="0"/>
              <a:t>경희대학교 소프트웨어융합학과</a:t>
            </a:r>
            <a:br>
              <a:rPr lang="en-US" altLang="ko-KR" sz="1800" dirty="0"/>
            </a:br>
            <a:r>
              <a:rPr lang="ko-KR" altLang="en-US" sz="1800" dirty="0"/>
              <a:t>이진영</a:t>
            </a:r>
          </a:p>
        </p:txBody>
      </p:sp>
    </p:spTree>
    <p:extLst>
      <p:ext uri="{BB962C8B-B14F-4D97-AF65-F5344CB8AC3E}">
        <p14:creationId xmlns:p14="http://schemas.microsoft.com/office/powerpoint/2010/main" val="89438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78E64C-D2BF-465D-9C38-AB7A7C93CD91}"/>
              </a:ext>
            </a:extLst>
          </p:cNvPr>
          <p:cNvSpPr/>
          <p:nvPr/>
        </p:nvSpPr>
        <p:spPr>
          <a:xfrm>
            <a:off x="471627" y="1376363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97D56D-0A95-43D6-B6C1-6C0CF9B6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Goal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97151-3491-4728-BA94-7CD6A8D6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1374363"/>
            <a:ext cx="5040000" cy="4968874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Research</a:t>
            </a:r>
            <a:r>
              <a:rPr lang="ko-KR" altLang="en-US" sz="1400" dirty="0"/>
              <a:t> </a:t>
            </a:r>
            <a:r>
              <a:rPr lang="en-US" altLang="ko-KR" sz="1400" dirty="0"/>
              <a:t>Goal : </a:t>
            </a:r>
            <a:br>
              <a:rPr lang="en-US" altLang="ko-KR" sz="1400" dirty="0"/>
            </a:br>
            <a:r>
              <a:rPr lang="en-US" altLang="ko-KR" sz="1400" dirty="0"/>
              <a:t>Nonlinear</a:t>
            </a:r>
            <a:r>
              <a:rPr lang="ko-KR" altLang="en-US" sz="1400" dirty="0"/>
              <a:t> </a:t>
            </a:r>
            <a:r>
              <a:rPr lang="en-US" altLang="ko-KR" sz="1400" dirty="0"/>
              <a:t>target curve</a:t>
            </a:r>
            <a:r>
              <a:rPr lang="ko-KR" altLang="en-US" sz="1400" dirty="0"/>
              <a:t>를 구현하는 구조를 가진 </a:t>
            </a:r>
            <a:r>
              <a:rPr lang="en-US" altLang="ko-KR" sz="1400" dirty="0"/>
              <a:t>Metamaterial inverse design framework </a:t>
            </a:r>
            <a:r>
              <a:rPr lang="ko-KR" altLang="en-US" sz="1400" dirty="0"/>
              <a:t>구축</a:t>
            </a:r>
            <a:endParaRPr lang="en-US" altLang="ko-KR" sz="1400" dirty="0"/>
          </a:p>
          <a:p>
            <a:r>
              <a:rPr lang="ko-KR" altLang="en-US" sz="1400" dirty="0"/>
              <a:t>학습 데이터 </a:t>
            </a:r>
            <a:r>
              <a:rPr lang="en-US" altLang="ko-KR" sz="1400" dirty="0"/>
              <a:t>:</a:t>
            </a:r>
          </a:p>
          <a:p>
            <a:pPr lvl="1"/>
            <a:r>
              <a:rPr lang="ko-KR" altLang="en-US" sz="1200" dirty="0"/>
              <a:t>무작위 </a:t>
            </a:r>
            <a:r>
              <a:rPr lang="en-US" altLang="ko-KR" sz="1200" dirty="0"/>
              <a:t>Cell</a:t>
            </a:r>
            <a:r>
              <a:rPr lang="ko-KR" altLang="en-US" sz="1200" dirty="0"/>
              <a:t> </a:t>
            </a:r>
            <a:r>
              <a:rPr lang="en-US" altLang="ko-KR" sz="1200" dirty="0"/>
              <a:t>Geometry</a:t>
            </a:r>
          </a:p>
          <a:p>
            <a:pPr lvl="1"/>
            <a:r>
              <a:rPr lang="en-US" altLang="ko-KR" sz="1200" dirty="0"/>
              <a:t>Geometry</a:t>
            </a:r>
            <a:r>
              <a:rPr lang="ko-KR" altLang="en-US" sz="1200" dirty="0"/>
              <a:t>의 </a:t>
            </a:r>
            <a:r>
              <a:rPr lang="en-US" altLang="ko-KR" sz="1200" dirty="0"/>
              <a:t>FE simulation data</a:t>
            </a:r>
          </a:p>
          <a:p>
            <a:r>
              <a:rPr lang="en-US" altLang="ko-KR" sz="1400" dirty="0"/>
              <a:t>Inference</a:t>
            </a:r>
            <a:r>
              <a:rPr lang="ko-KR" altLang="en-US" sz="1400" dirty="0"/>
              <a:t> </a:t>
            </a:r>
            <a:r>
              <a:rPr lang="en-US" altLang="ko-KR" sz="1400" dirty="0"/>
              <a:t>Input/Output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</a:p>
          <a:p>
            <a:pPr lvl="1"/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Target</a:t>
            </a:r>
            <a:r>
              <a:rPr lang="ko-KR" altLang="en-US" sz="1200" dirty="0"/>
              <a:t> </a:t>
            </a:r>
            <a:r>
              <a:rPr lang="en-US" altLang="ko-KR" sz="1200" dirty="0"/>
              <a:t>Stress-strain curve</a:t>
            </a:r>
          </a:p>
          <a:p>
            <a:pPr lvl="1"/>
            <a:r>
              <a:rPr lang="en-US" altLang="ko-KR" sz="1200" dirty="0"/>
              <a:t>Output : Nonlinear</a:t>
            </a:r>
            <a:r>
              <a:rPr lang="ko-KR" altLang="en-US" sz="1200" dirty="0"/>
              <a:t> </a:t>
            </a:r>
            <a:r>
              <a:rPr lang="en-US" altLang="ko-KR" sz="1200" dirty="0"/>
              <a:t>mechanical</a:t>
            </a:r>
            <a:r>
              <a:rPr lang="ko-KR" altLang="en-US" sz="1200" dirty="0"/>
              <a:t> </a:t>
            </a:r>
            <a:r>
              <a:rPr lang="en-US" altLang="ko-KR" sz="1200" dirty="0"/>
              <a:t>metamaterial structure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A11D02-9230-45D7-B35A-A14487D62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800" y="2484350"/>
            <a:ext cx="5040000" cy="27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3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78E64C-D2BF-465D-9C38-AB7A7C93CD91}"/>
              </a:ext>
            </a:extLst>
          </p:cNvPr>
          <p:cNvSpPr/>
          <p:nvPr/>
        </p:nvSpPr>
        <p:spPr>
          <a:xfrm>
            <a:off x="477603" y="1376363"/>
            <a:ext cx="3611594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97D56D-0A95-43D6-B6C1-6C0CF9B6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97151-3491-4728-BA94-7CD6A8D6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02" y="1813024"/>
            <a:ext cx="3611594" cy="4532214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Author-provided checkpoint </a:t>
            </a:r>
            <a:r>
              <a:rPr lang="ko-KR" altLang="en-US" sz="1400" dirty="0"/>
              <a:t>기반 </a:t>
            </a:r>
            <a:r>
              <a:rPr lang="en-US" altLang="ko-KR" sz="1400" dirty="0"/>
              <a:t>inference </a:t>
            </a:r>
            <a:r>
              <a:rPr lang="ko-KR" altLang="en-US" sz="1400" dirty="0"/>
              <a:t>및 </a:t>
            </a:r>
            <a:r>
              <a:rPr lang="en-US" altLang="ko-KR" sz="1400" dirty="0"/>
              <a:t>FE evaluation pipeline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r>
              <a:rPr lang="en-US" altLang="ko-KR" sz="1400" dirty="0"/>
              <a:t>Compression test </a:t>
            </a:r>
            <a:r>
              <a:rPr lang="ko-KR" altLang="en-US" sz="1400" dirty="0"/>
              <a:t>완료 및 </a:t>
            </a:r>
            <a:r>
              <a:rPr lang="en-US" altLang="ko-KR" sz="1400" dirty="0"/>
              <a:t>material data </a:t>
            </a:r>
            <a:r>
              <a:rPr lang="ko-KR" altLang="en-US" sz="1400" dirty="0"/>
              <a:t>확보 </a:t>
            </a:r>
          </a:p>
          <a:p>
            <a:r>
              <a:rPr lang="en-US" altLang="ko-KR" sz="1400" dirty="0"/>
              <a:t>53,008 geometries </a:t>
            </a:r>
            <a:r>
              <a:rPr lang="ko-KR" altLang="en-US" sz="1400" dirty="0"/>
              <a:t>생성 시도 </a:t>
            </a:r>
            <a:r>
              <a:rPr lang="en-US" altLang="ko-KR" sz="1400" dirty="0"/>
              <a:t>/ 4,614 usable FE runs </a:t>
            </a:r>
            <a:r>
              <a:rPr lang="ko-KR" altLang="en-US" sz="1400" dirty="0"/>
              <a:t>확보 </a:t>
            </a:r>
          </a:p>
          <a:p>
            <a:r>
              <a:rPr lang="en-US" altLang="ko-KR" sz="1400" dirty="0"/>
              <a:t>Preliminary training / inference </a:t>
            </a:r>
            <a:r>
              <a:rPr lang="ko-KR" altLang="en-US" sz="1400" dirty="0"/>
              <a:t>수행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D47B9-CC7B-40E9-9964-A557A581B129}"/>
              </a:ext>
            </a:extLst>
          </p:cNvPr>
          <p:cNvSpPr/>
          <p:nvPr/>
        </p:nvSpPr>
        <p:spPr>
          <a:xfrm>
            <a:off x="4323283" y="1376360"/>
            <a:ext cx="3611594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102B6C-BD58-4EEA-A506-EB030CDA2AAE}"/>
              </a:ext>
            </a:extLst>
          </p:cNvPr>
          <p:cNvSpPr/>
          <p:nvPr/>
        </p:nvSpPr>
        <p:spPr>
          <a:xfrm>
            <a:off x="8137494" y="1359901"/>
            <a:ext cx="3611593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E2154-3E29-4E97-8F97-E94701FE963A}"/>
              </a:ext>
            </a:extLst>
          </p:cNvPr>
          <p:cNvSpPr txBox="1"/>
          <p:nvPr/>
        </p:nvSpPr>
        <p:spPr>
          <a:xfrm>
            <a:off x="477604" y="1456194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Completed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FA52A-AE06-45F0-919B-526E06C3D706}"/>
              </a:ext>
            </a:extLst>
          </p:cNvPr>
          <p:cNvSpPr txBox="1"/>
          <p:nvPr/>
        </p:nvSpPr>
        <p:spPr>
          <a:xfrm>
            <a:off x="4323283" y="1456193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Current bottlenecks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0AB6D-352D-43EF-BDD4-8551634EA314}"/>
              </a:ext>
            </a:extLst>
          </p:cNvPr>
          <p:cNvSpPr txBox="1"/>
          <p:nvPr/>
        </p:nvSpPr>
        <p:spPr>
          <a:xfrm>
            <a:off x="8137493" y="1456193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Help Requested</a:t>
            </a:r>
            <a:endParaRPr lang="ko-KR" altLang="en-US" sz="1200" b="1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256AB04-0413-42BB-95E3-8B21814BF938}"/>
              </a:ext>
            </a:extLst>
          </p:cNvPr>
          <p:cNvSpPr txBox="1">
            <a:spLocks/>
          </p:cNvSpPr>
          <p:nvPr/>
        </p:nvSpPr>
        <p:spPr>
          <a:xfrm>
            <a:off x="4323283" y="1813021"/>
            <a:ext cx="3611594" cy="45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/>
              <a:t>Hyperelastic</a:t>
            </a:r>
            <a:r>
              <a:rPr lang="en-US" altLang="ko-KR" sz="1400" dirty="0"/>
              <a:t> fitting </a:t>
            </a:r>
            <a:r>
              <a:rPr lang="ko-KR" altLang="en-US" sz="1400" dirty="0"/>
              <a:t>결과가 안정적이지 않음 </a:t>
            </a:r>
            <a:endParaRPr lang="en-US" altLang="ko-KR" sz="1400" dirty="0"/>
          </a:p>
          <a:p>
            <a:r>
              <a:rPr lang="en-US" altLang="ko-KR" sz="1400" dirty="0"/>
              <a:t>Usable data rate</a:t>
            </a:r>
            <a:r>
              <a:rPr lang="ko-KR" altLang="en-US" sz="1400" dirty="0"/>
              <a:t>가 낮음</a:t>
            </a:r>
            <a:br>
              <a:rPr lang="ko-KR" altLang="en-US" sz="1400" dirty="0"/>
            </a:br>
            <a:r>
              <a:rPr lang="en-US" altLang="ko-KR" sz="1400" dirty="0"/>
              <a:t>→ paper scale </a:t>
            </a:r>
            <a:r>
              <a:rPr lang="ko-KR" altLang="en-US" sz="1400" dirty="0"/>
              <a:t>대비 약 </a:t>
            </a:r>
            <a:r>
              <a:rPr lang="en-US" altLang="ko-KR" sz="1400" dirty="0"/>
              <a:t>8.7% </a:t>
            </a:r>
          </a:p>
          <a:p>
            <a:r>
              <a:rPr lang="en-US" altLang="ko-KR" sz="1400" dirty="0"/>
              <a:t>Nonlinear target</a:t>
            </a:r>
            <a:r>
              <a:rPr lang="ko-KR" altLang="en-US" sz="1400" dirty="0"/>
              <a:t>에서 </a:t>
            </a:r>
            <a:r>
              <a:rPr lang="en-US" altLang="ko-KR" sz="1400" dirty="0"/>
              <a:t>FE evaluation mismatch </a:t>
            </a:r>
            <a:r>
              <a:rPr lang="ko-KR" altLang="en-US" sz="1400" dirty="0"/>
              <a:t>관찰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5E6588C-29FA-494E-BEFA-20D6373ECB2C}"/>
              </a:ext>
            </a:extLst>
          </p:cNvPr>
          <p:cNvSpPr txBox="1">
            <a:spLocks/>
          </p:cNvSpPr>
          <p:nvPr/>
        </p:nvSpPr>
        <p:spPr>
          <a:xfrm>
            <a:off x="8137494" y="1813021"/>
            <a:ext cx="3611594" cy="45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1. Abaqus step / solver / BC / contact setting </a:t>
            </a:r>
            <a:r>
              <a:rPr lang="ko-KR" altLang="en-US" sz="1400" dirty="0"/>
              <a:t>검토</a:t>
            </a:r>
          </a:p>
          <a:p>
            <a:pPr marL="0" indent="0">
              <a:buNone/>
            </a:pPr>
            <a:r>
              <a:rPr lang="en-US" altLang="ko-KR" sz="1400" dirty="0"/>
              <a:t>2. FE failure case analysis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3. Abaqus material property </a:t>
            </a:r>
            <a:r>
              <a:rPr lang="ko-KR" altLang="en-US" sz="1400" dirty="0"/>
              <a:t>사용 타당성 검토</a:t>
            </a:r>
          </a:p>
          <a:p>
            <a:pPr marL="0" indent="0">
              <a:buNone/>
            </a:pPr>
            <a:r>
              <a:rPr lang="en-US" altLang="ko-KR" sz="1400" dirty="0"/>
              <a:t>4. Flexible 80A compression data </a:t>
            </a:r>
            <a:r>
              <a:rPr lang="ko-KR" altLang="en-US" sz="1400" dirty="0"/>
              <a:t>기반 </a:t>
            </a:r>
            <a:r>
              <a:rPr lang="en-US" altLang="ko-KR" sz="1400" dirty="0"/>
              <a:t>material fitting </a:t>
            </a:r>
            <a:r>
              <a:rPr lang="ko-KR" altLang="en-US" sz="1400" dirty="0"/>
              <a:t>방식 검토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5. Silicone 40A, Elastic 50A </a:t>
            </a:r>
            <a:r>
              <a:rPr lang="ko-KR" altLang="en-US" sz="1400" dirty="0"/>
              <a:t>등 </a:t>
            </a:r>
            <a:r>
              <a:rPr lang="en-US" altLang="ko-KR" sz="1400" dirty="0"/>
              <a:t>3Dprintable material </a:t>
            </a:r>
            <a:r>
              <a:rPr lang="ko-KR" altLang="en-US" sz="1400" dirty="0"/>
              <a:t>확장 가능성 검토</a:t>
            </a:r>
          </a:p>
        </p:txBody>
      </p:sp>
    </p:spTree>
    <p:extLst>
      <p:ext uri="{BB962C8B-B14F-4D97-AF65-F5344CB8AC3E}">
        <p14:creationId xmlns:p14="http://schemas.microsoft.com/office/powerpoint/2010/main" val="22269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55BA-B8AD-4887-D054-07B5DB23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22C114-A541-41BE-8152-1DAF4032B873}"/>
              </a:ext>
            </a:extLst>
          </p:cNvPr>
          <p:cNvSpPr/>
          <p:nvPr/>
        </p:nvSpPr>
        <p:spPr>
          <a:xfrm>
            <a:off x="435237" y="1376363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C8457-732A-D23F-B2FB-245E3560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9" y="291935"/>
            <a:ext cx="7564811" cy="672172"/>
          </a:xfrm>
        </p:spPr>
        <p:txBody>
          <a:bodyPr>
            <a:normAutofit/>
          </a:bodyPr>
          <a:lstStyle/>
          <a:p>
            <a:r>
              <a:rPr lang="en-US" altLang="ko-KR" dirty="0"/>
              <a:t>Baseline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27F782-1E28-4C6D-9666-2C3C2CDF25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4F05C81F-0304-4385-8022-BA0C4AA8FE36}"/>
              </a:ext>
            </a:extLst>
          </p:cNvPr>
          <p:cNvSpPr txBox="1">
            <a:spLocks/>
          </p:cNvSpPr>
          <p:nvPr/>
        </p:nvSpPr>
        <p:spPr>
          <a:xfrm>
            <a:off x="442913" y="1390116"/>
            <a:ext cx="5001172" cy="4955122"/>
          </a:xfrm>
          <a:prstGeom prst="rect">
            <a:avLst/>
          </a:prstGeom>
        </p:spPr>
        <p:txBody>
          <a:bodyPr vert="horz" lIns="144000" tIns="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Baseline dataset generation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1/4 unit cell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gaussian random field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기반으로 생성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Border connectivity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만족하는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 사용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Sequential Mirroring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full unit cell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대해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Abaqus FE simulation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Stress–strain curve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full-field response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dataset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저장</a:t>
            </a:r>
            <a:endParaRPr lang="en-US" altLang="ko-KR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Takeaway: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 response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안정적으로 얻는 것이 핵심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76A92CB9-8D46-43B3-8607-9983C95FE26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3613"/>
            <a:ext cx="11300198" cy="322262"/>
          </a:xfrm>
        </p:spPr>
        <p:txBody>
          <a:bodyPr/>
          <a:lstStyle/>
          <a:p>
            <a:r>
              <a:rPr lang="en-US" altLang="ko-KR" dirty="0"/>
              <a:t>Random Geometry → FE Response Dataset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BD87072-74B0-4392-8D6B-D294C563B177}"/>
              </a:ext>
            </a:extLst>
          </p:cNvPr>
          <p:cNvGrpSpPr/>
          <p:nvPr/>
        </p:nvGrpSpPr>
        <p:grpSpPr>
          <a:xfrm>
            <a:off x="6432538" y="1393186"/>
            <a:ext cx="5001172" cy="4952053"/>
            <a:chOff x="696540" y="1499472"/>
            <a:chExt cx="5001172" cy="4845766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B4CBAEA-880E-40D2-A4BE-8D73C2FDFEC8}"/>
                </a:ext>
              </a:extLst>
            </p:cNvPr>
            <p:cNvSpPr/>
            <p:nvPr/>
          </p:nvSpPr>
          <p:spPr>
            <a:xfrm>
              <a:off x="696540" y="1499472"/>
              <a:ext cx="5001172" cy="4845766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05AABE-58B3-4C8F-BF6A-15354AD4DF92}"/>
                </a:ext>
              </a:extLst>
            </p:cNvPr>
            <p:cNvSpPr txBox="1"/>
            <p:nvPr/>
          </p:nvSpPr>
          <p:spPr>
            <a:xfrm>
              <a:off x="696540" y="1527599"/>
              <a:ext cx="5001172" cy="262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/>
                <a:t>Dataset generation pipeline</a:t>
              </a:r>
              <a:endParaRPr lang="ko-KR" altLang="en-US" sz="1200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C5C02D94-B24F-4D98-9B34-258286FB3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664" y="1741755"/>
            <a:ext cx="3540441" cy="21959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5B4631-91AC-4AB8-8E5B-301CCADF0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079" y="4491435"/>
            <a:ext cx="3341442" cy="16707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2E38AB-CE39-47A5-A49F-CA38DE5483D1}"/>
              </a:ext>
            </a:extLst>
          </p:cNvPr>
          <p:cNvSpPr txBox="1"/>
          <p:nvPr/>
        </p:nvSpPr>
        <p:spPr>
          <a:xfrm>
            <a:off x="6440214" y="4157093"/>
            <a:ext cx="5001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n-US" altLang="ko-KR" sz="1200" dirty="0"/>
              <a:t>Generated Geometries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714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55BA-B8AD-4887-D054-07B5DB23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363308-FC18-4ACB-ADCB-E96341831C5A}"/>
              </a:ext>
            </a:extLst>
          </p:cNvPr>
          <p:cNvGrpSpPr/>
          <p:nvPr/>
        </p:nvGrpSpPr>
        <p:grpSpPr>
          <a:xfrm>
            <a:off x="6433516" y="1365349"/>
            <a:ext cx="5001172" cy="4979890"/>
            <a:chOff x="696540" y="1499472"/>
            <a:chExt cx="5001172" cy="4845766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D21F497-CA2A-47BD-AA7F-F2A029662D82}"/>
                </a:ext>
              </a:extLst>
            </p:cNvPr>
            <p:cNvSpPr/>
            <p:nvPr/>
          </p:nvSpPr>
          <p:spPr>
            <a:xfrm>
              <a:off x="696540" y="1499472"/>
              <a:ext cx="5001172" cy="4845766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8C73DA-E540-4E67-B340-540629DC74A1}"/>
                </a:ext>
              </a:extLst>
            </p:cNvPr>
            <p:cNvSpPr txBox="1"/>
            <p:nvPr/>
          </p:nvSpPr>
          <p:spPr>
            <a:xfrm>
              <a:off x="696540" y="1527599"/>
              <a:ext cx="5001172" cy="269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/>
                <a:t>Generated data</a:t>
              </a:r>
              <a:endParaRPr lang="ko-KR" altLang="en-US" sz="1200" dirty="0"/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DDD1F1-A157-4D46-BFC2-CE924A00FEF2}"/>
              </a:ext>
            </a:extLst>
          </p:cNvPr>
          <p:cNvSpPr/>
          <p:nvPr/>
        </p:nvSpPr>
        <p:spPr>
          <a:xfrm>
            <a:off x="442913" y="1376363"/>
            <a:ext cx="5001172" cy="4979890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C8457-732A-D23F-B2FB-245E3560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90" y="291935"/>
            <a:ext cx="7006010" cy="672172"/>
          </a:xfrm>
        </p:spPr>
        <p:txBody>
          <a:bodyPr>
            <a:normAutofit/>
          </a:bodyPr>
          <a:lstStyle/>
          <a:p>
            <a:r>
              <a:rPr lang="en-US" altLang="ko-KR" dirty="0"/>
              <a:t>Baseline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951DF0-A3D9-4AB1-8DE4-82A9A7608E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F7D647FB-595C-450A-B609-6639A6CFE0CF}"/>
              </a:ext>
            </a:extLst>
          </p:cNvPr>
          <p:cNvSpPr txBox="1">
            <a:spLocks/>
          </p:cNvSpPr>
          <p:nvPr/>
        </p:nvSpPr>
        <p:spPr>
          <a:xfrm>
            <a:off x="442914" y="1422461"/>
            <a:ext cx="4941074" cy="4933792"/>
          </a:xfrm>
          <a:prstGeom prst="rect">
            <a:avLst/>
          </a:prstGeom>
        </p:spPr>
        <p:txBody>
          <a:bodyPr vert="horz" lIns="144000" tIns="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Abaqus output preprocessing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For each geometry: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데이터는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0–20% strain range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strain step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저장</a:t>
            </a:r>
            <a:endParaRPr lang="en-US" altLang="ko-KR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데이터는 </a:t>
            </a:r>
            <a:r>
              <a:rPr lang="en-US" altLang="ko-KR"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lagrangian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좌표계에 저장</a:t>
            </a:r>
            <a:endParaRPr lang="en-US" altLang="ko-KR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각 필드는 </a:t>
            </a:r>
            <a:r>
              <a:rPr lang="en-US" altLang="ko-KR" sz="1200" dirty="0"/>
              <a:t>96 × 96 </a:t>
            </a:r>
            <a:r>
              <a:rPr lang="ko-KR" altLang="en-US" sz="1200" dirty="0"/>
              <a:t>그리드에 투영</a:t>
            </a:r>
            <a:endParaRPr lang="en-US" altLang="ko-KR" sz="1200" dirty="0"/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필드의 시퀀스는 비디오와 유사한 데이터</a:t>
            </a:r>
            <a:r>
              <a:rPr lang="en-US" altLang="ko-KR" sz="1200" dirty="0"/>
              <a:t>(gif)</a:t>
            </a:r>
            <a:r>
              <a:rPr lang="ko-KR" altLang="en-US" sz="1200" dirty="0"/>
              <a:t>로 처리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Stored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Channels: </a:t>
            </a:r>
          </a:p>
          <a:p>
            <a:pPr lvl="1">
              <a:lnSpc>
                <a:spcPct val="100000"/>
              </a:lnSpc>
              <a:buFont typeface="+mj-lt"/>
              <a:buAutoNum type="alphaLcPeriod"/>
            </a:pPr>
            <a:r>
              <a:rPr lang="el-GR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σ₂₂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(Normal Stress in the Vertical Direction)</a:t>
            </a:r>
          </a:p>
          <a:p>
            <a:pPr lvl="1">
              <a:lnSpc>
                <a:spcPct val="100000"/>
              </a:lnSpc>
              <a:buFont typeface="+mj-lt"/>
              <a:buAutoNum type="alphaLcPeriod"/>
            </a:pPr>
            <a:r>
              <a:rPr lang="el-GR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σ</a:t>
            </a:r>
            <a:r>
              <a:rPr lang="en-US" altLang="ko-KR" sz="1200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mises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(Von Mises Stress)</a:t>
            </a:r>
          </a:p>
          <a:p>
            <a:pPr lvl="1">
              <a:lnSpc>
                <a:spcPct val="100000"/>
              </a:lnSpc>
              <a:buFont typeface="+mj-lt"/>
              <a:buAutoNum type="alphaLcPeriod"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u₁ (Displacement in X-direction)</a:t>
            </a:r>
          </a:p>
          <a:p>
            <a:pPr lvl="1">
              <a:lnSpc>
                <a:spcPct val="100000"/>
              </a:lnSpc>
              <a:buFont typeface="+mj-lt"/>
              <a:buAutoNum type="alphaLcPeriod"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u₂ (Displacement in Y-direction)</a:t>
            </a:r>
            <a:b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100" dirty="0">
              <a:solidFill>
                <a:schemeClr val="bg1">
                  <a:lumMod val="8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9E58B2E-0444-43DB-98D8-8EB4F6913B8F}"/>
              </a:ext>
            </a:extLst>
          </p:cNvPr>
          <p:cNvGrpSpPr/>
          <p:nvPr/>
        </p:nvGrpSpPr>
        <p:grpSpPr>
          <a:xfrm>
            <a:off x="7909514" y="1881065"/>
            <a:ext cx="2075867" cy="4177514"/>
            <a:chOff x="8824704" y="1935576"/>
            <a:chExt cx="2078930" cy="4183677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FC9EA61-9830-430C-BD0A-A8C8A68C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7724" y="1935576"/>
              <a:ext cx="914400" cy="914400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C1E1772A-9592-4F6A-88E3-FE7702A89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9234" y="1935576"/>
              <a:ext cx="914400" cy="914400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4DAF024-DE16-45F4-8B81-CF7835C0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4704" y="3043738"/>
              <a:ext cx="914400" cy="914400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685F5AAF-CC3B-48C5-8520-189A918A6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9233" y="3043738"/>
              <a:ext cx="914400" cy="91440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9E361B5-AFBC-49C1-9367-453D6AC2C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6004" y="4100946"/>
              <a:ext cx="914400" cy="914400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86373912-EC83-41BE-8EEF-E594377FA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609" y="4100946"/>
              <a:ext cx="914400" cy="9144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D41FD207-533E-44D5-9E3D-649E492AA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7012" y="5204853"/>
              <a:ext cx="914400" cy="914400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C94D44EE-F92D-4BEC-A962-3FEB35D0B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608" y="5204852"/>
              <a:ext cx="914400" cy="914400"/>
            </a:xfrm>
            <a:prstGeom prst="rect">
              <a:avLst/>
            </a:prstGeom>
          </p:spPr>
        </p:pic>
      </p:grp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E41C7F7-65E6-42E9-BA92-BD408B0A06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7875587" cy="322386"/>
          </a:xfrm>
        </p:spPr>
        <p:txBody>
          <a:bodyPr/>
          <a:lstStyle/>
          <a:p>
            <a:r>
              <a:rPr lang="en-US" altLang="ko-KR" dirty="0"/>
              <a:t>Full-field Response as Video-like Data(gif)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9D7E702-0EC3-4833-BED0-F53CD7290C26}"/>
              </a:ext>
            </a:extLst>
          </p:cNvPr>
          <p:cNvSpPr/>
          <p:nvPr/>
        </p:nvSpPr>
        <p:spPr>
          <a:xfrm>
            <a:off x="7684877" y="1721336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E615A24-6E53-49C1-8FCF-0864A41F459E}"/>
              </a:ext>
            </a:extLst>
          </p:cNvPr>
          <p:cNvSpPr/>
          <p:nvPr/>
        </p:nvSpPr>
        <p:spPr>
          <a:xfrm>
            <a:off x="7680793" y="3930529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CA4C66E-DAAE-4209-9AE6-3149E39CF091}"/>
              </a:ext>
            </a:extLst>
          </p:cNvPr>
          <p:cNvSpPr/>
          <p:nvPr/>
        </p:nvSpPr>
        <p:spPr>
          <a:xfrm>
            <a:off x="7680793" y="2796651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72CCFC6-2229-49F7-B2A5-75C4D3C08B0C}"/>
              </a:ext>
            </a:extLst>
          </p:cNvPr>
          <p:cNvSpPr/>
          <p:nvPr/>
        </p:nvSpPr>
        <p:spPr>
          <a:xfrm>
            <a:off x="7683854" y="4956298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D29FAA1-3250-434E-8B6B-0FD75435766E}"/>
              </a:ext>
            </a:extLst>
          </p:cNvPr>
          <p:cNvSpPr/>
          <p:nvPr/>
        </p:nvSpPr>
        <p:spPr>
          <a:xfrm>
            <a:off x="8863772" y="1721336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E21B8F3-8305-4DA3-AF15-C19F97BBE508}"/>
              </a:ext>
            </a:extLst>
          </p:cNvPr>
          <p:cNvSpPr/>
          <p:nvPr/>
        </p:nvSpPr>
        <p:spPr>
          <a:xfrm>
            <a:off x="8861152" y="3930529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B66B2E3-2AFC-49FC-BC4D-1EBBA6B00B0F}"/>
              </a:ext>
            </a:extLst>
          </p:cNvPr>
          <p:cNvSpPr/>
          <p:nvPr/>
        </p:nvSpPr>
        <p:spPr>
          <a:xfrm>
            <a:off x="8883774" y="4954522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704E026-8E8C-4BFB-99E8-CD1CA76A00FD}"/>
              </a:ext>
            </a:extLst>
          </p:cNvPr>
          <p:cNvSpPr/>
          <p:nvPr/>
        </p:nvSpPr>
        <p:spPr>
          <a:xfrm>
            <a:off x="8883774" y="2786514"/>
            <a:ext cx="208555" cy="2085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11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55BA-B8AD-4887-D054-07B5DB23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A1B48B0-1B7E-40E9-A520-DAB8D2CCB3CC}"/>
              </a:ext>
            </a:extLst>
          </p:cNvPr>
          <p:cNvSpPr/>
          <p:nvPr/>
        </p:nvSpPr>
        <p:spPr>
          <a:xfrm>
            <a:off x="448890" y="1376363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C8457-732A-D23F-B2FB-245E3560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Baseline Framework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4695E-75B0-4573-84D2-0DAE20876F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64196D2-F056-4389-8A99-1850C4618B9B}"/>
              </a:ext>
            </a:extLst>
          </p:cNvPr>
          <p:cNvSpPr txBox="1">
            <a:spLocks/>
          </p:cNvSpPr>
          <p:nvPr/>
        </p:nvSpPr>
        <p:spPr>
          <a:xfrm>
            <a:off x="442914" y="1440237"/>
            <a:ext cx="5001172" cy="4905001"/>
          </a:xfrm>
          <a:prstGeom prst="rect">
            <a:avLst/>
          </a:prstGeom>
        </p:spPr>
        <p:txBody>
          <a:bodyPr vert="horz" lIns="144000" tIns="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53,007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structure–response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쌍을 학습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Condition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</a:p>
          <a:p>
            <a:pPr lvl="1"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 Stress–strain curve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Model Architecture:</a:t>
            </a:r>
          </a:p>
          <a:p>
            <a:pPr lvl="1"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3D U-Net–based Video Diffusion Model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Input: </a:t>
            </a:r>
          </a:p>
          <a:p>
            <a:pPr lvl="1"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</a:t>
            </a:r>
            <a:r>
              <a:rPr lang="el-GR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σ₂₂,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l-GR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σ</a:t>
            </a:r>
            <a:r>
              <a:rPr lang="en-US" altLang="ko-KR" sz="1400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mises</a:t>
            </a:r>
            <a:r>
              <a:rPr lang="ko-KR" altLang="en-US" sz="1400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,u₁, u₂} GIF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stress-strain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400" dirty="0">
              <a:solidFill>
                <a:schemeClr val="bg1">
                  <a:lumMod val="8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2C27E02-A36E-429C-8B59-6014577937C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Inverse Design Model Architecture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25A9647-392C-49AF-873B-505E6143E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800" y="2598575"/>
            <a:ext cx="5040000" cy="27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6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55BA-B8AD-4887-D054-07B5DB23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7807034-9412-4B68-AE6C-39E803C29177}"/>
              </a:ext>
            </a:extLst>
          </p:cNvPr>
          <p:cNvSpPr/>
          <p:nvPr/>
        </p:nvSpPr>
        <p:spPr>
          <a:xfrm>
            <a:off x="471626" y="1376363"/>
            <a:ext cx="5417851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C8457-732A-D23F-B2FB-245E3560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Completed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4D4BFA-30A8-44EE-998A-69B654ECBDF0}"/>
              </a:ext>
            </a:extLst>
          </p:cNvPr>
          <p:cNvGrpSpPr/>
          <p:nvPr/>
        </p:nvGrpSpPr>
        <p:grpSpPr>
          <a:xfrm>
            <a:off x="6046021" y="1318892"/>
            <a:ext cx="5887592" cy="2143301"/>
            <a:chOff x="2471530" y="1452913"/>
            <a:chExt cx="7535500" cy="2743201"/>
          </a:xfrm>
        </p:grpSpPr>
        <p:graphicFrame>
          <p:nvGraphicFramePr>
            <p:cNvPr id="13" name="차트 12">
              <a:extLst>
                <a:ext uri="{FF2B5EF4-FFF2-40B4-BE49-F238E27FC236}">
                  <a16:creationId xmlns:a16="http://schemas.microsoft.com/office/drawing/2014/main" id="{462AF3E2-0F92-4C0A-ABEE-9EDDF31F6D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79850718"/>
                </p:ext>
              </p:extLst>
            </p:nvPr>
          </p:nvGraphicFramePr>
          <p:xfrm>
            <a:off x="4967031" y="1452913"/>
            <a:ext cx="5039999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3898C44-EFA7-4121-923E-9E7A6F286228}"/>
                </a:ext>
              </a:extLst>
            </p:cNvPr>
            <p:cNvGrpSpPr/>
            <p:nvPr/>
          </p:nvGrpSpPr>
          <p:grpSpPr>
            <a:xfrm>
              <a:off x="2471530" y="1583411"/>
              <a:ext cx="2495501" cy="2612703"/>
              <a:chOff x="7218219" y="3580279"/>
              <a:chExt cx="1953489" cy="204523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D7C57291-0586-446A-A314-DF2FAD6B3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18219" y="358027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4D4A381A-98D2-4844-A55B-B89F9CE96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7308" y="358430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CD3B667-09B6-47B7-8757-495C9934B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18219" y="471111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418AB5A5-2661-4E84-8500-3AD3E7B924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7308" y="4711114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3B813E18-7B02-4813-B50A-331B40564C2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Checkpoint-based Inference result</a:t>
            </a:r>
            <a:endParaRPr lang="ko-KR" altLang="en-US" dirty="0"/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DC2B26FF-40B2-444C-A609-804B76F38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873409"/>
              </p:ext>
            </p:extLst>
          </p:nvPr>
        </p:nvGraphicFramePr>
        <p:xfrm>
          <a:off x="7995790" y="3953115"/>
          <a:ext cx="3937823" cy="2143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BEA9620D-9192-4529-8E35-8303046DBC34}"/>
              </a:ext>
            </a:extLst>
          </p:cNvPr>
          <p:cNvGrpSpPr/>
          <p:nvPr/>
        </p:nvGrpSpPr>
        <p:grpSpPr>
          <a:xfrm>
            <a:off x="6078683" y="4010201"/>
            <a:ext cx="2035051" cy="2029129"/>
            <a:chOff x="8354291" y="3886200"/>
            <a:chExt cx="1981200" cy="197543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03C2FD8-0103-4F14-A686-E0D193454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4291" y="3886200"/>
              <a:ext cx="914400" cy="9144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3E1FD18-B46A-4163-BC9D-7E1679A9E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1091" y="3886200"/>
              <a:ext cx="914400" cy="9144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EAD3993-974E-459C-B343-47BEB3CD5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4291" y="4947234"/>
              <a:ext cx="914400" cy="91440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3839FFF-FEE7-4C6D-8459-B045A7B99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1091" y="4917281"/>
              <a:ext cx="914400" cy="914400"/>
            </a:xfrm>
            <a:prstGeom prst="rect">
              <a:avLst/>
            </a:prstGeom>
          </p:spPr>
        </p:pic>
      </p:grp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A6B8F356-3793-437C-90EA-479C7E15B4CD}"/>
              </a:ext>
            </a:extLst>
          </p:cNvPr>
          <p:cNvSpPr txBox="1">
            <a:spLocks/>
          </p:cNvSpPr>
          <p:nvPr/>
        </p:nvSpPr>
        <p:spPr>
          <a:xfrm>
            <a:off x="442914" y="1376363"/>
            <a:ext cx="5446563" cy="4968875"/>
          </a:xfrm>
          <a:prstGeom prst="rect">
            <a:avLst/>
          </a:prstGeom>
        </p:spPr>
        <p:txBody>
          <a:bodyPr vert="horz" lIns="144000" tIns="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Author-provided checkpoint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Baseline Material Property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사용하여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 stress–strain curve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조건에서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생성함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생성된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geometry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대해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Abaqus FE evaluation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수행하여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b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stress–strain response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일치하는지 확인함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Plastic yielding target: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Target, predicted response, FE evaluation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전반적으로 유사한 경향을 보임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Quadratic-shaped target: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Predicted response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 shape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일부 반영함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 revaluation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결과는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target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큰 차이를 보임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485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55BA-B8AD-4887-D054-07B5DB23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A7BDA1F-D7E6-49DB-BF9D-E58F82A02EA2}"/>
              </a:ext>
            </a:extLst>
          </p:cNvPr>
          <p:cNvSpPr/>
          <p:nvPr/>
        </p:nvSpPr>
        <p:spPr>
          <a:xfrm>
            <a:off x="7809078" y="4011273"/>
            <a:ext cx="3886200" cy="233396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2C8457-732A-D23F-B2FB-245E3560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Completed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EA3731-D1C3-402C-94E8-267AC739B78A}"/>
              </a:ext>
            </a:extLst>
          </p:cNvPr>
          <p:cNvGrpSpPr/>
          <p:nvPr/>
        </p:nvGrpSpPr>
        <p:grpSpPr>
          <a:xfrm>
            <a:off x="7809079" y="1376363"/>
            <a:ext cx="3886201" cy="2052637"/>
            <a:chOff x="505833" y="1376363"/>
            <a:chExt cx="3886201" cy="205263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7F1F4D15-40A3-4B8F-80A6-6BDD6A504D04}"/>
                </a:ext>
              </a:extLst>
            </p:cNvPr>
            <p:cNvSpPr/>
            <p:nvPr/>
          </p:nvSpPr>
          <p:spPr>
            <a:xfrm>
              <a:off x="505834" y="1376363"/>
              <a:ext cx="3886200" cy="2052637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내용 개체 틀 2">
              <a:extLst>
                <a:ext uri="{FF2B5EF4-FFF2-40B4-BE49-F238E27FC236}">
                  <a16:creationId xmlns:a16="http://schemas.microsoft.com/office/drawing/2014/main" id="{A3D64A06-978E-4C7C-BDA7-08CF219F9F1A}"/>
                </a:ext>
              </a:extLst>
            </p:cNvPr>
            <p:cNvSpPr txBox="1">
              <a:spLocks/>
            </p:cNvSpPr>
            <p:nvPr/>
          </p:nvSpPr>
          <p:spPr>
            <a:xfrm>
              <a:off x="505833" y="1376364"/>
              <a:ext cx="3886200" cy="2052636"/>
            </a:xfrm>
            <a:prstGeom prst="rect">
              <a:avLst/>
            </a:prstGeom>
          </p:spPr>
          <p:txBody>
            <a:bodyPr vert="horz" lIns="144000" tIns="0" rIns="9144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Abaqus Python Script</a:t>
              </a:r>
              <a:r>
                <a:rPr lang="ko-KR" altLang="en-US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에서 사용된 물성</a:t>
              </a:r>
              <a:r>
                <a:rPr lang="en-US" altLang="ko-KR" sz="14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Young's Modulus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Poisson's Ratio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Density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Yield Stress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Plastic Strain</a:t>
              </a:r>
            </a:p>
            <a:p>
              <a:pPr lvl="1">
                <a:lnSpc>
                  <a:spcPct val="100000"/>
                </a:lnSpc>
              </a:pP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Hyperelastic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coefficients</a:t>
              </a:r>
              <a:endParaRPr lang="en-US" altLang="ko-KR" sz="1400" dirty="0">
                <a:solidFill>
                  <a:schemeClr val="bg1">
                    <a:lumMod val="8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FF6678B-C0C9-4907-990C-AF055BC2ED4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5935941" cy="322386"/>
          </a:xfrm>
        </p:spPr>
        <p:txBody>
          <a:bodyPr/>
          <a:lstStyle/>
          <a:p>
            <a:r>
              <a:rPr lang="en-US" altLang="ko-KR" dirty="0"/>
              <a:t>Real-material Extension: What Changed from Baseline</a:t>
            </a:r>
          </a:p>
        </p:txBody>
      </p:sp>
      <p:sp>
        <p:nvSpPr>
          <p:cNvPr id="81" name="텍스트 개체 틀 4">
            <a:extLst>
              <a:ext uri="{FF2B5EF4-FFF2-40B4-BE49-F238E27FC236}">
                <a16:creationId xmlns:a16="http://schemas.microsoft.com/office/drawing/2014/main" id="{2A0E14B3-D14B-4B2C-9B4D-1D22F30C1F21}"/>
              </a:ext>
            </a:extLst>
          </p:cNvPr>
          <p:cNvSpPr txBox="1">
            <a:spLocks/>
          </p:cNvSpPr>
          <p:nvPr/>
        </p:nvSpPr>
        <p:spPr>
          <a:xfrm>
            <a:off x="1795463" y="6402443"/>
            <a:ext cx="10396537" cy="46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9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Ha, C. S.,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Bauchy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M., &amp; Zheng, X. Rapid inverse design of metamaterials based on prescribed mechanical behavior through machine learning. Nature Communications. (2023)</a:t>
            </a:r>
          </a:p>
          <a:p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ko-KR" altLang="en-US" dirty="0"/>
          </a:p>
          <a:p>
            <a:pPr marL="0" indent="0">
              <a:buFont typeface="+mj-lt"/>
              <a:buNone/>
            </a:pPr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04F5A7B-4354-40F2-8AB2-A45FEA0E7842}"/>
              </a:ext>
            </a:extLst>
          </p:cNvPr>
          <p:cNvSpPr txBox="1"/>
          <p:nvPr/>
        </p:nvSpPr>
        <p:spPr>
          <a:xfrm>
            <a:off x="7849484" y="4066010"/>
            <a:ext cx="3671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100" dirty="0"/>
              <a:t>Flexible 80A property</a:t>
            </a:r>
            <a:endParaRPr lang="ko-KR" altLang="en-US" sz="11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C4EF4F9-FDC8-4066-97A3-E444995EC6E6}"/>
              </a:ext>
            </a:extLst>
          </p:cNvPr>
          <p:cNvGrpSpPr/>
          <p:nvPr/>
        </p:nvGrpSpPr>
        <p:grpSpPr>
          <a:xfrm>
            <a:off x="496720" y="1445599"/>
            <a:ext cx="7082703" cy="4836870"/>
            <a:chOff x="496720" y="1445599"/>
            <a:chExt cx="7082703" cy="2595563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287D4FB-0FED-45B1-9B9D-C3925869E089}"/>
                </a:ext>
              </a:extLst>
            </p:cNvPr>
            <p:cNvGrpSpPr/>
            <p:nvPr/>
          </p:nvGrpSpPr>
          <p:grpSpPr>
            <a:xfrm>
              <a:off x="496720" y="1445599"/>
              <a:ext cx="7082703" cy="1983401"/>
              <a:chOff x="647395" y="1754578"/>
              <a:chExt cx="10579608" cy="2962656"/>
            </a:xfrm>
          </p:grpSpPr>
          <p:sp>
            <p:nvSpPr>
              <p:cNvPr id="43" name="Shape 5">
                <a:extLst>
                  <a:ext uri="{FF2B5EF4-FFF2-40B4-BE49-F238E27FC236}">
                    <a16:creationId xmlns:a16="http://schemas.microsoft.com/office/drawing/2014/main" id="{1085A43B-8EFA-45F6-9DAF-4DDCBBD884BB}"/>
                  </a:ext>
                </a:extLst>
              </p:cNvPr>
              <p:cNvSpPr/>
              <p:nvPr/>
            </p:nvSpPr>
            <p:spPr>
              <a:xfrm>
                <a:off x="647395" y="1754578"/>
                <a:ext cx="1920240" cy="438912"/>
              </a:xfrm>
              <a:prstGeom prst="roundRect">
                <a:avLst>
                  <a:gd name="adj" fmla="val 16667"/>
                </a:avLst>
              </a:prstGeom>
              <a:solidFill>
                <a:srgbClr val="F1F4F8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44" name="Shape 6">
                <a:extLst>
                  <a:ext uri="{FF2B5EF4-FFF2-40B4-BE49-F238E27FC236}">
                    <a16:creationId xmlns:a16="http://schemas.microsoft.com/office/drawing/2014/main" id="{8A8D4EA4-EFE2-415F-8535-82F37DC56C71}"/>
                  </a:ext>
                </a:extLst>
              </p:cNvPr>
              <p:cNvSpPr/>
              <p:nvPr/>
            </p:nvSpPr>
            <p:spPr>
              <a:xfrm>
                <a:off x="2595067" y="1754578"/>
                <a:ext cx="3703320" cy="438912"/>
              </a:xfrm>
              <a:prstGeom prst="roundRect">
                <a:avLst>
                  <a:gd name="adj" fmla="val 16667"/>
                </a:avLst>
              </a:prstGeom>
              <a:solidFill>
                <a:srgbClr val="F1F4F8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45" name="Shape 7">
                <a:extLst>
                  <a:ext uri="{FF2B5EF4-FFF2-40B4-BE49-F238E27FC236}">
                    <a16:creationId xmlns:a16="http://schemas.microsoft.com/office/drawing/2014/main" id="{EC4CFD8C-3062-4B39-AA4E-BAF380A91689}"/>
                  </a:ext>
                </a:extLst>
              </p:cNvPr>
              <p:cNvSpPr/>
              <p:nvPr/>
            </p:nvSpPr>
            <p:spPr>
              <a:xfrm>
                <a:off x="6325819" y="1754578"/>
                <a:ext cx="4901184" cy="438912"/>
              </a:xfrm>
              <a:prstGeom prst="roundRect">
                <a:avLst>
                  <a:gd name="adj" fmla="val 16667"/>
                </a:avLst>
              </a:prstGeom>
              <a:solidFill>
                <a:srgbClr val="EAF2FB"/>
              </a:solidFill>
              <a:ln w="12700">
                <a:solidFill>
                  <a:srgbClr val="EAF2FB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46" name="Text 8">
                <a:extLst>
                  <a:ext uri="{FF2B5EF4-FFF2-40B4-BE49-F238E27FC236}">
                    <a16:creationId xmlns:a16="http://schemas.microsoft.com/office/drawing/2014/main" id="{FDD7CACE-B6CF-4285-92ED-D5B3B4061010}"/>
                  </a:ext>
                </a:extLst>
              </p:cNvPr>
              <p:cNvSpPr/>
              <p:nvPr/>
            </p:nvSpPr>
            <p:spPr>
              <a:xfrm>
                <a:off x="784555" y="1864306"/>
                <a:ext cx="164592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5B6571"/>
                    </a:solidFill>
                    <a:latin typeface="+mn-ea"/>
                    <a:cs typeface="Malgun Gothic" pitchFamily="34" charset="-120"/>
                  </a:rPr>
                  <a:t>Category</a:t>
                </a:r>
                <a:endParaRPr lang="en-US" sz="1200" dirty="0">
                  <a:latin typeface="+mn-ea"/>
                </a:endParaRPr>
              </a:p>
            </p:txBody>
          </p:sp>
          <p:sp>
            <p:nvSpPr>
              <p:cNvPr id="47" name="Text 9">
                <a:extLst>
                  <a:ext uri="{FF2B5EF4-FFF2-40B4-BE49-F238E27FC236}">
                    <a16:creationId xmlns:a16="http://schemas.microsoft.com/office/drawing/2014/main" id="{3A8E7E32-0CF5-4B14-A6EA-E95231FF223E}"/>
                  </a:ext>
                </a:extLst>
              </p:cNvPr>
              <p:cNvSpPr/>
              <p:nvPr/>
            </p:nvSpPr>
            <p:spPr>
              <a:xfrm>
                <a:off x="2732227" y="1864306"/>
                <a:ext cx="342900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5B6571"/>
                    </a:solidFill>
                    <a:latin typeface="+mn-ea"/>
                    <a:cs typeface="Malgun Gothic" pitchFamily="34" charset="-120"/>
                  </a:rPr>
                  <a:t>Baseline</a:t>
                </a:r>
                <a:endParaRPr lang="en-US" sz="1200" dirty="0">
                  <a:latin typeface="+mn-ea"/>
                </a:endParaRPr>
              </a:p>
            </p:txBody>
          </p:sp>
          <p:sp>
            <p:nvSpPr>
              <p:cNvPr id="48" name="Text 10">
                <a:extLst>
                  <a:ext uri="{FF2B5EF4-FFF2-40B4-BE49-F238E27FC236}">
                    <a16:creationId xmlns:a16="http://schemas.microsoft.com/office/drawing/2014/main" id="{A8733EB8-FC73-4B63-A873-5A6A96E14CE4}"/>
                  </a:ext>
                </a:extLst>
              </p:cNvPr>
              <p:cNvSpPr/>
              <p:nvPr/>
            </p:nvSpPr>
            <p:spPr>
              <a:xfrm>
                <a:off x="6472123" y="1864306"/>
                <a:ext cx="4581144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F4E79"/>
                    </a:solidFill>
                    <a:latin typeface="+mn-ea"/>
                    <a:cs typeface="Malgun Gothic" pitchFamily="34" charset="-120"/>
                  </a:rPr>
                  <a:t>Ours</a:t>
                </a:r>
                <a:endParaRPr lang="en-US" sz="1200" dirty="0">
                  <a:latin typeface="+mn-ea"/>
                </a:endParaRPr>
              </a:p>
            </p:txBody>
          </p:sp>
          <p:sp>
            <p:nvSpPr>
              <p:cNvPr id="49" name="Shape 11">
                <a:extLst>
                  <a:ext uri="{FF2B5EF4-FFF2-40B4-BE49-F238E27FC236}">
                    <a16:creationId xmlns:a16="http://schemas.microsoft.com/office/drawing/2014/main" id="{D49ADEB2-9D97-4A8D-A568-D493BC31A6AA}"/>
                  </a:ext>
                </a:extLst>
              </p:cNvPr>
              <p:cNvSpPr/>
              <p:nvPr/>
            </p:nvSpPr>
            <p:spPr>
              <a:xfrm>
                <a:off x="647395" y="2248354"/>
                <a:ext cx="192024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0" name="Shape 12">
                <a:extLst>
                  <a:ext uri="{FF2B5EF4-FFF2-40B4-BE49-F238E27FC236}">
                    <a16:creationId xmlns:a16="http://schemas.microsoft.com/office/drawing/2014/main" id="{C1527276-D010-48F6-9695-54E747AB2EBB}"/>
                  </a:ext>
                </a:extLst>
              </p:cNvPr>
              <p:cNvSpPr/>
              <p:nvPr/>
            </p:nvSpPr>
            <p:spPr>
              <a:xfrm>
                <a:off x="2595067" y="2248354"/>
                <a:ext cx="370332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1" name="Shape 13">
                <a:extLst>
                  <a:ext uri="{FF2B5EF4-FFF2-40B4-BE49-F238E27FC236}">
                    <a16:creationId xmlns:a16="http://schemas.microsoft.com/office/drawing/2014/main" id="{18BB300D-4A18-47AE-81F7-74F7E0A57C39}"/>
                  </a:ext>
                </a:extLst>
              </p:cNvPr>
              <p:cNvSpPr/>
              <p:nvPr/>
            </p:nvSpPr>
            <p:spPr>
              <a:xfrm>
                <a:off x="6325819" y="2248354"/>
                <a:ext cx="4901184" cy="749808"/>
              </a:xfrm>
              <a:prstGeom prst="roundRect">
                <a:avLst>
                  <a:gd name="adj" fmla="val 9756"/>
                </a:avLst>
              </a:prstGeom>
              <a:solidFill>
                <a:srgbClr val="F8FB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2" name="Text 14">
                <a:extLst>
                  <a:ext uri="{FF2B5EF4-FFF2-40B4-BE49-F238E27FC236}">
                    <a16:creationId xmlns:a16="http://schemas.microsoft.com/office/drawing/2014/main" id="{4AC27564-17E4-48AB-8863-2ED0604A0DCB}"/>
                  </a:ext>
                </a:extLst>
              </p:cNvPr>
              <p:cNvSpPr/>
              <p:nvPr/>
            </p:nvSpPr>
            <p:spPr>
              <a:xfrm>
                <a:off x="784555" y="2330650"/>
                <a:ext cx="164592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Material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53" name="Text 15">
                <a:extLst>
                  <a:ext uri="{FF2B5EF4-FFF2-40B4-BE49-F238E27FC236}">
                    <a16:creationId xmlns:a16="http://schemas.microsoft.com/office/drawing/2014/main" id="{2EEE24F8-72E7-4955-BD07-65608A318609}"/>
                  </a:ext>
                </a:extLst>
              </p:cNvPr>
              <p:cNvSpPr/>
              <p:nvPr/>
            </p:nvSpPr>
            <p:spPr>
              <a:xfrm>
                <a:off x="2735884" y="2324049"/>
                <a:ext cx="3392424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ko-KR" sz="1100" dirty="0"/>
                  <a:t>Thermoplastic acetal homopolymer resin (Delrin) based calibrated material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54" name="Text 16">
                <a:extLst>
                  <a:ext uri="{FF2B5EF4-FFF2-40B4-BE49-F238E27FC236}">
                    <a16:creationId xmlns:a16="http://schemas.microsoft.com/office/drawing/2014/main" id="{A0B10D88-A132-4B01-9B50-0F952AF27B35}"/>
                  </a:ext>
                </a:extLst>
              </p:cNvPr>
              <p:cNvSpPr/>
              <p:nvPr/>
            </p:nvSpPr>
            <p:spPr>
              <a:xfrm>
                <a:off x="6472123" y="2324049"/>
                <a:ext cx="4535424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Flexible 80A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55" name="Shape 17">
                <a:extLst>
                  <a:ext uri="{FF2B5EF4-FFF2-40B4-BE49-F238E27FC236}">
                    <a16:creationId xmlns:a16="http://schemas.microsoft.com/office/drawing/2014/main" id="{8CBA8CA3-2A9F-441E-9C71-101CFE639620}"/>
                  </a:ext>
                </a:extLst>
              </p:cNvPr>
              <p:cNvSpPr/>
              <p:nvPr/>
            </p:nvSpPr>
            <p:spPr>
              <a:xfrm>
                <a:off x="647395" y="3053026"/>
                <a:ext cx="192024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6" name="Shape 18">
                <a:extLst>
                  <a:ext uri="{FF2B5EF4-FFF2-40B4-BE49-F238E27FC236}">
                    <a16:creationId xmlns:a16="http://schemas.microsoft.com/office/drawing/2014/main" id="{E623E989-9902-4E29-8FE8-A00E3EBC3803}"/>
                  </a:ext>
                </a:extLst>
              </p:cNvPr>
              <p:cNvSpPr/>
              <p:nvPr/>
            </p:nvSpPr>
            <p:spPr>
              <a:xfrm>
                <a:off x="2595067" y="3053026"/>
                <a:ext cx="370332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7" name="Shape 19">
                <a:extLst>
                  <a:ext uri="{FF2B5EF4-FFF2-40B4-BE49-F238E27FC236}">
                    <a16:creationId xmlns:a16="http://schemas.microsoft.com/office/drawing/2014/main" id="{D795C05E-3F47-432D-8358-1754C91756AC}"/>
                  </a:ext>
                </a:extLst>
              </p:cNvPr>
              <p:cNvSpPr/>
              <p:nvPr/>
            </p:nvSpPr>
            <p:spPr>
              <a:xfrm>
                <a:off x="6325819" y="3053026"/>
                <a:ext cx="4901184" cy="749808"/>
              </a:xfrm>
              <a:prstGeom prst="roundRect">
                <a:avLst>
                  <a:gd name="adj" fmla="val 9756"/>
                </a:avLst>
              </a:prstGeom>
              <a:solidFill>
                <a:srgbClr val="F8FB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58" name="Text 20">
                <a:extLst>
                  <a:ext uri="{FF2B5EF4-FFF2-40B4-BE49-F238E27FC236}">
                    <a16:creationId xmlns:a16="http://schemas.microsoft.com/office/drawing/2014/main" id="{E60ADFB1-10EA-4C57-8850-DF3830EE04C0}"/>
                  </a:ext>
                </a:extLst>
              </p:cNvPr>
              <p:cNvSpPr/>
              <p:nvPr/>
            </p:nvSpPr>
            <p:spPr>
              <a:xfrm>
                <a:off x="784555" y="3144466"/>
                <a:ext cx="164592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Material data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59" name="Text 21">
                <a:extLst>
                  <a:ext uri="{FF2B5EF4-FFF2-40B4-BE49-F238E27FC236}">
                    <a16:creationId xmlns:a16="http://schemas.microsoft.com/office/drawing/2014/main" id="{6224051A-4337-4412-B2AD-02DBCE6FF58B}"/>
                  </a:ext>
                </a:extLst>
              </p:cNvPr>
              <p:cNvSpPr/>
              <p:nvPr/>
            </p:nvSpPr>
            <p:spPr>
              <a:xfrm>
                <a:off x="2732227" y="3144466"/>
                <a:ext cx="3392424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Baseline property table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60" name="Text 22">
                <a:extLst>
                  <a:ext uri="{FF2B5EF4-FFF2-40B4-BE49-F238E27FC236}">
                    <a16:creationId xmlns:a16="http://schemas.microsoft.com/office/drawing/2014/main" id="{C7B291D4-0AB2-45DE-AB94-70807C893D0C}"/>
                  </a:ext>
                </a:extLst>
              </p:cNvPr>
              <p:cNvSpPr/>
              <p:nvPr/>
            </p:nvSpPr>
            <p:spPr>
              <a:xfrm>
                <a:off x="6472123" y="3146544"/>
                <a:ext cx="4535424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Flexible 80A property from literature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61" name="Shape 23">
                <a:extLst>
                  <a:ext uri="{FF2B5EF4-FFF2-40B4-BE49-F238E27FC236}">
                    <a16:creationId xmlns:a16="http://schemas.microsoft.com/office/drawing/2014/main" id="{384DAA3A-801B-4456-9E4B-D0D40779F751}"/>
                  </a:ext>
                </a:extLst>
              </p:cNvPr>
              <p:cNvSpPr/>
              <p:nvPr/>
            </p:nvSpPr>
            <p:spPr>
              <a:xfrm>
                <a:off x="647395" y="3849313"/>
                <a:ext cx="1920240" cy="859536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62" name="Shape 24">
                <a:extLst>
                  <a:ext uri="{FF2B5EF4-FFF2-40B4-BE49-F238E27FC236}">
                    <a16:creationId xmlns:a16="http://schemas.microsoft.com/office/drawing/2014/main" id="{D23BB142-1773-4FF3-BC67-239BE8117514}"/>
                  </a:ext>
                </a:extLst>
              </p:cNvPr>
              <p:cNvSpPr/>
              <p:nvPr/>
            </p:nvSpPr>
            <p:spPr>
              <a:xfrm>
                <a:off x="2595067" y="3857698"/>
                <a:ext cx="3703320" cy="859536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+mn-ea"/>
                </a:endParaRPr>
              </a:p>
            </p:txBody>
          </p:sp>
          <p:sp>
            <p:nvSpPr>
              <p:cNvPr id="63" name="Shape 25">
                <a:extLst>
                  <a:ext uri="{FF2B5EF4-FFF2-40B4-BE49-F238E27FC236}">
                    <a16:creationId xmlns:a16="http://schemas.microsoft.com/office/drawing/2014/main" id="{D19DD508-1832-4519-945C-483DD93780F0}"/>
                  </a:ext>
                </a:extLst>
              </p:cNvPr>
              <p:cNvSpPr/>
              <p:nvPr/>
            </p:nvSpPr>
            <p:spPr>
              <a:xfrm>
                <a:off x="6325819" y="3857698"/>
                <a:ext cx="4901184" cy="859536"/>
              </a:xfrm>
              <a:prstGeom prst="roundRect">
                <a:avLst>
                  <a:gd name="adj" fmla="val 8511"/>
                </a:avLst>
              </a:prstGeom>
              <a:solidFill>
                <a:srgbClr val="F8FBFF"/>
              </a:solidFill>
              <a:ln w="12700">
                <a:solidFill>
                  <a:srgbClr val="D8DEE8"/>
                </a:solidFill>
                <a:prstDash val="solid"/>
              </a:ln>
            </p:spPr>
            <p:txBody>
              <a:bodyPr/>
              <a:lstStyle/>
              <a:p>
                <a:endParaRPr dirty="0">
                  <a:latin typeface="+mn-ea"/>
                </a:endParaRPr>
              </a:p>
            </p:txBody>
          </p:sp>
          <p:sp>
            <p:nvSpPr>
              <p:cNvPr id="64" name="Text 26">
                <a:extLst>
                  <a:ext uri="{FF2B5EF4-FFF2-40B4-BE49-F238E27FC236}">
                    <a16:creationId xmlns:a16="http://schemas.microsoft.com/office/drawing/2014/main" id="{675A6080-156A-496A-AE30-CA6EA1EC8CBC}"/>
                  </a:ext>
                </a:extLst>
              </p:cNvPr>
              <p:cNvSpPr/>
              <p:nvPr/>
            </p:nvSpPr>
            <p:spPr>
              <a:xfrm>
                <a:off x="784555" y="3930850"/>
                <a:ext cx="1645920" cy="6949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F2937"/>
                    </a:solidFill>
                    <a:latin typeface="+mn-ea"/>
                    <a:cs typeface="Malgun Gothic" pitchFamily="34" charset="-120"/>
                  </a:rPr>
                  <a:t>Reason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65" name="Text 27">
                <a:extLst>
                  <a:ext uri="{FF2B5EF4-FFF2-40B4-BE49-F238E27FC236}">
                    <a16:creationId xmlns:a16="http://schemas.microsoft.com/office/drawing/2014/main" id="{C6F9FB13-52B2-44BF-869F-AE8B639D8652}"/>
                  </a:ext>
                </a:extLst>
              </p:cNvPr>
              <p:cNvSpPr/>
              <p:nvPr/>
            </p:nvSpPr>
            <p:spPr>
              <a:xfrm>
                <a:off x="2732227" y="3930850"/>
                <a:ext cx="3392424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ko-KR" sz="1200" dirty="0"/>
                  <a:t>Stable reference dataset</a:t>
                </a:r>
                <a:endParaRPr lang="en-US" sz="1150" dirty="0">
                  <a:latin typeface="+mn-ea"/>
                </a:endParaRPr>
              </a:p>
            </p:txBody>
          </p:sp>
          <p:sp>
            <p:nvSpPr>
              <p:cNvPr id="66" name="Text 28">
                <a:extLst>
                  <a:ext uri="{FF2B5EF4-FFF2-40B4-BE49-F238E27FC236}">
                    <a16:creationId xmlns:a16="http://schemas.microsoft.com/office/drawing/2014/main" id="{47790CF9-AABD-43B3-832C-0FCF92F32481}"/>
                  </a:ext>
                </a:extLst>
              </p:cNvPr>
              <p:cNvSpPr/>
              <p:nvPr/>
            </p:nvSpPr>
            <p:spPr>
              <a:xfrm>
                <a:off x="6476489" y="3930850"/>
                <a:ext cx="4535424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ko-KR" sz="1200" dirty="0"/>
                  <a:t>Our </a:t>
                </a:r>
                <a:r>
                  <a:rPr lang="en-US" altLang="ko-KR" sz="1200" dirty="0" err="1"/>
                  <a:t>hyperelastic</a:t>
                </a:r>
                <a:r>
                  <a:rPr lang="en-US" altLang="ko-KR" sz="1200" dirty="0"/>
                  <a:t> fitting is unstable</a:t>
                </a:r>
                <a:endParaRPr lang="en-US" sz="1150" dirty="0">
                  <a:latin typeface="+mn-ea"/>
                </a:endParaRPr>
              </a:p>
            </p:txBody>
          </p:sp>
        </p:grpSp>
        <p:sp>
          <p:nvSpPr>
            <p:cNvPr id="40" name="Shape 23">
              <a:extLst>
                <a:ext uri="{FF2B5EF4-FFF2-40B4-BE49-F238E27FC236}">
                  <a16:creationId xmlns:a16="http://schemas.microsoft.com/office/drawing/2014/main" id="{1DAB018E-C235-400F-A47B-29DEABB769CD}"/>
                </a:ext>
              </a:extLst>
            </p:cNvPr>
            <p:cNvSpPr/>
            <p:nvPr/>
          </p:nvSpPr>
          <p:spPr>
            <a:xfrm>
              <a:off x="496720" y="3460117"/>
              <a:ext cx="1285538" cy="575431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2700">
              <a:solidFill>
                <a:srgbClr val="D8DEE8"/>
              </a:solidFill>
              <a:prstDash val="solid"/>
            </a:ln>
          </p:spPr>
          <p:txBody>
            <a:bodyPr/>
            <a:lstStyle/>
            <a:p>
              <a:endParaRPr>
                <a:latin typeface="+mn-ea"/>
              </a:endParaRPr>
            </a:p>
          </p:txBody>
        </p:sp>
        <p:sp>
          <p:nvSpPr>
            <p:cNvPr id="41" name="Shape 24">
              <a:extLst>
                <a:ext uri="{FF2B5EF4-FFF2-40B4-BE49-F238E27FC236}">
                  <a16:creationId xmlns:a16="http://schemas.microsoft.com/office/drawing/2014/main" id="{1AAA7D38-CA14-4E1F-8C1D-97643794C3FE}"/>
                </a:ext>
              </a:extLst>
            </p:cNvPr>
            <p:cNvSpPr/>
            <p:nvPr/>
          </p:nvSpPr>
          <p:spPr>
            <a:xfrm>
              <a:off x="1800623" y="3465731"/>
              <a:ext cx="2479252" cy="575431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2700">
              <a:solidFill>
                <a:srgbClr val="D8DEE8"/>
              </a:solidFill>
              <a:prstDash val="solid"/>
            </a:ln>
          </p:spPr>
          <p:txBody>
            <a:bodyPr/>
            <a:lstStyle/>
            <a:p>
              <a:endParaRPr>
                <a:latin typeface="+mn-ea"/>
              </a:endParaRPr>
            </a:p>
          </p:txBody>
        </p:sp>
        <p:sp>
          <p:nvSpPr>
            <p:cNvPr id="67" name="Shape 25">
              <a:extLst>
                <a:ext uri="{FF2B5EF4-FFF2-40B4-BE49-F238E27FC236}">
                  <a16:creationId xmlns:a16="http://schemas.microsoft.com/office/drawing/2014/main" id="{D647B291-EBD8-496C-AE92-EE69BF2DDDD2}"/>
                </a:ext>
              </a:extLst>
            </p:cNvPr>
            <p:cNvSpPr/>
            <p:nvPr/>
          </p:nvSpPr>
          <p:spPr>
            <a:xfrm>
              <a:off x="4298240" y="3465731"/>
              <a:ext cx="3281183" cy="575431"/>
            </a:xfrm>
            <a:prstGeom prst="roundRect">
              <a:avLst>
                <a:gd name="adj" fmla="val 8511"/>
              </a:avLst>
            </a:prstGeom>
            <a:solidFill>
              <a:srgbClr val="F8FBFF"/>
            </a:solidFill>
            <a:ln w="12700">
              <a:solidFill>
                <a:srgbClr val="D8DEE8"/>
              </a:solidFill>
              <a:prstDash val="solid"/>
            </a:ln>
          </p:spPr>
          <p:txBody>
            <a:bodyPr/>
            <a:lstStyle/>
            <a:p>
              <a:endParaRPr dirty="0">
                <a:latin typeface="+mn-ea"/>
              </a:endParaRPr>
            </a:p>
          </p:txBody>
        </p:sp>
        <p:sp>
          <p:nvSpPr>
            <p:cNvPr id="68" name="Text 26">
              <a:extLst>
                <a:ext uri="{FF2B5EF4-FFF2-40B4-BE49-F238E27FC236}">
                  <a16:creationId xmlns:a16="http://schemas.microsoft.com/office/drawing/2014/main" id="{A90EBDE4-E7EE-4D37-92AD-0F58BAF7039C}"/>
                </a:ext>
              </a:extLst>
            </p:cNvPr>
            <p:cNvSpPr/>
            <p:nvPr/>
          </p:nvSpPr>
          <p:spPr>
            <a:xfrm>
              <a:off x="588544" y="3514704"/>
              <a:ext cx="1101890" cy="4652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F2937"/>
                  </a:solidFill>
                  <a:latin typeface="+mn-ea"/>
                  <a:cs typeface="Malgun Gothic" pitchFamily="34" charset="-120"/>
                </a:rPr>
                <a:t>FE data volume</a:t>
              </a:r>
              <a:endParaRPr lang="en-US" sz="1150" dirty="0">
                <a:latin typeface="+mn-ea"/>
              </a:endParaRPr>
            </a:p>
          </p:txBody>
        </p:sp>
        <p:sp>
          <p:nvSpPr>
            <p:cNvPr id="69" name="Text 27">
              <a:extLst>
                <a:ext uri="{FF2B5EF4-FFF2-40B4-BE49-F238E27FC236}">
                  <a16:creationId xmlns:a16="http://schemas.microsoft.com/office/drawing/2014/main" id="{D8769F60-EF9B-4797-BFD2-228626927EFB}"/>
                </a:ext>
              </a:extLst>
            </p:cNvPr>
            <p:cNvSpPr/>
            <p:nvPr/>
          </p:nvSpPr>
          <p:spPr>
            <a:xfrm>
              <a:off x="1892447" y="3514704"/>
              <a:ext cx="2271117" cy="4774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F2937"/>
                  </a:solidFill>
                  <a:latin typeface="+mn-ea"/>
                  <a:cs typeface="Malgun Gothic" pitchFamily="34" charset="-120"/>
                </a:rPr>
                <a:t>53,007 structure-response pairs</a:t>
              </a:r>
              <a:endParaRPr lang="en-US" sz="1150" dirty="0">
                <a:latin typeface="+mn-ea"/>
              </a:endParaRPr>
            </a:p>
          </p:txBody>
        </p:sp>
        <p:sp>
          <p:nvSpPr>
            <p:cNvPr id="70" name="Text 28">
              <a:extLst>
                <a:ext uri="{FF2B5EF4-FFF2-40B4-BE49-F238E27FC236}">
                  <a16:creationId xmlns:a16="http://schemas.microsoft.com/office/drawing/2014/main" id="{5AE40D69-7225-441C-B40E-1C33A203895F}"/>
                </a:ext>
              </a:extLst>
            </p:cNvPr>
            <p:cNvSpPr/>
            <p:nvPr/>
          </p:nvSpPr>
          <p:spPr>
            <a:xfrm>
              <a:off x="4399109" y="3514704"/>
              <a:ext cx="3036319" cy="4774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F2937"/>
                  </a:solidFill>
                  <a:latin typeface="+mn-ea"/>
                  <a:cs typeface="Malgun Gothic" pitchFamily="34" charset="-120"/>
                </a:rPr>
                <a:t>4,614 completed runs</a:t>
              </a:r>
              <a:endParaRPr lang="en-US" sz="1150" dirty="0">
                <a:latin typeface="+mn-ea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23104BAF-DB6A-4E09-880D-9CBBB28EFDF9}"/>
              </a:ext>
            </a:extLst>
          </p:cNvPr>
          <p:cNvGrpSpPr/>
          <p:nvPr/>
        </p:nvGrpSpPr>
        <p:grpSpPr>
          <a:xfrm>
            <a:off x="8282525" y="4354167"/>
            <a:ext cx="2805874" cy="1894479"/>
            <a:chOff x="6698690" y="1804598"/>
            <a:chExt cx="3440177" cy="2285578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5A40F7EA-ECF4-41E5-95C6-3F6F788C5C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3571"/>
            <a:stretch/>
          </p:blipFill>
          <p:spPr>
            <a:xfrm>
              <a:off x="6698690" y="1804598"/>
              <a:ext cx="3440177" cy="2285578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73E2C45-EAEC-4BF3-A717-570F384E79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6617"/>
            <a:stretch/>
          </p:blipFill>
          <p:spPr>
            <a:xfrm>
              <a:off x="9086385" y="1804598"/>
              <a:ext cx="1052482" cy="2285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93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BA3B6-1F28-4C4F-ACE5-C163A186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Completed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0B7576F-8F19-4036-9E5B-A4C120869BC0}"/>
              </a:ext>
            </a:extLst>
          </p:cNvPr>
          <p:cNvGrpSpPr/>
          <p:nvPr/>
        </p:nvGrpSpPr>
        <p:grpSpPr>
          <a:xfrm>
            <a:off x="1286256" y="2685849"/>
            <a:ext cx="3886200" cy="2500291"/>
            <a:chOff x="1286256" y="1636279"/>
            <a:chExt cx="3886200" cy="2500291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A3B0AA91-4FBC-4808-86ED-1077FC75D84F}"/>
                </a:ext>
              </a:extLst>
            </p:cNvPr>
            <p:cNvSpPr/>
            <p:nvPr/>
          </p:nvSpPr>
          <p:spPr>
            <a:xfrm>
              <a:off x="1286256" y="1636279"/>
              <a:ext cx="3886200" cy="2500291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8239AD2E-B311-4DE6-B333-6BBF3D414E6C}"/>
                </a:ext>
              </a:extLst>
            </p:cNvPr>
            <p:cNvSpPr/>
            <p:nvPr/>
          </p:nvSpPr>
          <p:spPr>
            <a:xfrm>
              <a:off x="1560576" y="1956319"/>
              <a:ext cx="2011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5B6571"/>
                  </a:solidFill>
                  <a:latin typeface="+mn-ea"/>
                  <a:cs typeface="Malgun Gothic" pitchFamily="34" charset="-120"/>
                </a:rPr>
                <a:t>Usable simulations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56" name="Text 7">
              <a:extLst>
                <a:ext uri="{FF2B5EF4-FFF2-40B4-BE49-F238E27FC236}">
                  <a16:creationId xmlns:a16="http://schemas.microsoft.com/office/drawing/2014/main" id="{A73B552C-77B3-4E12-A3CA-3CBF3C7D462C}"/>
                </a:ext>
              </a:extLst>
            </p:cNvPr>
            <p:cNvSpPr/>
            <p:nvPr/>
          </p:nvSpPr>
          <p:spPr>
            <a:xfrm>
              <a:off x="1514856" y="2276359"/>
              <a:ext cx="29260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E79"/>
                  </a:solidFill>
                  <a:latin typeface="+mn-ea"/>
                  <a:cs typeface="Malgun Gothic" pitchFamily="34" charset="-120"/>
                </a:rPr>
                <a:t>4,614</a:t>
              </a:r>
              <a:endParaRPr lang="en-US" sz="3000" dirty="0">
                <a:latin typeface="+mn-ea"/>
              </a:endParaRPr>
            </a:p>
          </p:txBody>
        </p:sp>
        <p:sp>
          <p:nvSpPr>
            <p:cNvPr id="57" name="Text 8">
              <a:extLst>
                <a:ext uri="{FF2B5EF4-FFF2-40B4-BE49-F238E27FC236}">
                  <a16:creationId xmlns:a16="http://schemas.microsoft.com/office/drawing/2014/main" id="{86620467-4F83-4DFA-9212-C2333E152FC0}"/>
                </a:ext>
              </a:extLst>
            </p:cNvPr>
            <p:cNvSpPr/>
            <p:nvPr/>
          </p:nvSpPr>
          <p:spPr>
            <a:xfrm>
              <a:off x="1560576" y="3145039"/>
              <a:ext cx="309851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F2937"/>
                  </a:solidFill>
                  <a:latin typeface="+mn-ea"/>
                  <a:cs typeface="Malgun Gothic" pitchFamily="34" charset="-120"/>
                </a:rPr>
                <a:t>paper training scale 53,008 대비 약 8.7%</a:t>
              </a:r>
              <a:endParaRPr lang="en-US" sz="1250" dirty="0">
                <a:latin typeface="+mn-ea"/>
              </a:endParaRPr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F4910668-8FCE-4C1D-912D-7417085EF37B}"/>
                </a:ext>
              </a:extLst>
            </p:cNvPr>
            <p:cNvSpPr/>
            <p:nvPr/>
          </p:nvSpPr>
          <p:spPr>
            <a:xfrm>
              <a:off x="1560576" y="3401071"/>
              <a:ext cx="2834640" cy="256032"/>
            </a:xfrm>
            <a:prstGeom prst="roundRect">
              <a:avLst>
                <a:gd name="adj" fmla="val 21429"/>
              </a:avLst>
            </a:prstGeom>
            <a:solidFill>
              <a:srgbClr val="E6ECF4"/>
            </a:solidFill>
            <a:ln w="12700">
              <a:solidFill>
                <a:srgbClr val="E6ECF4"/>
              </a:solidFill>
              <a:prstDash val="solid"/>
            </a:ln>
          </p:spPr>
        </p:sp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F503F902-7676-4640-9E4E-85B07C58B760}"/>
                </a:ext>
              </a:extLst>
            </p:cNvPr>
            <p:cNvSpPr/>
            <p:nvPr/>
          </p:nvSpPr>
          <p:spPr>
            <a:xfrm>
              <a:off x="1560576" y="3401071"/>
              <a:ext cx="246888" cy="256032"/>
            </a:xfrm>
            <a:prstGeom prst="roundRect">
              <a:avLst>
                <a:gd name="adj" fmla="val 22222"/>
              </a:avLst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C31E2F50-C0CF-403F-BE32-62F591E830D0}"/>
                </a:ext>
              </a:extLst>
            </p:cNvPr>
            <p:cNvSpPr/>
            <p:nvPr/>
          </p:nvSpPr>
          <p:spPr>
            <a:xfrm>
              <a:off x="1423416" y="3702823"/>
              <a:ext cx="22860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+mn-ea"/>
                  <a:cs typeface="Malgun Gothic" pitchFamily="34" charset="-120"/>
                </a:rPr>
                <a:t>0%</a:t>
              </a:r>
              <a:endParaRPr lang="en-US" sz="850" dirty="0">
                <a:latin typeface="+mn-ea"/>
              </a:endParaRPr>
            </a:p>
          </p:txBody>
        </p:sp>
        <p:sp>
          <p:nvSpPr>
            <p:cNvPr id="61" name="Text 12">
              <a:extLst>
                <a:ext uri="{FF2B5EF4-FFF2-40B4-BE49-F238E27FC236}">
                  <a16:creationId xmlns:a16="http://schemas.microsoft.com/office/drawing/2014/main" id="{D22F6C88-7E04-4089-9811-945E1741F4D9}"/>
                </a:ext>
              </a:extLst>
            </p:cNvPr>
            <p:cNvSpPr/>
            <p:nvPr/>
          </p:nvSpPr>
          <p:spPr>
            <a:xfrm>
              <a:off x="1862328" y="3702823"/>
              <a:ext cx="45720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F4E79"/>
                  </a:solidFill>
                  <a:latin typeface="+mn-ea"/>
                  <a:cs typeface="Malgun Gothic" pitchFamily="34" charset="-120"/>
                </a:rPr>
                <a:t>8.7%</a:t>
              </a:r>
              <a:endParaRPr lang="en-US" sz="850" dirty="0">
                <a:latin typeface="+mn-ea"/>
              </a:endParaRPr>
            </a:p>
          </p:txBody>
        </p:sp>
        <p:sp>
          <p:nvSpPr>
            <p:cNvPr id="62" name="Text 13">
              <a:extLst>
                <a:ext uri="{FF2B5EF4-FFF2-40B4-BE49-F238E27FC236}">
                  <a16:creationId xmlns:a16="http://schemas.microsoft.com/office/drawing/2014/main" id="{2892AC70-DA04-4585-AB5C-50E83DE3E0DA}"/>
                </a:ext>
              </a:extLst>
            </p:cNvPr>
            <p:cNvSpPr/>
            <p:nvPr/>
          </p:nvSpPr>
          <p:spPr>
            <a:xfrm>
              <a:off x="4166616" y="3702823"/>
              <a:ext cx="36576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dirty="0">
                  <a:solidFill>
                    <a:srgbClr val="6B7280"/>
                  </a:solidFill>
                  <a:latin typeface="+mn-ea"/>
                  <a:cs typeface="Malgun Gothic" pitchFamily="34" charset="-120"/>
                </a:rPr>
                <a:t>100%</a:t>
              </a:r>
              <a:endParaRPr lang="en-US" sz="850" dirty="0">
                <a:latin typeface="+mn-ea"/>
              </a:endParaRPr>
            </a:p>
          </p:txBody>
        </p:sp>
      </p:grpSp>
      <p:sp>
        <p:nvSpPr>
          <p:cNvPr id="66" name="Shape 17">
            <a:extLst>
              <a:ext uri="{FF2B5EF4-FFF2-40B4-BE49-F238E27FC236}">
                <a16:creationId xmlns:a16="http://schemas.microsoft.com/office/drawing/2014/main" id="{8112E45F-2594-40A8-8C89-0E32194EDBE8}"/>
              </a:ext>
            </a:extLst>
          </p:cNvPr>
          <p:cNvSpPr/>
          <p:nvPr/>
        </p:nvSpPr>
        <p:spPr>
          <a:xfrm>
            <a:off x="5492496" y="1983751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F9B265B6-DD43-4C0F-A3B1-B581CA3105A4}"/>
              </a:ext>
            </a:extLst>
          </p:cNvPr>
          <p:cNvSpPr/>
          <p:nvPr/>
        </p:nvSpPr>
        <p:spPr>
          <a:xfrm>
            <a:off x="5657088" y="2111767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1"/>
                </a:solidFill>
                <a:latin typeface="+mn-ea"/>
                <a:cs typeface="Malgun Gothic" pitchFamily="34" charset="-120"/>
              </a:rPr>
              <a:t>Geometry requested</a:t>
            </a:r>
            <a:endParaRPr lang="en-US" sz="1000" dirty="0">
              <a:latin typeface="+mn-ea"/>
            </a:endParaRPr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7262001C-EA16-4C44-A63A-A3B5A497A879}"/>
              </a:ext>
            </a:extLst>
          </p:cNvPr>
          <p:cNvSpPr/>
          <p:nvPr/>
        </p:nvSpPr>
        <p:spPr>
          <a:xfrm>
            <a:off x="5657088" y="2294647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+mn-ea"/>
                <a:cs typeface="Malgun Gothic" pitchFamily="34" charset="-120"/>
              </a:rPr>
              <a:t>53,008</a:t>
            </a:r>
            <a:endParaRPr lang="en-US" sz="2000" dirty="0">
              <a:latin typeface="+mn-ea"/>
            </a:endParaRPr>
          </a:p>
        </p:txBody>
      </p:sp>
      <p:sp>
        <p:nvSpPr>
          <p:cNvPr id="69" name="Shape 20">
            <a:extLst>
              <a:ext uri="{FF2B5EF4-FFF2-40B4-BE49-F238E27FC236}">
                <a16:creationId xmlns:a16="http://schemas.microsoft.com/office/drawing/2014/main" id="{CB781873-4B57-44A8-97DD-BAE56C8BFBE9}"/>
              </a:ext>
            </a:extLst>
          </p:cNvPr>
          <p:cNvSpPr/>
          <p:nvPr/>
        </p:nvSpPr>
        <p:spPr>
          <a:xfrm>
            <a:off x="8299704" y="1983751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B78AB5A9-3BA0-462B-8749-B8310E8DED91}"/>
              </a:ext>
            </a:extLst>
          </p:cNvPr>
          <p:cNvSpPr/>
          <p:nvPr/>
        </p:nvSpPr>
        <p:spPr>
          <a:xfrm>
            <a:off x="8464296" y="2111767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1"/>
                </a:solidFill>
                <a:latin typeface="+mn-ea"/>
                <a:cs typeface="Malgun Gothic" pitchFamily="34" charset="-120"/>
              </a:rPr>
              <a:t>Interrupted</a:t>
            </a:r>
            <a:endParaRPr lang="en-US" sz="1000" dirty="0">
              <a:latin typeface="+mn-ea"/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6B74C875-0142-4745-8714-B7FC5F55F7CA}"/>
              </a:ext>
            </a:extLst>
          </p:cNvPr>
          <p:cNvSpPr/>
          <p:nvPr/>
        </p:nvSpPr>
        <p:spPr>
          <a:xfrm>
            <a:off x="8464296" y="2294647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+mn-ea"/>
                <a:cs typeface="Malgun Gothic" pitchFamily="34" charset="-120"/>
              </a:rPr>
              <a:t>40,149</a:t>
            </a:r>
            <a:endParaRPr lang="en-US" sz="2000" dirty="0">
              <a:latin typeface="+mn-ea"/>
            </a:endParaRPr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12B859D2-CA1C-4612-A5D2-8918ADDA4754}"/>
              </a:ext>
            </a:extLst>
          </p:cNvPr>
          <p:cNvSpPr/>
          <p:nvPr/>
        </p:nvSpPr>
        <p:spPr>
          <a:xfrm>
            <a:off x="5492496" y="3291343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FF3E3"/>
          </a:solidFill>
          <a:ln w="12700">
            <a:solidFill>
              <a:srgbClr val="FFF3E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ECBF22AA-17C0-4EC5-A7A1-790DDB82DC5E}"/>
              </a:ext>
            </a:extLst>
          </p:cNvPr>
          <p:cNvSpPr/>
          <p:nvPr/>
        </p:nvSpPr>
        <p:spPr>
          <a:xfrm>
            <a:off x="5657088" y="3419359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1"/>
                </a:solidFill>
                <a:latin typeface="+mn-ea"/>
                <a:cs typeface="Malgun Gothic" pitchFamily="34" charset="-120"/>
              </a:rPr>
              <a:t>Missing FE output</a:t>
            </a:r>
            <a:endParaRPr lang="en-US" sz="1000" dirty="0">
              <a:latin typeface="+mn-ea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51F3CE04-C719-44B5-8990-8E38554D1FD1}"/>
              </a:ext>
            </a:extLst>
          </p:cNvPr>
          <p:cNvSpPr/>
          <p:nvPr/>
        </p:nvSpPr>
        <p:spPr>
          <a:xfrm>
            <a:off x="5657088" y="3602239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+mn-ea"/>
                <a:cs typeface="Malgun Gothic" pitchFamily="34" charset="-120"/>
              </a:rPr>
              <a:t>6,837</a:t>
            </a:r>
            <a:endParaRPr lang="en-US" sz="2000" dirty="0">
              <a:latin typeface="+mn-ea"/>
            </a:endParaRPr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AA3EFF9E-29B0-416B-A05B-F00DA1C6836E}"/>
              </a:ext>
            </a:extLst>
          </p:cNvPr>
          <p:cNvSpPr/>
          <p:nvPr/>
        </p:nvSpPr>
        <p:spPr>
          <a:xfrm>
            <a:off x="8299704" y="3291343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06683487-C340-404F-B9DE-6FB37E9928C7}"/>
              </a:ext>
            </a:extLst>
          </p:cNvPr>
          <p:cNvSpPr/>
          <p:nvPr/>
        </p:nvSpPr>
        <p:spPr>
          <a:xfrm>
            <a:off x="8464296" y="3419359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1"/>
                </a:solidFill>
                <a:latin typeface="+mn-ea"/>
                <a:cs typeface="Malgun Gothic" pitchFamily="34" charset="-120"/>
              </a:rPr>
              <a:t>Failed</a:t>
            </a:r>
            <a:endParaRPr lang="en-US" sz="1000" dirty="0">
              <a:latin typeface="+mn-ea"/>
            </a:endParaRPr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61313A29-22FF-4B76-A645-789796B7A8C5}"/>
              </a:ext>
            </a:extLst>
          </p:cNvPr>
          <p:cNvSpPr/>
          <p:nvPr/>
        </p:nvSpPr>
        <p:spPr>
          <a:xfrm>
            <a:off x="8464296" y="3602239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3A3A"/>
                </a:solidFill>
                <a:latin typeface="+mn-ea"/>
                <a:cs typeface="Malgun Gothic" pitchFamily="34" charset="-120"/>
              </a:rPr>
              <a:t>2,403</a:t>
            </a:r>
            <a:endParaRPr lang="en-US" sz="2000" dirty="0">
              <a:latin typeface="+mn-ea"/>
            </a:endParaRPr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DABD85C9-A286-4159-9B33-42727B873411}"/>
              </a:ext>
            </a:extLst>
          </p:cNvPr>
          <p:cNvSpPr/>
          <p:nvPr/>
        </p:nvSpPr>
        <p:spPr>
          <a:xfrm>
            <a:off x="5492496" y="4598935"/>
            <a:ext cx="5413248" cy="1078992"/>
          </a:xfrm>
          <a:prstGeom prst="roundRect">
            <a:avLst>
              <a:gd name="adj" fmla="val 678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688A69B4-31B9-4752-A569-4022065841C9}"/>
              </a:ext>
            </a:extLst>
          </p:cNvPr>
          <p:cNvSpPr/>
          <p:nvPr/>
        </p:nvSpPr>
        <p:spPr>
          <a:xfrm>
            <a:off x="5657088" y="4726951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1"/>
                </a:solidFill>
                <a:latin typeface="+mn-ea"/>
                <a:cs typeface="Malgun Gothic" pitchFamily="34" charset="-120"/>
              </a:rPr>
              <a:t>Train / Validation split</a:t>
            </a:r>
            <a:endParaRPr lang="en-US" sz="1000" dirty="0">
              <a:latin typeface="+mn-ea"/>
            </a:endParaRPr>
          </a:p>
        </p:txBody>
      </p:sp>
      <p:sp>
        <p:nvSpPr>
          <p:cNvPr id="80" name="Text 31">
            <a:extLst>
              <a:ext uri="{FF2B5EF4-FFF2-40B4-BE49-F238E27FC236}">
                <a16:creationId xmlns:a16="http://schemas.microsoft.com/office/drawing/2014/main" id="{A4BCD732-9410-46B2-8CE6-02CF25897F1E}"/>
              </a:ext>
            </a:extLst>
          </p:cNvPr>
          <p:cNvSpPr/>
          <p:nvPr/>
        </p:nvSpPr>
        <p:spPr>
          <a:xfrm>
            <a:off x="5657088" y="4909831"/>
            <a:ext cx="5084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+mn-ea"/>
                <a:cs typeface="Malgun Gothic" pitchFamily="34" charset="-120"/>
              </a:rPr>
              <a:t>3,229 / 1,385</a:t>
            </a:r>
            <a:endParaRPr lang="en-US" sz="2000" dirty="0">
              <a:latin typeface="+mn-ea"/>
            </a:endParaRPr>
          </a:p>
        </p:txBody>
      </p:sp>
      <p:sp>
        <p:nvSpPr>
          <p:cNvPr id="28" name="텍스트 개체 틀 6">
            <a:extLst>
              <a:ext uri="{FF2B5EF4-FFF2-40B4-BE49-F238E27FC236}">
                <a16:creationId xmlns:a16="http://schemas.microsoft.com/office/drawing/2014/main" id="{11D1BE52-D26E-4A18-BBE9-25181AC8888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5935941" cy="322386"/>
          </a:xfrm>
        </p:spPr>
        <p:txBody>
          <a:bodyPr/>
          <a:lstStyle/>
          <a:p>
            <a:r>
              <a:rPr lang="en-US" altLang="ko-KR" dirty="0"/>
              <a:t>Dataset Generation Results</a:t>
            </a:r>
          </a:p>
        </p:txBody>
      </p:sp>
    </p:spTree>
    <p:extLst>
      <p:ext uri="{BB962C8B-B14F-4D97-AF65-F5344CB8AC3E}">
        <p14:creationId xmlns:p14="http://schemas.microsoft.com/office/powerpoint/2010/main" val="2465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BA3B6-1F28-4C4F-ACE5-C163A186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Completed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07CD7-76C7-4CB5-AC25-0BA69FBDFFA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6440690" cy="322386"/>
          </a:xfrm>
        </p:spPr>
        <p:txBody>
          <a:bodyPr/>
          <a:lstStyle/>
          <a:p>
            <a:r>
              <a:rPr lang="en-US" altLang="ko-KR" dirty="0"/>
              <a:t>Preliminary Result after Real-material Dataset Training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3C2AF5E-397D-49BF-917E-81F8160A4794}"/>
              </a:ext>
            </a:extLst>
          </p:cNvPr>
          <p:cNvGrpSpPr/>
          <p:nvPr/>
        </p:nvGrpSpPr>
        <p:grpSpPr>
          <a:xfrm>
            <a:off x="448893" y="1873847"/>
            <a:ext cx="11300195" cy="3110306"/>
            <a:chOff x="442913" y="1359281"/>
            <a:chExt cx="11300195" cy="311030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730A260-48DE-4B61-8DCF-17E360BED207}"/>
                </a:ext>
              </a:extLst>
            </p:cNvPr>
            <p:cNvSpPr/>
            <p:nvPr/>
          </p:nvSpPr>
          <p:spPr>
            <a:xfrm>
              <a:off x="448890" y="1371988"/>
              <a:ext cx="11294218" cy="3097599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BCD150-16B7-466C-83CA-A2C067A08A5E}"/>
                </a:ext>
              </a:extLst>
            </p:cNvPr>
            <p:cNvSpPr txBox="1"/>
            <p:nvPr/>
          </p:nvSpPr>
          <p:spPr>
            <a:xfrm>
              <a:off x="442913" y="1359281"/>
              <a:ext cx="3900610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/>
                <a:t>Target response &amp; gif results</a:t>
              </a:r>
              <a:endParaRPr lang="ko-KR" altLang="en-US" sz="1200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A310FC-AA56-4666-ABD1-A0BBD7CD51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887"/>
            <a:stretch/>
          </p:blipFill>
          <p:spPr>
            <a:xfrm>
              <a:off x="442914" y="1677529"/>
              <a:ext cx="11300194" cy="188508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9B4B62E-1F0F-46E2-A781-9B1BA1ABD6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867"/>
            <a:stretch/>
          </p:blipFill>
          <p:spPr>
            <a:xfrm>
              <a:off x="770429" y="3740867"/>
              <a:ext cx="2158902" cy="52389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2C458E4-C42A-4E75-8262-AA0B3AEE48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33" b="75225"/>
            <a:stretch/>
          </p:blipFill>
          <p:spPr>
            <a:xfrm>
              <a:off x="3663258" y="3718921"/>
              <a:ext cx="2158902" cy="54584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11D80DD-BBFC-49D9-8303-5BB764849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904" b="62454"/>
            <a:stretch/>
          </p:blipFill>
          <p:spPr>
            <a:xfrm>
              <a:off x="6556087" y="3718921"/>
              <a:ext cx="2158902" cy="54584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DF525B1-3E29-4D7A-8966-F4EBDE72F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77" b="50136"/>
            <a:stretch/>
          </p:blipFill>
          <p:spPr>
            <a:xfrm>
              <a:off x="9262669" y="3740867"/>
              <a:ext cx="2158902" cy="539165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6964F3D-C89F-437F-9837-43ABADC5AE5B}"/>
              </a:ext>
            </a:extLst>
          </p:cNvPr>
          <p:cNvGrpSpPr/>
          <p:nvPr/>
        </p:nvGrpSpPr>
        <p:grpSpPr>
          <a:xfrm>
            <a:off x="454870" y="5253448"/>
            <a:ext cx="3583730" cy="1098363"/>
            <a:chOff x="442913" y="5253449"/>
            <a:chExt cx="4325921" cy="935038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846B5E7-DCD9-4B0D-9AE8-9957669147E1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157938-7437-4A4D-BAAA-21FBC77FEF5A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Validation Setup :</a:t>
              </a:r>
              <a:br>
                <a:rPr lang="en-US" altLang="ko-KR" sz="1200" dirty="0"/>
              </a:br>
              <a:r>
                <a:rPr lang="en-US" altLang="ko-KR" sz="1200" dirty="0"/>
                <a:t>4 linear + 4 quadratic targets, target</a:t>
              </a:r>
              <a:r>
                <a:rPr lang="ko-KR" altLang="en-US" sz="1200" dirty="0"/>
                <a:t>당 </a:t>
              </a:r>
              <a:r>
                <a:rPr lang="en-US" altLang="ko-KR" sz="1200" dirty="0"/>
                <a:t>4</a:t>
              </a:r>
              <a:r>
                <a:rPr lang="ko-KR" altLang="en-US" sz="1200" dirty="0"/>
                <a:t>개 </a:t>
              </a:r>
              <a:r>
                <a:rPr lang="en-US" altLang="ko-KR" sz="1200" dirty="0"/>
                <a:t>candidate </a:t>
              </a:r>
              <a:r>
                <a:rPr lang="ko-KR" altLang="en-US" sz="1200" dirty="0"/>
                <a:t>생성</a:t>
              </a:r>
              <a:endParaRPr lang="en-US" altLang="ko-KR" sz="1200" dirty="0"/>
            </a:p>
            <a:p>
              <a:endParaRPr lang="ko-KR" altLang="en-US" sz="1200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55A8884-40D7-4635-9039-1242DDCEF300}"/>
              </a:ext>
            </a:extLst>
          </p:cNvPr>
          <p:cNvGrpSpPr/>
          <p:nvPr/>
        </p:nvGrpSpPr>
        <p:grpSpPr>
          <a:xfrm>
            <a:off x="4304135" y="5253449"/>
            <a:ext cx="3583730" cy="1193071"/>
            <a:chOff x="442913" y="5253449"/>
            <a:chExt cx="4325921" cy="101566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B09FC576-327C-449A-B6BE-B4F77BA7255D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B1F6CCA-5569-4B4C-AC91-66E3767206AD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/>
                <a:t>Obsevation</a:t>
              </a:r>
              <a:r>
                <a:rPr lang="en-US" altLang="ko-KR" sz="1200" dirty="0"/>
                <a:t> : </a:t>
              </a:r>
              <a:br>
                <a:rPr lang="en-US" altLang="ko-KR" sz="1200" dirty="0"/>
              </a:br>
              <a:r>
                <a:rPr lang="en-US" altLang="ko-KR" sz="1200" dirty="0"/>
                <a:t>Quadratic target coefficient</a:t>
              </a:r>
              <a:r>
                <a:rPr lang="ko-KR" altLang="en-US" sz="1200" dirty="0"/>
                <a:t>만 변경했을 때 유사 </a:t>
              </a:r>
              <a:r>
                <a:rPr lang="en-US" altLang="ko-KR" sz="1200" dirty="0"/>
                <a:t>geometry </a:t>
              </a:r>
              <a:r>
                <a:rPr lang="ko-KR" altLang="en-US" sz="1200" dirty="0"/>
                <a:t>반복 생성</a:t>
              </a:r>
              <a:br>
                <a:rPr lang="en-US" altLang="ko-KR" sz="1200" dirty="0"/>
              </a:br>
              <a:r>
                <a:rPr lang="ko-KR" altLang="en-US" sz="1200" dirty="0"/>
                <a:t>출력 </a:t>
              </a:r>
              <a:r>
                <a:rPr lang="en-US" altLang="ko-KR" sz="1200" dirty="0"/>
                <a:t>stress</a:t>
              </a:r>
              <a:r>
                <a:rPr lang="ko-KR" altLang="en-US" sz="1200" dirty="0"/>
                <a:t>는 입력 </a:t>
              </a:r>
              <a:r>
                <a:rPr lang="en-US" altLang="ko-KR" sz="1200" dirty="0"/>
                <a:t>stress</a:t>
              </a:r>
              <a:r>
                <a:rPr lang="ko-KR" altLang="en-US" sz="1200" dirty="0"/>
                <a:t>보다 전반적으로 낮은 수준으로 나타났다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133011B-D871-4676-9D5C-A35FB7EED023}"/>
              </a:ext>
            </a:extLst>
          </p:cNvPr>
          <p:cNvGrpSpPr/>
          <p:nvPr/>
        </p:nvGrpSpPr>
        <p:grpSpPr>
          <a:xfrm>
            <a:off x="8143494" y="5242942"/>
            <a:ext cx="3583730" cy="1098363"/>
            <a:chOff x="442913" y="5253449"/>
            <a:chExt cx="4325921" cy="935038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177DFB44-1EB4-49FF-870B-4376497905EA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C3B11A-8602-4248-AD2F-BD55F48A0826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Caution :</a:t>
              </a:r>
              <a:br>
                <a:rPr lang="en-US" altLang="ko-KR" sz="1200" dirty="0"/>
              </a:br>
              <a:r>
                <a:rPr lang="en-US" altLang="ko-KR" sz="1200" dirty="0"/>
                <a:t>FE re-evaluation </a:t>
              </a:r>
              <a:r>
                <a:rPr lang="ko-KR" altLang="en-US" sz="1200" dirty="0"/>
                <a:t>전이므로 실제 </a:t>
              </a:r>
              <a:r>
                <a:rPr lang="en-US" altLang="ko-KR" sz="1200" dirty="0"/>
                <a:t>response mismatch</a:t>
              </a:r>
              <a:r>
                <a:rPr lang="ko-KR" altLang="en-US" sz="1200" dirty="0"/>
                <a:t>는 </a:t>
              </a:r>
              <a:r>
                <a:rPr lang="ko-KR" altLang="en-US" sz="1200" dirty="0" err="1"/>
                <a:t>미확정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046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BA3B6-1F28-4C4F-ACE5-C163A186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Completed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07CD7-76C7-4CB5-AC25-0BA69FBDFFA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6440690" cy="322386"/>
          </a:xfrm>
        </p:spPr>
        <p:txBody>
          <a:bodyPr/>
          <a:lstStyle/>
          <a:p>
            <a:r>
              <a:rPr lang="en-US" altLang="ko-KR" dirty="0"/>
              <a:t>Preliminary Result after Real-material Dataset Training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3C2AF5E-397D-49BF-917E-81F8160A4794}"/>
              </a:ext>
            </a:extLst>
          </p:cNvPr>
          <p:cNvGrpSpPr/>
          <p:nvPr/>
        </p:nvGrpSpPr>
        <p:grpSpPr>
          <a:xfrm>
            <a:off x="448893" y="1873847"/>
            <a:ext cx="11306171" cy="3110306"/>
            <a:chOff x="442913" y="1359281"/>
            <a:chExt cx="11306171" cy="311030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730A260-48DE-4B61-8DCF-17E360BED207}"/>
                </a:ext>
              </a:extLst>
            </p:cNvPr>
            <p:cNvSpPr/>
            <p:nvPr/>
          </p:nvSpPr>
          <p:spPr>
            <a:xfrm>
              <a:off x="448890" y="1371988"/>
              <a:ext cx="11294218" cy="3097599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BCD150-16B7-466C-83CA-A2C067A08A5E}"/>
                </a:ext>
              </a:extLst>
            </p:cNvPr>
            <p:cNvSpPr txBox="1"/>
            <p:nvPr/>
          </p:nvSpPr>
          <p:spPr>
            <a:xfrm>
              <a:off x="442913" y="1359281"/>
              <a:ext cx="3900610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/>
                <a:t>Target response &amp; gif results</a:t>
              </a:r>
              <a:endParaRPr lang="ko-KR" altLang="en-US" sz="1200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A310FC-AA56-4666-ABD1-A0BBD7CD51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38" b="-22"/>
            <a:stretch/>
          </p:blipFill>
          <p:spPr>
            <a:xfrm>
              <a:off x="448890" y="1617783"/>
              <a:ext cx="11300194" cy="187269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9B4B62E-1F0F-46E2-A781-9B1BA1ABD6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854" b="37609"/>
            <a:stretch/>
          </p:blipFill>
          <p:spPr>
            <a:xfrm>
              <a:off x="770429" y="3709368"/>
              <a:ext cx="2158902" cy="541325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2C458E4-C42A-4E75-8262-AA0B3AEE48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668" b="25134"/>
            <a:stretch/>
          </p:blipFill>
          <p:spPr>
            <a:xfrm>
              <a:off x="3597421" y="3709368"/>
              <a:ext cx="2158902" cy="526695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11D80DD-BBFC-49D9-8303-5BB764849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" t="74816" r="-405" b="12542"/>
            <a:stretch/>
          </p:blipFill>
          <p:spPr>
            <a:xfrm>
              <a:off x="6556087" y="3718921"/>
              <a:ext cx="2158902" cy="54584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DF525B1-3E29-4D7A-8966-F4EBDE72F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75" t="87232" r="475" b="281"/>
            <a:stretch/>
          </p:blipFill>
          <p:spPr>
            <a:xfrm>
              <a:off x="9262669" y="3740867"/>
              <a:ext cx="2158902" cy="539165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7A316F5-4B2E-493C-9333-CA3156899FA9}"/>
              </a:ext>
            </a:extLst>
          </p:cNvPr>
          <p:cNvGrpSpPr/>
          <p:nvPr/>
        </p:nvGrpSpPr>
        <p:grpSpPr>
          <a:xfrm>
            <a:off x="454870" y="5253448"/>
            <a:ext cx="3583730" cy="1098363"/>
            <a:chOff x="442913" y="5253449"/>
            <a:chExt cx="4325921" cy="93503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2CCBFCA9-7F37-4E81-ADCC-41E4A112C4B1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4A5179-F0BE-4AD0-A69A-CF2A31810460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Validation Setup :</a:t>
              </a:r>
              <a:br>
                <a:rPr lang="en-US" altLang="ko-KR" sz="1200" dirty="0"/>
              </a:br>
              <a:r>
                <a:rPr lang="en-US" altLang="ko-KR" sz="1200" dirty="0"/>
                <a:t>4 linear + 4 quadratic targets, target</a:t>
              </a:r>
              <a:r>
                <a:rPr lang="ko-KR" altLang="en-US" sz="1200" dirty="0"/>
                <a:t>당 </a:t>
              </a:r>
              <a:r>
                <a:rPr lang="en-US" altLang="ko-KR" sz="1200" dirty="0"/>
                <a:t>4</a:t>
              </a:r>
              <a:r>
                <a:rPr lang="ko-KR" altLang="en-US" sz="1200" dirty="0"/>
                <a:t>개 </a:t>
              </a:r>
              <a:r>
                <a:rPr lang="en-US" altLang="ko-KR" sz="1200" dirty="0"/>
                <a:t>candidate </a:t>
              </a:r>
              <a:r>
                <a:rPr lang="ko-KR" altLang="en-US" sz="1200" dirty="0"/>
                <a:t>생성</a:t>
              </a:r>
              <a:endParaRPr lang="en-US" altLang="ko-KR" sz="1200" dirty="0"/>
            </a:p>
            <a:p>
              <a:endParaRPr lang="ko-KR" altLang="en-US" sz="12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AE7D252-1C52-41BD-8E28-D9214AAB1C23}"/>
              </a:ext>
            </a:extLst>
          </p:cNvPr>
          <p:cNvGrpSpPr/>
          <p:nvPr/>
        </p:nvGrpSpPr>
        <p:grpSpPr>
          <a:xfrm>
            <a:off x="4304135" y="5253449"/>
            <a:ext cx="3583730" cy="1193071"/>
            <a:chOff x="442913" y="5253449"/>
            <a:chExt cx="4325921" cy="101566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7D0B55E-62B4-4DC6-BAEC-1DDDD00FC0E1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30718C6-E4CA-4A5B-85C5-93308B6B0589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/>
                <a:t>Obsevation</a:t>
              </a:r>
              <a:r>
                <a:rPr lang="en-US" altLang="ko-KR" sz="1200" dirty="0"/>
                <a:t> : </a:t>
              </a:r>
              <a:br>
                <a:rPr lang="en-US" altLang="ko-KR" sz="1200" dirty="0"/>
              </a:br>
              <a:r>
                <a:rPr lang="en-US" altLang="ko-KR" sz="1200" dirty="0"/>
                <a:t>Quadratic target coefficient</a:t>
              </a:r>
              <a:r>
                <a:rPr lang="ko-KR" altLang="en-US" sz="1200" dirty="0"/>
                <a:t>만 변경했을 때 유사 </a:t>
              </a:r>
              <a:r>
                <a:rPr lang="en-US" altLang="ko-KR" sz="1200" dirty="0"/>
                <a:t>geometry </a:t>
              </a:r>
              <a:r>
                <a:rPr lang="ko-KR" altLang="en-US" sz="1200" dirty="0"/>
                <a:t>반복 생성</a:t>
              </a:r>
              <a:br>
                <a:rPr lang="en-US" altLang="ko-KR" sz="1200" dirty="0"/>
              </a:br>
              <a:r>
                <a:rPr lang="ko-KR" altLang="en-US" sz="1200" dirty="0"/>
                <a:t>출력 </a:t>
              </a:r>
              <a:r>
                <a:rPr lang="en-US" altLang="ko-KR" sz="1200" dirty="0"/>
                <a:t>stress</a:t>
              </a:r>
              <a:r>
                <a:rPr lang="ko-KR" altLang="en-US" sz="1200" dirty="0"/>
                <a:t>는 입력 </a:t>
              </a:r>
              <a:r>
                <a:rPr lang="en-US" altLang="ko-KR" sz="1200" dirty="0"/>
                <a:t>stress</a:t>
              </a:r>
              <a:r>
                <a:rPr lang="ko-KR" altLang="en-US" sz="1200" dirty="0"/>
                <a:t>보다 전반적으로 낮은 수준으로 나타났다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BC5341E-0F5E-4B7D-88A0-4F85575CF340}"/>
              </a:ext>
            </a:extLst>
          </p:cNvPr>
          <p:cNvGrpSpPr/>
          <p:nvPr/>
        </p:nvGrpSpPr>
        <p:grpSpPr>
          <a:xfrm>
            <a:off x="8143494" y="5242942"/>
            <a:ext cx="3583730" cy="1098363"/>
            <a:chOff x="442913" y="5253449"/>
            <a:chExt cx="4325921" cy="935038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5DFE3E1E-0203-46AB-ABED-9471602509C3}"/>
                </a:ext>
              </a:extLst>
            </p:cNvPr>
            <p:cNvSpPr/>
            <p:nvPr/>
          </p:nvSpPr>
          <p:spPr>
            <a:xfrm>
              <a:off x="454870" y="5253449"/>
              <a:ext cx="4313964" cy="935038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A0D740E-14EA-49AC-9D20-7D6C92020B41}"/>
                </a:ext>
              </a:extLst>
            </p:cNvPr>
            <p:cNvSpPr txBox="1"/>
            <p:nvPr/>
          </p:nvSpPr>
          <p:spPr>
            <a:xfrm>
              <a:off x="442913" y="5253449"/>
              <a:ext cx="43139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Caution :</a:t>
              </a:r>
              <a:br>
                <a:rPr lang="en-US" altLang="ko-KR" sz="1200" dirty="0"/>
              </a:br>
              <a:r>
                <a:rPr lang="en-US" altLang="ko-KR" sz="1200" dirty="0"/>
                <a:t>FE re-evaluation </a:t>
              </a:r>
              <a:r>
                <a:rPr lang="ko-KR" altLang="en-US" sz="1200" dirty="0"/>
                <a:t>전이므로 실제 </a:t>
              </a:r>
              <a:r>
                <a:rPr lang="en-US" altLang="ko-KR" sz="1200" dirty="0"/>
                <a:t>response mismatch</a:t>
              </a:r>
              <a:r>
                <a:rPr lang="ko-KR" altLang="en-US" sz="1200" dirty="0"/>
                <a:t>는 </a:t>
              </a:r>
              <a:r>
                <a:rPr lang="ko-KR" altLang="en-US" sz="1200" dirty="0" err="1"/>
                <a:t>미확정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19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F1B1143-5D9B-4DE4-A121-CE0C1F6C50F1}"/>
              </a:ext>
            </a:extLst>
          </p:cNvPr>
          <p:cNvSpPr/>
          <p:nvPr/>
        </p:nvSpPr>
        <p:spPr>
          <a:xfrm>
            <a:off x="6719201" y="1374362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DEE176-6672-4F8F-864F-1C19C1D3D20C}"/>
              </a:ext>
            </a:extLst>
          </p:cNvPr>
          <p:cNvSpPr/>
          <p:nvPr/>
        </p:nvSpPr>
        <p:spPr>
          <a:xfrm>
            <a:off x="471627" y="1376363"/>
            <a:ext cx="5001172" cy="4966874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AD2385-8AD3-4FB8-926E-AFB03E21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Arial" panose="020B0604020202020204" pitchFamily="34" charset="0"/>
              </a:rPr>
              <a:t>Issue</a:t>
            </a:r>
            <a:endParaRPr lang="ko-KR" altLang="en-US" dirty="0"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D15D7-149C-41D4-982C-07284A39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1374362"/>
            <a:ext cx="5029886" cy="4966873"/>
          </a:xfrm>
        </p:spPr>
        <p:txBody>
          <a:bodyPr anchor="ctr">
            <a:noAutofit/>
          </a:bodyPr>
          <a:lstStyle/>
          <a:p>
            <a:r>
              <a:rPr lang="en-US" altLang="ko-KR" sz="1400" dirty="0"/>
              <a:t>Compression test</a:t>
            </a:r>
          </a:p>
          <a:p>
            <a:pPr lvl="1"/>
            <a:r>
              <a:rPr lang="en-US" altLang="ko-KR" dirty="0"/>
              <a:t>Specimen:</a:t>
            </a:r>
          </a:p>
          <a:p>
            <a:pPr lvl="2"/>
            <a:r>
              <a:rPr lang="en-US" altLang="ko-KR" dirty="0"/>
              <a:t>Cylinder specimen</a:t>
            </a:r>
          </a:p>
          <a:p>
            <a:pPr lvl="1"/>
            <a:r>
              <a:rPr lang="en-US" altLang="ko-KR" dirty="0"/>
              <a:t>Diameter: 28.6 ± 0.1 mm</a:t>
            </a:r>
          </a:p>
          <a:p>
            <a:pPr lvl="1"/>
            <a:r>
              <a:rPr lang="en-US" altLang="ko-KR" dirty="0"/>
              <a:t>Thickness: 12.5 ± 0.5 mm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Equipment:</a:t>
            </a:r>
          </a:p>
          <a:p>
            <a:pPr lvl="2"/>
            <a:r>
              <a:rPr lang="en-US" altLang="ko-KR" dirty="0"/>
              <a:t>Instron 5943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Measured output:</a:t>
            </a:r>
          </a:p>
          <a:p>
            <a:pPr lvl="2"/>
            <a:r>
              <a:rPr lang="en-US" altLang="ko-KR" dirty="0"/>
              <a:t>Force–displacement curve</a:t>
            </a:r>
          </a:p>
          <a:p>
            <a:pPr lvl="2"/>
            <a:r>
              <a:rPr lang="en-US" altLang="ko-KR" dirty="0"/>
              <a:t>Stress–strain curve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63128-61F7-43E7-B2A0-155F8AEAB69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 err="1"/>
              <a:t>Hyperelastic</a:t>
            </a:r>
            <a:r>
              <a:rPr lang="ko-KR" altLang="en-US" dirty="0"/>
              <a:t> </a:t>
            </a:r>
            <a:r>
              <a:rPr lang="en-US" altLang="ko-KR" dirty="0"/>
              <a:t>Coefficient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0795E-007E-4333-B729-A016B8B42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3181F-E1D0-4439-8AFB-5E525148C4AF}"/>
              </a:ext>
            </a:extLst>
          </p:cNvPr>
          <p:cNvSpPr txBox="1"/>
          <p:nvPr/>
        </p:nvSpPr>
        <p:spPr>
          <a:xfrm>
            <a:off x="6719201" y="1450491"/>
            <a:ext cx="401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Compression Test Result</a:t>
            </a: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FFAF-B86C-4562-9891-2B16AF921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113" y="2381881"/>
            <a:ext cx="3749348" cy="250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67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F1B1143-5D9B-4DE4-A121-CE0C1F6C50F1}"/>
              </a:ext>
            </a:extLst>
          </p:cNvPr>
          <p:cNvSpPr/>
          <p:nvPr/>
        </p:nvSpPr>
        <p:spPr>
          <a:xfrm>
            <a:off x="6719201" y="1374362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DEE176-6672-4F8F-864F-1C19C1D3D20C}"/>
              </a:ext>
            </a:extLst>
          </p:cNvPr>
          <p:cNvSpPr/>
          <p:nvPr/>
        </p:nvSpPr>
        <p:spPr>
          <a:xfrm>
            <a:off x="471627" y="1376363"/>
            <a:ext cx="5001172" cy="4966874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AD2385-8AD3-4FB8-926E-AFB03E21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Arial" panose="020B0604020202020204" pitchFamily="34" charset="0"/>
              </a:rPr>
              <a:t>Issue</a:t>
            </a:r>
            <a:endParaRPr lang="ko-KR" altLang="en-US" dirty="0"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D15D7-149C-41D4-982C-07284A39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1374363"/>
            <a:ext cx="5029886" cy="4970875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Compression test</a:t>
            </a:r>
          </a:p>
          <a:p>
            <a:pPr marL="457200" lvl="1" indent="0">
              <a:buNone/>
            </a:pPr>
            <a:r>
              <a:rPr lang="en-US" altLang="ko-KR" sz="1200" dirty="0"/>
              <a:t>→ curve preprocessing</a:t>
            </a:r>
          </a:p>
          <a:p>
            <a:pPr marL="457200" lvl="1" indent="0">
              <a:buNone/>
            </a:pPr>
            <a:r>
              <a:rPr lang="en-US" altLang="ko-KR" sz="1200" dirty="0"/>
              <a:t>→ Abaqus </a:t>
            </a:r>
            <a:r>
              <a:rPr lang="en-US" altLang="ko-KR" sz="1200" dirty="0" err="1"/>
              <a:t>hyperelastic</a:t>
            </a:r>
            <a:r>
              <a:rPr lang="en-US" altLang="ko-KR" sz="1200" dirty="0"/>
              <a:t> fitting</a:t>
            </a:r>
          </a:p>
          <a:p>
            <a:pPr marL="457200" lvl="1" indent="0">
              <a:buNone/>
            </a:pPr>
            <a:r>
              <a:rPr lang="en-US" altLang="ko-KR" sz="1200" dirty="0"/>
              <a:t>→ metamaterial simulation</a:t>
            </a:r>
          </a:p>
          <a:p>
            <a:r>
              <a:rPr lang="en-US" altLang="ko-KR" sz="1400" dirty="0"/>
              <a:t>Observed issue:</a:t>
            </a:r>
          </a:p>
          <a:p>
            <a:pPr lvl="1"/>
            <a:r>
              <a:rPr lang="en-US" altLang="ko-KR" sz="1200" dirty="0" err="1"/>
              <a:t>Hyperelastic</a:t>
            </a:r>
            <a:r>
              <a:rPr lang="en-US" altLang="ko-KR" sz="1200" dirty="0"/>
              <a:t> coefficient </a:t>
            </a:r>
            <a:r>
              <a:rPr lang="ko-KR" altLang="en-US" sz="1200" dirty="0"/>
              <a:t>추정 결과가 불안정함</a:t>
            </a:r>
          </a:p>
          <a:p>
            <a:pPr lvl="1"/>
            <a:r>
              <a:rPr lang="en-US" altLang="ko-KR" sz="1200" dirty="0"/>
              <a:t>FE response</a:t>
            </a:r>
            <a:r>
              <a:rPr lang="ko-KR" altLang="en-US" sz="1200" dirty="0"/>
              <a:t>가 </a:t>
            </a:r>
            <a:r>
              <a:rPr lang="en-US" altLang="ko-KR" sz="1200" dirty="0"/>
              <a:t>measured curve</a:t>
            </a:r>
            <a:r>
              <a:rPr lang="ko-KR" altLang="en-US" sz="1200" dirty="0"/>
              <a:t>를 안정적으로 재현하지 못함</a:t>
            </a:r>
          </a:p>
          <a:p>
            <a:pPr lvl="1"/>
            <a:r>
              <a:rPr lang="ko-KR" altLang="en-US" sz="1200" dirty="0"/>
              <a:t>따라서 </a:t>
            </a:r>
            <a:r>
              <a:rPr lang="en-US" altLang="ko-KR" sz="1200" dirty="0"/>
              <a:t>dataset generation</a:t>
            </a:r>
            <a:r>
              <a:rPr lang="ko-KR" altLang="en-US" sz="1200" dirty="0"/>
              <a:t>에 바로 적용하기 어려움</a:t>
            </a:r>
            <a:endParaRPr lang="en-US" altLang="ko-KR" sz="1200" dirty="0"/>
          </a:p>
          <a:p>
            <a:r>
              <a:rPr lang="en-US" altLang="ko-KR" sz="1400" dirty="0"/>
              <a:t>Feedback needed:</a:t>
            </a:r>
          </a:p>
          <a:p>
            <a:pPr lvl="1"/>
            <a:r>
              <a:rPr lang="ko-KR" altLang="en-US" sz="1200" dirty="0"/>
              <a:t>적절한 </a:t>
            </a:r>
            <a:r>
              <a:rPr lang="en-US" altLang="ko-KR" sz="1200" dirty="0" err="1"/>
              <a:t>Hyperelastic</a:t>
            </a:r>
            <a:r>
              <a:rPr lang="en-US" altLang="ko-KR" sz="1200" dirty="0"/>
              <a:t> model </a:t>
            </a:r>
            <a:r>
              <a:rPr lang="ko-KR" altLang="en-US" sz="1200" dirty="0"/>
              <a:t>선택</a:t>
            </a:r>
          </a:p>
          <a:p>
            <a:pPr lvl="1"/>
            <a:r>
              <a:rPr lang="en-US" altLang="ko-KR" sz="1200" dirty="0"/>
              <a:t>stress–strain vs force–displacement fitting </a:t>
            </a:r>
            <a:r>
              <a:rPr lang="ko-KR" altLang="en-US" sz="1200" dirty="0"/>
              <a:t>기준 검토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63128-61F7-43E7-B2A0-155F8AEAB69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 err="1"/>
              <a:t>Hyperelastic</a:t>
            </a:r>
            <a:r>
              <a:rPr lang="ko-KR" altLang="en-US" dirty="0"/>
              <a:t> </a:t>
            </a:r>
            <a:r>
              <a:rPr lang="en-US" altLang="ko-KR" dirty="0"/>
              <a:t>Coefficient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0795E-007E-4333-B729-A016B8B42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3181F-E1D0-4439-8AFB-5E525148C4AF}"/>
              </a:ext>
            </a:extLst>
          </p:cNvPr>
          <p:cNvSpPr txBox="1"/>
          <p:nvPr/>
        </p:nvSpPr>
        <p:spPr>
          <a:xfrm>
            <a:off x="6719201" y="1450491"/>
            <a:ext cx="401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en-US" altLang="ko-KR" sz="1200" dirty="0" err="1"/>
              <a:t>Hyperelastic</a:t>
            </a:r>
            <a:r>
              <a:rPr lang="ko-KR" altLang="en-US" sz="1200" dirty="0"/>
              <a:t> </a:t>
            </a:r>
            <a:r>
              <a:rPr lang="en-US" altLang="ko-KR" sz="1200" dirty="0"/>
              <a:t>Coefficient Estimation Result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F9C061-1F65-443C-911F-9B1AFA52C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292" y="1803618"/>
            <a:ext cx="2221164" cy="15822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58E6333-63D8-42F4-B44E-8E7315D11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73" y="3472102"/>
            <a:ext cx="2211039" cy="272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3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F1B1143-5D9B-4DE4-A121-CE0C1F6C50F1}"/>
              </a:ext>
            </a:extLst>
          </p:cNvPr>
          <p:cNvSpPr/>
          <p:nvPr/>
        </p:nvSpPr>
        <p:spPr>
          <a:xfrm>
            <a:off x="6719201" y="1374362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DEE176-6672-4F8F-864F-1C19C1D3D20C}"/>
              </a:ext>
            </a:extLst>
          </p:cNvPr>
          <p:cNvSpPr/>
          <p:nvPr/>
        </p:nvSpPr>
        <p:spPr>
          <a:xfrm>
            <a:off x="471626" y="1376363"/>
            <a:ext cx="5265915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AD2385-8AD3-4FB8-926E-AFB03E21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D15D7-149C-41D4-982C-07284A39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1374362"/>
            <a:ext cx="5265914" cy="4970875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What we know</a:t>
            </a:r>
          </a:p>
          <a:p>
            <a:pPr lvl="1"/>
            <a:r>
              <a:rPr lang="en-US" altLang="ko-KR" sz="1200" dirty="0"/>
              <a:t>53,008 geometries generated </a:t>
            </a:r>
            <a:br>
              <a:rPr lang="en-US" altLang="ko-KR" sz="1200" dirty="0"/>
            </a:br>
            <a:r>
              <a:rPr lang="en-US" altLang="ko-KR" sz="1200" dirty="0"/>
              <a:t>4,614 usable FE outputs→ usable rate: 8.7%</a:t>
            </a:r>
          </a:p>
          <a:p>
            <a:pPr lvl="1"/>
            <a:r>
              <a:rPr lang="en-US" altLang="ko-KR" sz="1200" dirty="0"/>
              <a:t>Nonlinear targets show FE re-evaluation mismatch</a:t>
            </a:r>
          </a:p>
          <a:p>
            <a:r>
              <a:rPr lang="en-US" altLang="ko-KR" sz="1400" dirty="0"/>
              <a:t>What we suspect</a:t>
            </a:r>
          </a:p>
          <a:p>
            <a:pPr lvl="1"/>
            <a:r>
              <a:rPr lang="en-US" altLang="ko-KR" sz="1200" dirty="0"/>
              <a:t>Abaqus simulation setup </a:t>
            </a:r>
          </a:p>
          <a:p>
            <a:pPr lvl="1"/>
            <a:r>
              <a:rPr lang="en-US" altLang="ko-KR" sz="1200" dirty="0"/>
              <a:t>Material model mismatch</a:t>
            </a:r>
          </a:p>
          <a:p>
            <a:pPr lvl="1"/>
            <a:r>
              <a:rPr lang="en-US" altLang="ko-KR" sz="1200" dirty="0"/>
              <a:t>Dataset size may be too small for nonlinear target learning.</a:t>
            </a:r>
          </a:p>
          <a:p>
            <a:r>
              <a:rPr lang="en-US" altLang="ko-KR" sz="1400" dirty="0"/>
              <a:t>What we need help with</a:t>
            </a:r>
          </a:p>
          <a:p>
            <a:pPr lvl="1"/>
            <a:r>
              <a:rPr lang="en-US" altLang="ko-KR" sz="1200" dirty="0"/>
              <a:t>Abaqus simulation setup review</a:t>
            </a:r>
          </a:p>
          <a:p>
            <a:pPr lvl="1"/>
            <a:r>
              <a:rPr lang="en-US" altLang="ko-KR" sz="1200" dirty="0"/>
              <a:t>Material Property is suitable? </a:t>
            </a:r>
          </a:p>
          <a:p>
            <a:pPr lvl="1"/>
            <a:r>
              <a:rPr lang="en-US" altLang="ko-KR" sz="1200" dirty="0"/>
              <a:t>Failure case classification</a:t>
            </a:r>
          </a:p>
          <a:p>
            <a:pPr lvl="1"/>
            <a:r>
              <a:rPr lang="en-US" altLang="ko-KR" sz="1200" dirty="0"/>
              <a:t>Minimum FE validation protocol</a:t>
            </a:r>
            <a:endParaRPr lang="ko-KR" altLang="en-US" sz="12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63128-61F7-43E7-B2A0-155F8AEAB69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Abaqus pipeline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0795E-007E-4333-B729-A016B8B42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3181F-E1D0-4439-8AFB-5E525148C4AF}"/>
              </a:ext>
            </a:extLst>
          </p:cNvPr>
          <p:cNvSpPr txBox="1"/>
          <p:nvPr/>
        </p:nvSpPr>
        <p:spPr>
          <a:xfrm>
            <a:off x="6719201" y="1450491"/>
            <a:ext cx="401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Code : abaqus_script.py(line 330)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74C5E4-F427-49FF-82E2-8F359576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999" y="1803619"/>
            <a:ext cx="2516945" cy="23075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F1AB4EB-47B3-459E-BF09-23BA1CA1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333" y="4408524"/>
            <a:ext cx="3712275" cy="163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9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78E64C-D2BF-465D-9C38-AB7A7C93CD91}"/>
              </a:ext>
            </a:extLst>
          </p:cNvPr>
          <p:cNvSpPr/>
          <p:nvPr/>
        </p:nvSpPr>
        <p:spPr>
          <a:xfrm>
            <a:off x="477603" y="1376363"/>
            <a:ext cx="3611594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97D56D-0A95-43D6-B6C1-6C0CF9B6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97151-3491-4728-BA94-7CD6A8D6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02" y="1813024"/>
            <a:ext cx="3611594" cy="4532214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Author-provided checkpoint </a:t>
            </a:r>
            <a:r>
              <a:rPr lang="ko-KR" altLang="en-US" sz="1400" dirty="0"/>
              <a:t>기반 </a:t>
            </a:r>
            <a:r>
              <a:rPr lang="en-US" altLang="ko-KR" sz="1400" dirty="0"/>
              <a:t>inference </a:t>
            </a:r>
            <a:r>
              <a:rPr lang="ko-KR" altLang="en-US" sz="1400" dirty="0"/>
              <a:t>및 </a:t>
            </a:r>
            <a:r>
              <a:rPr lang="en-US" altLang="ko-KR" sz="1400" dirty="0"/>
              <a:t>FE evaluation pipeline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r>
              <a:rPr lang="en-US" altLang="ko-KR" sz="1400" dirty="0"/>
              <a:t>Compression test </a:t>
            </a:r>
            <a:r>
              <a:rPr lang="ko-KR" altLang="en-US" sz="1400" dirty="0"/>
              <a:t>완료 및 </a:t>
            </a:r>
            <a:r>
              <a:rPr lang="en-US" altLang="ko-KR" sz="1400" dirty="0"/>
              <a:t>material data </a:t>
            </a:r>
            <a:r>
              <a:rPr lang="ko-KR" altLang="en-US" sz="1400" dirty="0"/>
              <a:t>확보 </a:t>
            </a:r>
          </a:p>
          <a:p>
            <a:r>
              <a:rPr lang="en-US" altLang="ko-KR" sz="1400" dirty="0"/>
              <a:t>53,008 geometries </a:t>
            </a:r>
            <a:r>
              <a:rPr lang="ko-KR" altLang="en-US" sz="1400" dirty="0"/>
              <a:t>생성 시도 </a:t>
            </a:r>
            <a:r>
              <a:rPr lang="en-US" altLang="ko-KR" sz="1400" dirty="0"/>
              <a:t>/ 4,614 usable FE runs </a:t>
            </a:r>
            <a:r>
              <a:rPr lang="ko-KR" altLang="en-US" sz="1400" dirty="0"/>
              <a:t>확보 </a:t>
            </a:r>
          </a:p>
          <a:p>
            <a:r>
              <a:rPr lang="en-US" altLang="ko-KR" sz="1400" dirty="0"/>
              <a:t>Preliminary training / inference </a:t>
            </a:r>
            <a:r>
              <a:rPr lang="ko-KR" altLang="en-US" sz="1400" dirty="0"/>
              <a:t>수행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D47B9-CC7B-40E9-9964-A557A581B129}"/>
              </a:ext>
            </a:extLst>
          </p:cNvPr>
          <p:cNvSpPr/>
          <p:nvPr/>
        </p:nvSpPr>
        <p:spPr>
          <a:xfrm>
            <a:off x="4323283" y="1376360"/>
            <a:ext cx="3611594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102B6C-BD58-4EEA-A506-EB030CDA2AAE}"/>
              </a:ext>
            </a:extLst>
          </p:cNvPr>
          <p:cNvSpPr/>
          <p:nvPr/>
        </p:nvSpPr>
        <p:spPr>
          <a:xfrm>
            <a:off x="8137494" y="1359901"/>
            <a:ext cx="3611593" cy="4968875"/>
          </a:xfrm>
          <a:prstGeom prst="roundRect">
            <a:avLst>
              <a:gd name="adj" fmla="val 33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E2154-3E29-4E97-8F97-E94701FE963A}"/>
              </a:ext>
            </a:extLst>
          </p:cNvPr>
          <p:cNvSpPr txBox="1"/>
          <p:nvPr/>
        </p:nvSpPr>
        <p:spPr>
          <a:xfrm>
            <a:off x="477604" y="1456194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Completed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FA52A-AE06-45F0-919B-526E06C3D706}"/>
              </a:ext>
            </a:extLst>
          </p:cNvPr>
          <p:cNvSpPr txBox="1"/>
          <p:nvPr/>
        </p:nvSpPr>
        <p:spPr>
          <a:xfrm>
            <a:off x="4323283" y="1456193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Current bottlenecks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0AB6D-352D-43EF-BDD4-8551634EA314}"/>
              </a:ext>
            </a:extLst>
          </p:cNvPr>
          <p:cNvSpPr txBox="1"/>
          <p:nvPr/>
        </p:nvSpPr>
        <p:spPr>
          <a:xfrm>
            <a:off x="8137493" y="1456193"/>
            <a:ext cx="361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Help Requested</a:t>
            </a:r>
            <a:endParaRPr lang="ko-KR" altLang="en-US" sz="1200" b="1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256AB04-0413-42BB-95E3-8B21814BF938}"/>
              </a:ext>
            </a:extLst>
          </p:cNvPr>
          <p:cNvSpPr txBox="1">
            <a:spLocks/>
          </p:cNvSpPr>
          <p:nvPr/>
        </p:nvSpPr>
        <p:spPr>
          <a:xfrm>
            <a:off x="4323283" y="1813021"/>
            <a:ext cx="3611594" cy="45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/>
              <a:t>Hyperelastic</a:t>
            </a:r>
            <a:r>
              <a:rPr lang="en-US" altLang="ko-KR" sz="1400" dirty="0"/>
              <a:t> fitting </a:t>
            </a:r>
            <a:r>
              <a:rPr lang="ko-KR" altLang="en-US" sz="1400" dirty="0"/>
              <a:t>결과가 안정적이지 않음 </a:t>
            </a:r>
            <a:endParaRPr lang="en-US" altLang="ko-KR" sz="1400" dirty="0"/>
          </a:p>
          <a:p>
            <a:r>
              <a:rPr lang="en-US" altLang="ko-KR" sz="1400" dirty="0"/>
              <a:t>Usable data rate</a:t>
            </a:r>
            <a:r>
              <a:rPr lang="ko-KR" altLang="en-US" sz="1400" dirty="0"/>
              <a:t>가 낮음</a:t>
            </a:r>
            <a:br>
              <a:rPr lang="ko-KR" altLang="en-US" sz="1400" dirty="0"/>
            </a:br>
            <a:r>
              <a:rPr lang="en-US" altLang="ko-KR" sz="1400" dirty="0"/>
              <a:t>→ paper scale </a:t>
            </a:r>
            <a:r>
              <a:rPr lang="ko-KR" altLang="en-US" sz="1400" dirty="0"/>
              <a:t>대비 약 </a:t>
            </a:r>
            <a:r>
              <a:rPr lang="en-US" altLang="ko-KR" sz="1400" dirty="0"/>
              <a:t>8.7% </a:t>
            </a:r>
          </a:p>
          <a:p>
            <a:r>
              <a:rPr lang="en-US" altLang="ko-KR" sz="1400" dirty="0"/>
              <a:t>Nonlinear target</a:t>
            </a:r>
            <a:r>
              <a:rPr lang="ko-KR" altLang="en-US" sz="1400" dirty="0"/>
              <a:t>에서 </a:t>
            </a:r>
            <a:r>
              <a:rPr lang="en-US" altLang="ko-KR" sz="1400" dirty="0"/>
              <a:t>FE evaluation mismatch </a:t>
            </a:r>
            <a:r>
              <a:rPr lang="ko-KR" altLang="en-US" sz="1400" dirty="0"/>
              <a:t>관찰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5E6588C-29FA-494E-BEFA-20D6373ECB2C}"/>
              </a:ext>
            </a:extLst>
          </p:cNvPr>
          <p:cNvSpPr txBox="1">
            <a:spLocks/>
          </p:cNvSpPr>
          <p:nvPr/>
        </p:nvSpPr>
        <p:spPr>
          <a:xfrm>
            <a:off x="8137494" y="1813021"/>
            <a:ext cx="3611594" cy="4532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1. Abaqus step / solver / BC / contact setting </a:t>
            </a:r>
            <a:r>
              <a:rPr lang="ko-KR" altLang="en-US" sz="1400" dirty="0"/>
              <a:t>검토</a:t>
            </a:r>
          </a:p>
          <a:p>
            <a:pPr marL="0" indent="0">
              <a:buNone/>
            </a:pPr>
            <a:r>
              <a:rPr lang="en-US" altLang="ko-KR" sz="1400" dirty="0"/>
              <a:t>2. FE failure case analysis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3. Abaqus material property </a:t>
            </a:r>
            <a:r>
              <a:rPr lang="ko-KR" altLang="en-US" sz="1400" dirty="0"/>
              <a:t>사용 타당성 검토</a:t>
            </a:r>
          </a:p>
          <a:p>
            <a:pPr marL="0" indent="0">
              <a:buNone/>
            </a:pPr>
            <a:r>
              <a:rPr lang="en-US" altLang="ko-KR" sz="1400" dirty="0"/>
              <a:t>4. Flexible 80A compression data </a:t>
            </a:r>
            <a:r>
              <a:rPr lang="ko-KR" altLang="en-US" sz="1400" dirty="0"/>
              <a:t>기반 </a:t>
            </a:r>
            <a:r>
              <a:rPr lang="en-US" altLang="ko-KR" sz="1400" dirty="0"/>
              <a:t>material fitting </a:t>
            </a:r>
            <a:r>
              <a:rPr lang="ko-KR" altLang="en-US" sz="1400" dirty="0"/>
              <a:t>방식 검토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5. Silicone 40A, Elastic 50A </a:t>
            </a:r>
            <a:r>
              <a:rPr lang="ko-KR" altLang="en-US" sz="1400" dirty="0"/>
              <a:t>등 </a:t>
            </a:r>
            <a:r>
              <a:rPr lang="en-US" altLang="ko-KR" sz="1400" dirty="0"/>
              <a:t>3Dprintable material </a:t>
            </a:r>
            <a:r>
              <a:rPr lang="ko-KR" altLang="en-US" sz="1400" dirty="0"/>
              <a:t>확장 가능성 검토</a:t>
            </a:r>
          </a:p>
        </p:txBody>
      </p:sp>
    </p:spTree>
    <p:extLst>
      <p:ext uri="{BB962C8B-B14F-4D97-AF65-F5344CB8AC3E}">
        <p14:creationId xmlns:p14="http://schemas.microsoft.com/office/powerpoint/2010/main" val="286179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F1B1143-5D9B-4DE4-A121-CE0C1F6C50F1}"/>
              </a:ext>
            </a:extLst>
          </p:cNvPr>
          <p:cNvSpPr/>
          <p:nvPr/>
        </p:nvSpPr>
        <p:spPr>
          <a:xfrm>
            <a:off x="6719201" y="1374362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DEE176-6672-4F8F-864F-1C19C1D3D20C}"/>
              </a:ext>
            </a:extLst>
          </p:cNvPr>
          <p:cNvSpPr/>
          <p:nvPr/>
        </p:nvSpPr>
        <p:spPr>
          <a:xfrm>
            <a:off x="471627" y="1376364"/>
            <a:ext cx="5001172" cy="1370776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AD2385-8AD3-4FB8-926E-AFB03E21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D15D7-149C-41D4-982C-07284A39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4" y="1374363"/>
            <a:ext cx="5029886" cy="1339884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Paper evidence</a:t>
            </a:r>
          </a:p>
          <a:p>
            <a:pPr lvl="1"/>
            <a:r>
              <a:rPr lang="en-US" altLang="ko-KR" sz="1200" dirty="0"/>
              <a:t>Baseline paper</a:t>
            </a:r>
            <a:r>
              <a:rPr lang="ko-KR" altLang="en-US" sz="1200" dirty="0"/>
              <a:t>에서는 학습 데이터가 줄어들면 성능이 저하된다고 보고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200" dirty="0"/>
              <a:t>Nonlinear target case</a:t>
            </a:r>
            <a:r>
              <a:rPr lang="ko-KR" altLang="en-US" sz="1200" dirty="0"/>
              <a:t>는 데이터 크기에 더 민감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63128-61F7-43E7-B2A0-155F8AEAB69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Dataset size discussion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0795E-007E-4333-B729-A016B8B42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7E8FB5-C82C-4E41-94F3-1DCCD7BBB835}"/>
              </a:ext>
            </a:extLst>
          </p:cNvPr>
          <p:cNvGrpSpPr/>
          <p:nvPr/>
        </p:nvGrpSpPr>
        <p:grpSpPr>
          <a:xfrm>
            <a:off x="7904970" y="1918222"/>
            <a:ext cx="2521598" cy="4101055"/>
            <a:chOff x="7245350" y="698069"/>
            <a:chExt cx="3390900" cy="551486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450978F-2EB9-4E05-8CE0-AD0BDA372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5350" y="1812749"/>
              <a:ext cx="3390900" cy="440018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458D6F4-6D0B-45C3-AC6D-57D9A3D76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5350" y="698069"/>
              <a:ext cx="3390900" cy="107044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D23181F-E1D0-4439-8AFB-5E525148C4AF}"/>
              </a:ext>
            </a:extLst>
          </p:cNvPr>
          <p:cNvSpPr txBox="1"/>
          <p:nvPr/>
        </p:nvSpPr>
        <p:spPr>
          <a:xfrm>
            <a:off x="6719201" y="1450491"/>
            <a:ext cx="401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Paper evidence : Supplementary Table S5 &amp; Fig. 3</a:t>
            </a:r>
            <a:endParaRPr lang="ko-KR" altLang="en-US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3C8071-CD67-4F5F-9408-2BF69F334273}"/>
              </a:ext>
            </a:extLst>
          </p:cNvPr>
          <p:cNvSpPr/>
          <p:nvPr/>
        </p:nvSpPr>
        <p:spPr>
          <a:xfrm>
            <a:off x="471626" y="3035224"/>
            <a:ext cx="5001172" cy="1370776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85783B8-97FE-4E81-9A5B-27B427CCB72A}"/>
              </a:ext>
            </a:extLst>
          </p:cNvPr>
          <p:cNvSpPr txBox="1">
            <a:spLocks/>
          </p:cNvSpPr>
          <p:nvPr/>
        </p:nvSpPr>
        <p:spPr>
          <a:xfrm>
            <a:off x="472262" y="3030069"/>
            <a:ext cx="5029886" cy="1339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Our situation</a:t>
            </a:r>
          </a:p>
          <a:p>
            <a:pPr lvl="1"/>
            <a:r>
              <a:rPr lang="ko-KR" altLang="en-US" sz="1200" dirty="0"/>
              <a:t>현재 사용 가능한 데이터</a:t>
            </a:r>
            <a:r>
              <a:rPr lang="en-US" altLang="ko-KR" sz="1200" dirty="0"/>
              <a:t>: 4,614</a:t>
            </a:r>
            <a:r>
              <a:rPr lang="ko-KR" altLang="en-US" sz="1200" dirty="0"/>
              <a:t>개</a:t>
            </a:r>
          </a:p>
          <a:p>
            <a:pPr lvl="1"/>
            <a:r>
              <a:rPr lang="ko-KR" altLang="en-US" sz="1200" dirty="0"/>
              <a:t>이는 </a:t>
            </a:r>
            <a:r>
              <a:rPr lang="en-US" altLang="ko-KR" sz="1200" dirty="0"/>
              <a:t>baseline </a:t>
            </a:r>
            <a:r>
              <a:rPr lang="ko-KR" altLang="en-US" sz="1200" dirty="0"/>
              <a:t>학습 규모의 </a:t>
            </a:r>
            <a:r>
              <a:rPr lang="en-US" altLang="ko-KR" sz="1200" dirty="0"/>
              <a:t>8.7%</a:t>
            </a:r>
            <a:r>
              <a:rPr lang="ko-KR" altLang="en-US" sz="1200" dirty="0"/>
              <a:t>에 해당</a:t>
            </a:r>
            <a:endParaRPr lang="en-US" altLang="ko-KR" sz="1200" dirty="0"/>
          </a:p>
          <a:p>
            <a:pPr lvl="1"/>
            <a:r>
              <a:rPr lang="ko-KR" altLang="en-US" sz="1200" dirty="0"/>
              <a:t>현재의 </a:t>
            </a:r>
            <a:r>
              <a:rPr lang="en-US" altLang="ko-KR" sz="1200" dirty="0"/>
              <a:t>usable rate</a:t>
            </a:r>
            <a:r>
              <a:rPr lang="ko-KR" altLang="en-US" sz="1200" dirty="0"/>
              <a:t>를 기준으로 </a:t>
            </a:r>
            <a:r>
              <a:rPr lang="en-US" altLang="ko-KR" sz="1200" dirty="0"/>
              <a:t>baseline </a:t>
            </a:r>
            <a:r>
              <a:rPr lang="ko-KR" altLang="en-US" sz="1200" dirty="0"/>
              <a:t>규모를 맞추려면</a:t>
            </a:r>
            <a:r>
              <a:rPr lang="en-US" altLang="ko-KR" sz="1200" dirty="0"/>
              <a:t>, </a:t>
            </a:r>
            <a:r>
              <a:rPr lang="ko-KR" altLang="en-US" sz="1200" dirty="0"/>
              <a:t>약 </a:t>
            </a:r>
            <a:r>
              <a:rPr lang="en-US" altLang="ko-KR" sz="1200" dirty="0"/>
              <a:t>609,000</a:t>
            </a:r>
            <a:r>
              <a:rPr lang="ko-KR" altLang="en-US" sz="1200" dirty="0"/>
              <a:t>개의 </a:t>
            </a:r>
            <a:r>
              <a:rPr lang="en-US" altLang="ko-KR" sz="1200" dirty="0"/>
              <a:t>simulation</a:t>
            </a:r>
            <a:r>
              <a:rPr lang="ko-KR" altLang="en-US" sz="1200" dirty="0"/>
              <a:t>을 요청해야 한다</a:t>
            </a:r>
            <a:r>
              <a:rPr lang="en-US" altLang="ko-KR" sz="1200" dirty="0"/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0CC4488-8F86-4067-90B8-02BBB9C60D0B}"/>
              </a:ext>
            </a:extLst>
          </p:cNvPr>
          <p:cNvSpPr/>
          <p:nvPr/>
        </p:nvSpPr>
        <p:spPr>
          <a:xfrm>
            <a:off x="471626" y="4681394"/>
            <a:ext cx="5001172" cy="1370776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481941DD-ADFA-40A7-8B45-FE021B703369}"/>
              </a:ext>
            </a:extLst>
          </p:cNvPr>
          <p:cNvSpPr txBox="1">
            <a:spLocks/>
          </p:cNvSpPr>
          <p:nvPr/>
        </p:nvSpPr>
        <p:spPr>
          <a:xfrm>
            <a:off x="442913" y="4679393"/>
            <a:ext cx="5029886" cy="13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Implication</a:t>
            </a:r>
          </a:p>
          <a:p>
            <a:pPr lvl="1"/>
            <a:r>
              <a:rPr lang="en-US" altLang="ko-KR" sz="1200" dirty="0"/>
              <a:t>simulation </a:t>
            </a:r>
            <a:r>
              <a:rPr lang="ko-KR" altLang="en-US" sz="1200" dirty="0"/>
              <a:t>성공률을 높여 </a:t>
            </a:r>
            <a:r>
              <a:rPr lang="en-US" altLang="ko-KR" sz="1200" dirty="0"/>
              <a:t>dataset</a:t>
            </a:r>
            <a:r>
              <a:rPr lang="ko-KR" altLang="en-US" sz="1200" dirty="0"/>
              <a:t>이 확보가 되면 모델 성능이 나아질 수 있음</a:t>
            </a:r>
          </a:p>
        </p:txBody>
      </p:sp>
    </p:spTree>
    <p:extLst>
      <p:ext uri="{BB962C8B-B14F-4D97-AF65-F5344CB8AC3E}">
        <p14:creationId xmlns:p14="http://schemas.microsoft.com/office/powerpoint/2010/main" val="389456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26A6C1-4063-46F6-BBA1-28425CE02975}"/>
              </a:ext>
            </a:extLst>
          </p:cNvPr>
          <p:cNvSpPr/>
          <p:nvPr/>
        </p:nvSpPr>
        <p:spPr>
          <a:xfrm>
            <a:off x="457270" y="3971213"/>
            <a:ext cx="5001172" cy="1908163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B611D9-4700-4C0C-8C2C-C3B773C3088C}"/>
              </a:ext>
            </a:extLst>
          </p:cNvPr>
          <p:cNvSpPr/>
          <p:nvPr/>
        </p:nvSpPr>
        <p:spPr>
          <a:xfrm>
            <a:off x="471627" y="1376363"/>
            <a:ext cx="5001172" cy="1908163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0280AB-5C02-4B29-8A59-7DC975BD9660}"/>
              </a:ext>
            </a:extLst>
          </p:cNvPr>
          <p:cNvSpPr/>
          <p:nvPr/>
        </p:nvSpPr>
        <p:spPr>
          <a:xfrm>
            <a:off x="6719201" y="1374362"/>
            <a:ext cx="5001172" cy="4968875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BFB4D-6A22-4F3C-B3D5-B16B9490400F}"/>
              </a:ext>
            </a:extLst>
          </p:cNvPr>
          <p:cNvSpPr txBox="1"/>
          <p:nvPr/>
        </p:nvSpPr>
        <p:spPr>
          <a:xfrm>
            <a:off x="6719201" y="1450491"/>
            <a:ext cx="401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Paper evidence : Supplementary Figure S11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AD2385-8AD3-4FB8-926E-AFB03E21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D15D7-149C-41D4-982C-07284A39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74364"/>
            <a:ext cx="5029886" cy="1910162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Paper evidence</a:t>
            </a:r>
            <a:endParaRPr lang="ko-KR" altLang="en-US" sz="1400" dirty="0"/>
          </a:p>
          <a:p>
            <a:pPr lvl="1"/>
            <a:r>
              <a:rPr lang="en-US" altLang="ko-KR" sz="1200" dirty="0"/>
              <a:t>Baseline model</a:t>
            </a:r>
            <a:r>
              <a:rPr lang="ko-KR" altLang="en-US" sz="1200" dirty="0"/>
              <a:t>은 경우에 따라</a:t>
            </a:r>
            <a:r>
              <a:rPr lang="en-US" altLang="ko-KR" sz="1200" dirty="0"/>
              <a:t>, FE evaluation </a:t>
            </a:r>
            <a:r>
              <a:rPr lang="ko-KR" altLang="en-US" sz="1200" dirty="0"/>
              <a:t>기준으로 볼 때 </a:t>
            </a:r>
            <a:r>
              <a:rPr lang="en-US" altLang="ko-KR" sz="1200" dirty="0"/>
              <a:t>nearest dataset sample</a:t>
            </a:r>
            <a:r>
              <a:rPr lang="ko-KR" altLang="en-US" sz="1200" dirty="0"/>
              <a:t>보다 </a:t>
            </a:r>
            <a:r>
              <a:rPr lang="en-US" altLang="ko-KR" sz="1200" dirty="0"/>
              <a:t>target</a:t>
            </a:r>
            <a:r>
              <a:rPr lang="ko-KR" altLang="en-US" sz="1200" dirty="0"/>
              <a:t>에 더 가까운 </a:t>
            </a:r>
            <a:r>
              <a:rPr lang="en-US" altLang="ko-KR" sz="1200" dirty="0"/>
              <a:t>structure</a:t>
            </a:r>
            <a:r>
              <a:rPr lang="ko-KR" altLang="en-US" sz="1200" dirty="0"/>
              <a:t>를 생성했다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이는 단순한 </a:t>
            </a:r>
            <a:r>
              <a:rPr lang="en-US" altLang="ko-KR" sz="1200" dirty="0"/>
              <a:t>dataset retrieval</a:t>
            </a:r>
            <a:r>
              <a:rPr lang="ko-KR" altLang="en-US" sz="1200" dirty="0"/>
              <a:t>를 넘어서는 어느 정도의 </a:t>
            </a:r>
            <a:r>
              <a:rPr lang="en-US" altLang="ko-KR" sz="1200" dirty="0"/>
              <a:t>generalization </a:t>
            </a:r>
            <a:r>
              <a:rPr lang="ko-KR" altLang="en-US" sz="1200" dirty="0"/>
              <a:t>가능성을 시사한다</a:t>
            </a:r>
            <a:r>
              <a:rPr lang="en-US" altLang="ko-KR" sz="1200" dirty="0"/>
              <a:t>.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63128-61F7-43E7-B2A0-155F8AEAB69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6191973" cy="322386"/>
          </a:xfrm>
        </p:spPr>
        <p:txBody>
          <a:bodyPr/>
          <a:lstStyle/>
          <a:p>
            <a:r>
              <a:rPr lang="en-US" altLang="ko-KR" dirty="0"/>
              <a:t>Baseline Generalization Requires a Reliable FE Dataset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0795E-007E-4333-B729-A016B8B42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EE3911E-9586-4D14-9EAF-25208FD66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25" t="44709" r="27854" b="19316"/>
          <a:stretch/>
        </p:blipFill>
        <p:spPr>
          <a:xfrm>
            <a:off x="7770376" y="2588649"/>
            <a:ext cx="2898821" cy="2268643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3DFE05B-AEC6-43D1-A715-20409B22559B}"/>
              </a:ext>
            </a:extLst>
          </p:cNvPr>
          <p:cNvSpPr txBox="1">
            <a:spLocks/>
          </p:cNvSpPr>
          <p:nvPr/>
        </p:nvSpPr>
        <p:spPr>
          <a:xfrm>
            <a:off x="442913" y="3983731"/>
            <a:ext cx="5029886" cy="1910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Implication</a:t>
            </a:r>
          </a:p>
          <a:p>
            <a:pPr lvl="1"/>
            <a:r>
              <a:rPr lang="ko-KR" altLang="en-US" sz="1200" dirty="0"/>
              <a:t>현재 다른 </a:t>
            </a:r>
            <a:r>
              <a:rPr lang="en-US" altLang="ko-KR" sz="1200" dirty="0"/>
              <a:t>stress </a:t>
            </a:r>
            <a:r>
              <a:rPr lang="ko-KR" altLang="en-US" sz="1200" dirty="0"/>
              <a:t>범위의 데이터를 따라가지 못하지만 </a:t>
            </a:r>
            <a:r>
              <a:rPr lang="en-US" altLang="ko-KR" sz="1200" dirty="0"/>
              <a:t>material property</a:t>
            </a:r>
            <a:r>
              <a:rPr lang="ko-KR" altLang="en-US" sz="1200" dirty="0"/>
              <a:t>와 </a:t>
            </a:r>
            <a:r>
              <a:rPr lang="en-US" altLang="ko-KR" sz="1200" dirty="0"/>
              <a:t>simulation stability</a:t>
            </a:r>
            <a:r>
              <a:rPr lang="ko-KR" altLang="en-US" sz="1200" dirty="0"/>
              <a:t>를 정상화하면 </a:t>
            </a:r>
            <a:r>
              <a:rPr lang="en-US" altLang="ko-KR" sz="1200" dirty="0"/>
              <a:t>target curve</a:t>
            </a:r>
            <a:r>
              <a:rPr lang="ko-KR" altLang="en-US" sz="1200" dirty="0"/>
              <a:t>에 대한 </a:t>
            </a:r>
            <a:r>
              <a:rPr lang="en-US" altLang="ko-KR" sz="1200" dirty="0"/>
              <a:t>error</a:t>
            </a:r>
            <a:r>
              <a:rPr lang="ko-KR" altLang="en-US" sz="1200" dirty="0"/>
              <a:t>가 감소할 수 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lvl="1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55727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1A6FCE-4754-4F59-BF1B-13A12AA11EA9}"/>
              </a:ext>
            </a:extLst>
          </p:cNvPr>
          <p:cNvGrpSpPr/>
          <p:nvPr/>
        </p:nvGrpSpPr>
        <p:grpSpPr>
          <a:xfrm>
            <a:off x="6494290" y="1527599"/>
            <a:ext cx="5001172" cy="4827376"/>
            <a:chOff x="6440214" y="1517862"/>
            <a:chExt cx="5001172" cy="482737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6AFDA2B-A166-4EC0-A76F-F3C9404EC498}"/>
                </a:ext>
              </a:extLst>
            </p:cNvPr>
            <p:cNvSpPr/>
            <p:nvPr/>
          </p:nvSpPr>
          <p:spPr>
            <a:xfrm>
              <a:off x="6440214" y="1517862"/>
              <a:ext cx="5001172" cy="4827376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FEBCFB4-19CE-4A66-95B3-BE03E2AF6FB0}"/>
                </a:ext>
              </a:extLst>
            </p:cNvPr>
            <p:cNvGrpSpPr/>
            <p:nvPr/>
          </p:nvGrpSpPr>
          <p:grpSpPr>
            <a:xfrm>
              <a:off x="6537833" y="1757129"/>
              <a:ext cx="4661956" cy="4499603"/>
              <a:chOff x="3409603" y="1360850"/>
              <a:chExt cx="4972744" cy="454202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EB0CE8E4-75CB-4E55-AC81-8648ADFF2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9603" y="1360850"/>
                <a:ext cx="4972744" cy="1617153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36E8521D-F252-4E7F-8D14-14CF240BCD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9603" y="3025919"/>
                <a:ext cx="4972744" cy="2876951"/>
              </a:xfrm>
              <a:prstGeom prst="rect">
                <a:avLst/>
              </a:prstGeom>
            </p:spPr>
          </p:pic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E6B77B8-6E60-4D92-8066-9E048591FE87}"/>
              </a:ext>
            </a:extLst>
          </p:cNvPr>
          <p:cNvGrpSpPr/>
          <p:nvPr/>
        </p:nvGrpSpPr>
        <p:grpSpPr>
          <a:xfrm>
            <a:off x="696540" y="1499472"/>
            <a:ext cx="5001172" cy="4845766"/>
            <a:chOff x="696540" y="1499472"/>
            <a:chExt cx="5001172" cy="4845766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3D4CE2CE-6BEA-401E-A229-F8809890F5B6}"/>
                </a:ext>
              </a:extLst>
            </p:cNvPr>
            <p:cNvSpPr/>
            <p:nvPr/>
          </p:nvSpPr>
          <p:spPr>
            <a:xfrm>
              <a:off x="696540" y="1499472"/>
              <a:ext cx="5001172" cy="4845766"/>
            </a:xfrm>
            <a:prstGeom prst="roundRect">
              <a:avLst>
                <a:gd name="adj" fmla="val 3390"/>
              </a:avLst>
            </a:prstGeom>
            <a:solidFill>
              <a:schemeClr val="bg1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CF8EF5-B8D0-4E83-A9AA-97FD1F1C9DEF}"/>
                </a:ext>
              </a:extLst>
            </p:cNvPr>
            <p:cNvSpPr txBox="1"/>
            <p:nvPr/>
          </p:nvSpPr>
          <p:spPr>
            <a:xfrm>
              <a:off x="696540" y="1527599"/>
              <a:ext cx="50011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lt"/>
                <a:buAutoNum type="arabicPeriod"/>
              </a:pPr>
              <a:r>
                <a:rPr lang="en-US" altLang="ko-KR" sz="1200" dirty="0"/>
                <a:t>Baseline</a:t>
              </a:r>
              <a:endParaRPr lang="ko-KR" altLang="en-US" sz="1200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EE52F68-D72D-4C4F-97A0-6706A396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BBA1A-364D-4AD6-AA88-0159C43763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5463" y="6402443"/>
            <a:ext cx="10396537" cy="461665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Ha, C. S.,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Bauchy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M., &amp; Zheng, X. Rapid inverse design of metamaterials based on prescribed mechanical behavior through machine learning. Nature Communications. (2023)</a:t>
            </a:r>
          </a:p>
          <a:p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63401B-41B6-4B79-A926-FC87EF07F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11" y="1804598"/>
            <a:ext cx="4201581" cy="44521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B65ACF2-F02E-4EB8-9E60-07DF1B44D3D8}"/>
              </a:ext>
            </a:extLst>
          </p:cNvPr>
          <p:cNvSpPr txBox="1"/>
          <p:nvPr/>
        </p:nvSpPr>
        <p:spPr>
          <a:xfrm>
            <a:off x="6494290" y="1499472"/>
            <a:ext cx="3900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n-US" altLang="ko-KR" sz="1200" dirty="0"/>
              <a:t>Baseline</a:t>
            </a:r>
            <a:r>
              <a:rPr lang="ko-KR" altLang="en-US" sz="1200" dirty="0"/>
              <a:t> </a:t>
            </a:r>
            <a:r>
              <a:rPr lang="en-US" altLang="ko-KR" sz="1200" dirty="0"/>
              <a:t>hyperparameter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16171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11C066B-D6ED-4F8E-8254-05DCBF101B05}"/>
              </a:ext>
            </a:extLst>
          </p:cNvPr>
          <p:cNvSpPr/>
          <p:nvPr/>
        </p:nvSpPr>
        <p:spPr>
          <a:xfrm>
            <a:off x="6096000" y="1517862"/>
            <a:ext cx="5001172" cy="4827376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E52F68-D72D-4C4F-97A0-6706A396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BBA1A-364D-4AD6-AA88-0159C43763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H.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Bastek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D. M.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Kochmann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Inverse design of nonlinear mechanical metamaterials via video denoising diffusion models. Nature Machine Intelligence, 5, 12 (2023), 1466–1475.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16CD1F-ADF9-4B28-B354-F09823D3FC9F}"/>
              </a:ext>
            </a:extLst>
          </p:cNvPr>
          <p:cNvSpPr/>
          <p:nvPr/>
        </p:nvSpPr>
        <p:spPr>
          <a:xfrm>
            <a:off x="448890" y="1528877"/>
            <a:ext cx="5001172" cy="4827376"/>
          </a:xfrm>
          <a:prstGeom prst="roundRect">
            <a:avLst>
              <a:gd name="adj" fmla="val 3390"/>
            </a:avLst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A5E0101D-458B-416A-9FCB-465FD6371CD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964107"/>
            <a:ext cx="5753061" cy="322386"/>
          </a:xfrm>
        </p:spPr>
        <p:txBody>
          <a:bodyPr/>
          <a:lstStyle/>
          <a:p>
            <a:r>
              <a:rPr lang="en-US" altLang="ko-KR" dirty="0"/>
              <a:t>Baseline Model Hyperparameter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83F4F0-633E-46C4-A6CE-AE6B43CA91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98"/>
          <a:stretch/>
        </p:blipFill>
        <p:spPr>
          <a:xfrm>
            <a:off x="6195974" y="1842338"/>
            <a:ext cx="4895877" cy="39305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8CF52C-8A84-417F-B087-2B1592C6A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40"/>
          <a:stretch/>
        </p:blipFill>
        <p:spPr>
          <a:xfrm>
            <a:off x="552800" y="1842338"/>
            <a:ext cx="4793351" cy="393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9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OTF ExtraBold"/>
        <a:ea typeface="나눔스퀘어OTF_ac ExtraBold"/>
        <a:cs typeface=""/>
      </a:majorFont>
      <a:minorFont>
        <a:latin typeface="나눔스퀘어OTF Bold"/>
        <a:ea typeface="나눔스퀘어_ac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6375</TotalTime>
  <Words>1674</Words>
  <Application>Microsoft Office PowerPoint</Application>
  <PresentationFormat>와이드스크린</PresentationFormat>
  <Paragraphs>259</Paragraphs>
  <Slides>19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1" baseType="lpstr">
      <vt:lpstr>Bebas Kai</vt:lpstr>
      <vt:lpstr>나눔고딕OTF</vt:lpstr>
      <vt:lpstr>나눔고딕OTF ExtraBold</vt:lpstr>
      <vt:lpstr>나눔스퀘어</vt:lpstr>
      <vt:lpstr>나눔스퀘어 Bold</vt:lpstr>
      <vt:lpstr>나눔스퀘어 Light</vt:lpstr>
      <vt:lpstr>나눔스퀘어_ac Bold</vt:lpstr>
      <vt:lpstr>나눔스퀘어OTF Bold</vt:lpstr>
      <vt:lpstr>나눔스퀘어OTF ExtraBold</vt:lpstr>
      <vt:lpstr>맑은 고딕</vt:lpstr>
      <vt:lpstr>Arial</vt:lpstr>
      <vt:lpstr>Office 테마</vt:lpstr>
      <vt:lpstr>Inverse Design of Nonlinear Mechanical Metamaterial</vt:lpstr>
      <vt:lpstr>Research Goal</vt:lpstr>
      <vt:lpstr>Overview</vt:lpstr>
      <vt:lpstr>Baseline Framework</vt:lpstr>
      <vt:lpstr>Baseline Framework</vt:lpstr>
      <vt:lpstr>Baseline Framework</vt:lpstr>
      <vt:lpstr>Completed</vt:lpstr>
      <vt:lpstr>Completed</vt:lpstr>
      <vt:lpstr>Completed</vt:lpstr>
      <vt:lpstr>Completed</vt:lpstr>
      <vt:lpstr>Completed</vt:lpstr>
      <vt:lpstr>Issue</vt:lpstr>
      <vt:lpstr>Issue</vt:lpstr>
      <vt:lpstr>Issue</vt:lpstr>
      <vt:lpstr>Summary</vt:lpstr>
      <vt:lpstr>Appendix</vt:lpstr>
      <vt:lpstr>Appendix</vt:lpstr>
      <vt:lpstr>Appendix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진영 이</dc:creator>
  <cp:lastModifiedBy>진영 이</cp:lastModifiedBy>
  <cp:revision>213</cp:revision>
  <dcterms:created xsi:type="dcterms:W3CDTF">2025-10-02T05:18:17Z</dcterms:created>
  <dcterms:modified xsi:type="dcterms:W3CDTF">2026-04-22T10:36:03Z</dcterms:modified>
</cp:coreProperties>
</file>